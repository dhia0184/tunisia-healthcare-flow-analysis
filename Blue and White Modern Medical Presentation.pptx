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Archivo Black" charset="1" panose="020B0A03020202020B04"/>
      <p:regular r:id="rId32"/>
    </p:embeddedFont>
    <p:embeddedFont>
      <p:font typeface="Poppins Medium" charset="1" panose="00000600000000000000"/>
      <p:regular r:id="rId33"/>
    </p:embeddedFont>
    <p:embeddedFont>
      <p:font typeface="Montserrat" charset="1" panose="00000500000000000000"/>
      <p:regular r:id="rId34"/>
    </p:embeddedFont>
    <p:embeddedFont>
      <p:font typeface="Inter" charset="1" panose="020B0502030000000004"/>
      <p:regular r:id="rId35"/>
    </p:embeddedFont>
    <p:embeddedFont>
      <p:font typeface="Poppins Ultra-Bold" charset="1" panose="00000900000000000000"/>
      <p:regular r:id="rId36"/>
    </p:embeddedFont>
    <p:embeddedFont>
      <p:font typeface="Poppins Semi-Bold" charset="1" panose="00000700000000000000"/>
      <p:regular r:id="rId37"/>
    </p:embeddedFont>
    <p:embeddedFont>
      <p:font typeface="Poppins Bold" charset="1" panose="00000800000000000000"/>
      <p:regular r:id="rId38"/>
    </p:embeddedFont>
    <p:embeddedFont>
      <p:font typeface="Poppins" charset="1" panose="00000500000000000000"/>
      <p:regular r:id="rId39"/>
    </p:embeddedFont>
    <p:embeddedFont>
      <p:font typeface="Aileron Bold" charset="1" panose="00000800000000000000"/>
      <p:regular r:id="rId40"/>
    </p:embeddedFont>
    <p:embeddedFont>
      <p:font typeface="Glacial Indifference Italics" charset="1" panose="00000000000000000000"/>
      <p:regular r:id="rId41"/>
    </p:embeddedFont>
    <p:embeddedFont>
      <p:font typeface="Montserrat Bold" charset="1" panose="00000800000000000000"/>
      <p:regular r:id="rId42"/>
    </p:embeddedFont>
    <p:embeddedFont>
      <p:font typeface="Roboto Bold" charset="1" panose="02000000000000000000"/>
      <p:regular r:id="rId43"/>
    </p:embeddedFont>
    <p:embeddedFont>
      <p:font typeface="Gotham Bold" charset="1" panose="00000000000000000000"/>
      <p:regular r:id="rId44"/>
    </p:embeddedFont>
    <p:embeddedFont>
      <p:font typeface="Gotham" charset="1" panose="00000000000000000000"/>
      <p:regular r:id="rId45"/>
    </p:embeddedFont>
    <p:embeddedFont>
      <p:font typeface="Canva Sans" charset="1" panose="020B0503030501040103"/>
      <p:regular r:id="rId46"/>
    </p:embeddedFont>
    <p:embeddedFont>
      <p:font typeface="Inter Bold" charset="1" panose="020B0802030000000004"/>
      <p:regular r:id="rId47"/>
    </p:embeddedFont>
    <p:embeddedFont>
      <p:font typeface="Cerebri Bold" charset="1" panose="00000800000000000000"/>
      <p:regular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7.pn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32.pn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37.png" Type="http://schemas.openxmlformats.org/officeDocument/2006/relationships/image"/><Relationship Id="rId4" Target="../media/image38.png" Type="http://schemas.openxmlformats.org/officeDocument/2006/relationships/image"/><Relationship Id="rId5" Target="../media/image39.png" Type="http://schemas.openxmlformats.org/officeDocument/2006/relationships/image"/><Relationship Id="rId6" Target="../media/image40.png" Type="http://schemas.openxmlformats.org/officeDocument/2006/relationships/image"/><Relationship Id="rId7" Target="../media/image41.png" Type="http://schemas.openxmlformats.org/officeDocument/2006/relationships/image"/><Relationship Id="rId8" Target="../media/image4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png" Type="http://schemas.openxmlformats.org/officeDocument/2006/relationships/image"/><Relationship Id="rId4" Target="../media/image4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png" Type="http://schemas.openxmlformats.org/officeDocument/2006/relationships/image"/><Relationship Id="rId4" Target="../media/image48.png" Type="http://schemas.openxmlformats.org/officeDocument/2006/relationships/image"/><Relationship Id="rId5" Target="../media/image4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svg" Type="http://schemas.openxmlformats.org/officeDocument/2006/relationships/image"/><Relationship Id="rId4" Target="../media/image5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png" Type="http://schemas.openxmlformats.org/officeDocument/2006/relationships/image"/><Relationship Id="rId12" Target="../media/image64.png" Type="http://schemas.openxmlformats.org/officeDocument/2006/relationships/image"/><Relationship Id="rId13" Target="../media/image65.png" Type="http://schemas.openxmlformats.org/officeDocument/2006/relationships/image"/><Relationship Id="rId14" Target="../media/image66.svg" Type="http://schemas.openxmlformats.org/officeDocument/2006/relationships/image"/><Relationship Id="rId2" Target="../media/image54.png" Type="http://schemas.openxmlformats.org/officeDocument/2006/relationships/image"/><Relationship Id="rId3" Target="../media/image55.svg" Type="http://schemas.openxmlformats.org/officeDocument/2006/relationships/image"/><Relationship Id="rId4" Target="../media/image56.png" Type="http://schemas.openxmlformats.org/officeDocument/2006/relationships/image"/><Relationship Id="rId5" Target="../media/image57.svg" Type="http://schemas.openxmlformats.org/officeDocument/2006/relationships/image"/><Relationship Id="rId6" Target="../media/image58.png" Type="http://schemas.openxmlformats.org/officeDocument/2006/relationships/image"/><Relationship Id="rId7" Target="../media/image59.svg" Type="http://schemas.openxmlformats.org/officeDocument/2006/relationships/image"/><Relationship Id="rId8" Target="../media/image60.png" Type="http://schemas.openxmlformats.org/officeDocument/2006/relationships/image"/><Relationship Id="rId9" Target="../media/image6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5.png" Type="http://schemas.openxmlformats.org/officeDocument/2006/relationships/image"/><Relationship Id="rId11" Target="../media/image76.svg" Type="http://schemas.openxmlformats.org/officeDocument/2006/relationships/image"/><Relationship Id="rId12" Target="../media/image54.png" Type="http://schemas.openxmlformats.org/officeDocument/2006/relationships/image"/><Relationship Id="rId13" Target="../media/image55.svg" Type="http://schemas.openxmlformats.org/officeDocument/2006/relationships/image"/><Relationship Id="rId14" Target="../media/image63.png" Type="http://schemas.openxmlformats.org/officeDocument/2006/relationships/image"/><Relationship Id="rId2" Target="../media/image67.png" Type="http://schemas.openxmlformats.org/officeDocument/2006/relationships/image"/><Relationship Id="rId3" Target="../media/image68.svg" Type="http://schemas.openxmlformats.org/officeDocument/2006/relationships/image"/><Relationship Id="rId4" Target="../media/image69.png" Type="http://schemas.openxmlformats.org/officeDocument/2006/relationships/image"/><Relationship Id="rId5" Target="../media/image70.svg" Type="http://schemas.openxmlformats.org/officeDocument/2006/relationships/image"/><Relationship Id="rId6" Target="../media/image71.png" Type="http://schemas.openxmlformats.org/officeDocument/2006/relationships/image"/><Relationship Id="rId7" Target="../media/image72.svg" Type="http://schemas.openxmlformats.org/officeDocument/2006/relationships/image"/><Relationship Id="rId8" Target="../media/image73.png" Type="http://schemas.openxmlformats.org/officeDocument/2006/relationships/image"/><Relationship Id="rId9" Target="../media/image7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8.png" Type="http://schemas.openxmlformats.org/officeDocument/2006/relationships/image"/><Relationship Id="rId11" Target="../media/image79.svg" Type="http://schemas.openxmlformats.org/officeDocument/2006/relationships/image"/><Relationship Id="rId2" Target="../media/image75.png" Type="http://schemas.openxmlformats.org/officeDocument/2006/relationships/image"/><Relationship Id="rId3" Target="../media/image76.svg" Type="http://schemas.openxmlformats.org/officeDocument/2006/relationships/image"/><Relationship Id="rId4" Target="../media/image71.png" Type="http://schemas.openxmlformats.org/officeDocument/2006/relationships/image"/><Relationship Id="rId5" Target="../media/image72.svg" Type="http://schemas.openxmlformats.org/officeDocument/2006/relationships/image"/><Relationship Id="rId6" Target="../media/image77.png" Type="http://schemas.openxmlformats.org/officeDocument/2006/relationships/image"/><Relationship Id="rId7" Target="../media/image54.png" Type="http://schemas.openxmlformats.org/officeDocument/2006/relationships/image"/><Relationship Id="rId8" Target="../media/image55.svg" Type="http://schemas.openxmlformats.org/officeDocument/2006/relationships/image"/><Relationship Id="rId9" Target="../media/image6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1.png" Type="http://schemas.openxmlformats.org/officeDocument/2006/relationships/image"/><Relationship Id="rId3" Target="../media/image82.svg" Type="http://schemas.openxmlformats.org/officeDocument/2006/relationships/image"/><Relationship Id="rId4" Target="../media/image83.png" Type="http://schemas.openxmlformats.org/officeDocument/2006/relationships/image"/><Relationship Id="rId5" Target="../media/image8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5.png" Type="http://schemas.openxmlformats.org/officeDocument/2006/relationships/image"/><Relationship Id="rId3" Target="../media/image86.svg" Type="http://schemas.openxmlformats.org/officeDocument/2006/relationships/image"/><Relationship Id="rId4" Target="../media/image87.png" Type="http://schemas.openxmlformats.org/officeDocument/2006/relationships/image"/><Relationship Id="rId5" Target="../media/image88.png" Type="http://schemas.openxmlformats.org/officeDocument/2006/relationships/image"/><Relationship Id="rId6" Target="../media/image75.png" Type="http://schemas.openxmlformats.org/officeDocument/2006/relationships/image"/><Relationship Id="rId7" Target="../media/image76.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1.png" Type="http://schemas.openxmlformats.org/officeDocument/2006/relationships/image"/><Relationship Id="rId3" Target="../media/image82.svg" Type="http://schemas.openxmlformats.org/officeDocument/2006/relationships/image"/><Relationship Id="rId4" Target="../media/image89.png" Type="http://schemas.openxmlformats.org/officeDocument/2006/relationships/image"/><Relationship Id="rId5" Target="../media/image9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3.png" Type="http://schemas.openxmlformats.org/officeDocument/2006/relationships/image"/><Relationship Id="rId2" Target="../media/image81.png" Type="http://schemas.openxmlformats.org/officeDocument/2006/relationships/image"/><Relationship Id="rId3" Target="../media/image82.svg" Type="http://schemas.openxmlformats.org/officeDocument/2006/relationships/image"/><Relationship Id="rId4" Target="../media/image75.png" Type="http://schemas.openxmlformats.org/officeDocument/2006/relationships/image"/><Relationship Id="rId5" Target="../media/image76.svg" Type="http://schemas.openxmlformats.org/officeDocument/2006/relationships/image"/><Relationship Id="rId6" Target="../media/image56.png" Type="http://schemas.openxmlformats.org/officeDocument/2006/relationships/image"/><Relationship Id="rId7" Target="../media/image57.svg" Type="http://schemas.openxmlformats.org/officeDocument/2006/relationships/image"/><Relationship Id="rId8" Target="../media/image91.png" Type="http://schemas.openxmlformats.org/officeDocument/2006/relationships/image"/><Relationship Id="rId9" Target="../media/image9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4.png" Type="http://schemas.openxmlformats.org/officeDocument/2006/relationships/image"/><Relationship Id="rId3" Target="../media/image95.svg" Type="http://schemas.openxmlformats.org/officeDocument/2006/relationships/image"/><Relationship Id="rId4" Target="../media/image96.png" Type="http://schemas.openxmlformats.org/officeDocument/2006/relationships/image"/><Relationship Id="rId5" Target="../media/image97.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6.png" Type="http://schemas.openxmlformats.org/officeDocument/2006/relationships/image"/><Relationship Id="rId3" Target="../media/image97.svg" Type="http://schemas.openxmlformats.org/officeDocument/2006/relationships/image"/><Relationship Id="rId4" Target="../media/image94.png" Type="http://schemas.openxmlformats.org/officeDocument/2006/relationships/image"/><Relationship Id="rId5" Target="../media/image95.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8.png" Type="http://schemas.openxmlformats.org/officeDocument/2006/relationships/image"/><Relationship Id="rId3" Target="../media/image99.svg" Type="http://schemas.openxmlformats.org/officeDocument/2006/relationships/image"/><Relationship Id="rId4" Target="../media/image100.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8.png" Type="http://schemas.openxmlformats.org/officeDocument/2006/relationships/image"/><Relationship Id="rId3" Target="../media/image99.svg" Type="http://schemas.openxmlformats.org/officeDocument/2006/relationships/image"/><Relationship Id="rId4" Target="../media/image10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grpSp>
        <p:nvGrpSpPr>
          <p:cNvPr name="Group 2" id="2"/>
          <p:cNvGrpSpPr/>
          <p:nvPr/>
        </p:nvGrpSpPr>
        <p:grpSpPr>
          <a:xfrm rot="0">
            <a:off x="1639919" y="5940646"/>
            <a:ext cx="5878552" cy="852015"/>
            <a:chOff x="0" y="0"/>
            <a:chExt cx="1344738" cy="194901"/>
          </a:xfrm>
        </p:grpSpPr>
        <p:sp>
          <p:nvSpPr>
            <p:cNvPr name="Freeform 3" id="3"/>
            <p:cNvSpPr/>
            <p:nvPr/>
          </p:nvSpPr>
          <p:spPr>
            <a:xfrm flipH="false" flipV="false" rot="0">
              <a:off x="0" y="0"/>
              <a:ext cx="1344738" cy="194901"/>
            </a:xfrm>
            <a:custGeom>
              <a:avLst/>
              <a:gdLst/>
              <a:ahLst/>
              <a:cxnLst/>
              <a:rect r="r" b="b" t="t" l="l"/>
              <a:pathLst>
                <a:path h="194901" w="1344738">
                  <a:moveTo>
                    <a:pt x="97451" y="0"/>
                  </a:moveTo>
                  <a:lnTo>
                    <a:pt x="1247287" y="0"/>
                  </a:lnTo>
                  <a:cubicBezTo>
                    <a:pt x="1273133" y="0"/>
                    <a:pt x="1297920" y="10267"/>
                    <a:pt x="1316195" y="28543"/>
                  </a:cubicBezTo>
                  <a:cubicBezTo>
                    <a:pt x="1334471" y="46818"/>
                    <a:pt x="1344738" y="71605"/>
                    <a:pt x="1344738" y="97451"/>
                  </a:cubicBezTo>
                  <a:lnTo>
                    <a:pt x="1344738" y="97451"/>
                  </a:lnTo>
                  <a:cubicBezTo>
                    <a:pt x="1344738" y="123296"/>
                    <a:pt x="1334471" y="148083"/>
                    <a:pt x="1316195" y="166359"/>
                  </a:cubicBezTo>
                  <a:cubicBezTo>
                    <a:pt x="1297920" y="184634"/>
                    <a:pt x="1273133" y="194901"/>
                    <a:pt x="1247287" y="194901"/>
                  </a:cubicBezTo>
                  <a:lnTo>
                    <a:pt x="97451" y="194901"/>
                  </a:lnTo>
                  <a:cubicBezTo>
                    <a:pt x="71605" y="194901"/>
                    <a:pt x="46818" y="184634"/>
                    <a:pt x="28543" y="166359"/>
                  </a:cubicBezTo>
                  <a:cubicBezTo>
                    <a:pt x="10267" y="148083"/>
                    <a:pt x="0" y="123296"/>
                    <a:pt x="0" y="97451"/>
                  </a:cubicBezTo>
                  <a:lnTo>
                    <a:pt x="0" y="97451"/>
                  </a:lnTo>
                  <a:cubicBezTo>
                    <a:pt x="0" y="71605"/>
                    <a:pt x="10267" y="46818"/>
                    <a:pt x="28543" y="28543"/>
                  </a:cubicBezTo>
                  <a:cubicBezTo>
                    <a:pt x="46818" y="10267"/>
                    <a:pt x="71605" y="0"/>
                    <a:pt x="97451" y="0"/>
                  </a:cubicBezTo>
                  <a:close/>
                </a:path>
              </a:pathLst>
            </a:custGeom>
            <a:gradFill rotWithShape="true">
              <a:gsLst>
                <a:gs pos="0">
                  <a:srgbClr val="381313">
                    <a:alpha val="60000"/>
                  </a:srgbClr>
                </a:gs>
                <a:gs pos="100000">
                  <a:srgbClr val="EE8E71">
                    <a:alpha val="60000"/>
                  </a:srgbClr>
                </a:gs>
              </a:gsLst>
              <a:lin ang="18900000"/>
            </a:gradFill>
          </p:spPr>
        </p:sp>
        <p:sp>
          <p:nvSpPr>
            <p:cNvPr name="TextBox 4" id="4"/>
            <p:cNvSpPr txBox="true"/>
            <p:nvPr/>
          </p:nvSpPr>
          <p:spPr>
            <a:xfrm>
              <a:off x="0" y="-38100"/>
              <a:ext cx="1344738" cy="233001"/>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7606647" y="6157519"/>
            <a:ext cx="439937" cy="495007"/>
          </a:xfrm>
          <a:custGeom>
            <a:avLst/>
            <a:gdLst/>
            <a:ahLst/>
            <a:cxnLst/>
            <a:rect r="r" b="b" t="t" l="l"/>
            <a:pathLst>
              <a:path h="495007" w="439937">
                <a:moveTo>
                  <a:pt x="0" y="0"/>
                </a:moveTo>
                <a:lnTo>
                  <a:pt x="439937" y="0"/>
                </a:lnTo>
                <a:lnTo>
                  <a:pt x="439937" y="495007"/>
                </a:lnTo>
                <a:lnTo>
                  <a:pt x="0" y="4950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1292475"/>
            <a:ext cx="1302738" cy="701789"/>
          </a:xfrm>
          <a:custGeom>
            <a:avLst/>
            <a:gdLst/>
            <a:ahLst/>
            <a:cxnLst/>
            <a:rect r="r" b="b" t="t" l="l"/>
            <a:pathLst>
              <a:path h="701789" w="1302738">
                <a:moveTo>
                  <a:pt x="0" y="0"/>
                </a:moveTo>
                <a:lnTo>
                  <a:pt x="1302738" y="0"/>
                </a:lnTo>
                <a:lnTo>
                  <a:pt x="1302738" y="701789"/>
                </a:lnTo>
                <a:lnTo>
                  <a:pt x="0" y="701789"/>
                </a:lnTo>
                <a:lnTo>
                  <a:pt x="0" y="0"/>
                </a:lnTo>
                <a:close/>
              </a:path>
            </a:pathLst>
          </a:custGeom>
          <a:blipFill>
            <a:blip r:embed="rId4">
              <a:extLst>
                <a:ext uri="{96DAC541-7B7A-43D3-8B79-37D633B846F1}">
                  <asvg:svgBlip xmlns:asvg="http://schemas.microsoft.com/office/drawing/2016/SVG/main" r:embed="rId5"/>
                </a:ext>
              </a:extLst>
            </a:blip>
            <a:stretch>
              <a:fillRect l="0" t="0" r="0" b="-85630"/>
            </a:stretch>
          </a:blipFill>
        </p:spPr>
      </p:sp>
      <p:sp>
        <p:nvSpPr>
          <p:cNvPr name="TextBox 7" id="7"/>
          <p:cNvSpPr txBox="true"/>
          <p:nvPr/>
        </p:nvSpPr>
        <p:spPr>
          <a:xfrm rot="0">
            <a:off x="1639919" y="1095375"/>
            <a:ext cx="13214565" cy="4379096"/>
          </a:xfrm>
          <a:prstGeom prst="rect">
            <a:avLst/>
          </a:prstGeom>
        </p:spPr>
        <p:txBody>
          <a:bodyPr anchor="t" rtlCol="false" tIns="0" lIns="0" bIns="0" rIns="0">
            <a:spAutoFit/>
          </a:bodyPr>
          <a:lstStyle/>
          <a:p>
            <a:pPr algn="l">
              <a:lnSpc>
                <a:spcPts val="8558"/>
              </a:lnSpc>
            </a:pPr>
            <a:r>
              <a:rPr lang="en-US" sz="7851">
                <a:solidFill>
                  <a:srgbClr val="000000"/>
                </a:solidFill>
                <a:latin typeface="Archivo Black"/>
                <a:ea typeface="Archivo Black"/>
                <a:cs typeface="Archivo Black"/>
                <a:sym typeface="Archivo Black"/>
              </a:rPr>
              <a:t>Optimizing Emergency Department (ED) Throughput &amp; Patient Flow</a:t>
            </a:r>
          </a:p>
        </p:txBody>
      </p:sp>
      <p:sp>
        <p:nvSpPr>
          <p:cNvPr name="TextBox 8" id="8"/>
          <p:cNvSpPr txBox="true"/>
          <p:nvPr/>
        </p:nvSpPr>
        <p:spPr>
          <a:xfrm rot="0">
            <a:off x="1777757" y="5971570"/>
            <a:ext cx="9229062" cy="1331496"/>
          </a:xfrm>
          <a:prstGeom prst="rect">
            <a:avLst/>
          </a:prstGeom>
        </p:spPr>
        <p:txBody>
          <a:bodyPr anchor="t" rtlCol="false" tIns="0" lIns="0" bIns="0" rIns="0">
            <a:spAutoFit/>
          </a:bodyPr>
          <a:lstStyle/>
          <a:p>
            <a:pPr algn="l">
              <a:lnSpc>
                <a:spcPts val="5184"/>
              </a:lnSpc>
            </a:pPr>
            <a:r>
              <a:rPr lang="en-US" sz="3703" b="true">
                <a:solidFill>
                  <a:srgbClr val="000000"/>
                </a:solidFill>
                <a:latin typeface="Poppins Medium"/>
                <a:ea typeface="Poppins Medium"/>
                <a:cs typeface="Poppins Medium"/>
                <a:sym typeface="Poppins Medium"/>
              </a:rPr>
              <a:t>Charles Nicolle Hospital</a:t>
            </a:r>
          </a:p>
          <a:p>
            <a:pPr algn="l">
              <a:lnSpc>
                <a:spcPts val="5184"/>
              </a:lnSpc>
              <a:spcBef>
                <a:spcPct val="0"/>
              </a:spcBef>
            </a:pPr>
          </a:p>
        </p:txBody>
      </p:sp>
      <p:sp>
        <p:nvSpPr>
          <p:cNvPr name="Freeform 9" id="9"/>
          <p:cNvSpPr/>
          <p:nvPr/>
        </p:nvSpPr>
        <p:spPr>
          <a:xfrm flipH="false" flipV="false" rot="0">
            <a:off x="16356872" y="63136"/>
            <a:ext cx="1931128" cy="1931128"/>
          </a:xfrm>
          <a:custGeom>
            <a:avLst/>
            <a:gdLst/>
            <a:ahLst/>
            <a:cxnLst/>
            <a:rect r="r" b="b" t="t" l="l"/>
            <a:pathLst>
              <a:path h="1931128" w="1931128">
                <a:moveTo>
                  <a:pt x="0" y="0"/>
                </a:moveTo>
                <a:lnTo>
                  <a:pt x="1931128" y="0"/>
                </a:lnTo>
                <a:lnTo>
                  <a:pt x="1931128" y="1931128"/>
                </a:lnTo>
                <a:lnTo>
                  <a:pt x="0" y="1931128"/>
                </a:lnTo>
                <a:lnTo>
                  <a:pt x="0" y="0"/>
                </a:lnTo>
                <a:close/>
              </a:path>
            </a:pathLst>
          </a:custGeom>
          <a:blipFill>
            <a:blip r:embed="rId6"/>
            <a:stretch>
              <a:fillRect l="0" t="0" r="0" b="0"/>
            </a:stretch>
          </a:blipFill>
        </p:spPr>
      </p:sp>
      <p:grpSp>
        <p:nvGrpSpPr>
          <p:cNvPr name="Group 10" id="10"/>
          <p:cNvGrpSpPr/>
          <p:nvPr/>
        </p:nvGrpSpPr>
        <p:grpSpPr>
          <a:xfrm rot="0">
            <a:off x="11273038" y="5940646"/>
            <a:ext cx="3666325" cy="585944"/>
            <a:chOff x="0" y="0"/>
            <a:chExt cx="670814" cy="107208"/>
          </a:xfrm>
        </p:grpSpPr>
        <p:sp>
          <p:nvSpPr>
            <p:cNvPr name="Freeform 11" id="11"/>
            <p:cNvSpPr/>
            <p:nvPr/>
          </p:nvSpPr>
          <p:spPr>
            <a:xfrm flipH="false" flipV="false" rot="0">
              <a:off x="0" y="0"/>
              <a:ext cx="670814" cy="107208"/>
            </a:xfrm>
            <a:custGeom>
              <a:avLst/>
              <a:gdLst/>
              <a:ahLst/>
              <a:cxnLst/>
              <a:rect r="r" b="b" t="t" l="l"/>
              <a:pathLst>
                <a:path h="107208" w="670814">
                  <a:moveTo>
                    <a:pt x="0" y="0"/>
                  </a:moveTo>
                  <a:lnTo>
                    <a:pt x="670814" y="0"/>
                  </a:lnTo>
                  <a:lnTo>
                    <a:pt x="670814" y="107208"/>
                  </a:lnTo>
                  <a:lnTo>
                    <a:pt x="0" y="107208"/>
                  </a:lnTo>
                  <a:close/>
                </a:path>
              </a:pathLst>
            </a:custGeom>
            <a:gradFill rotWithShape="true">
              <a:gsLst>
                <a:gs pos="0">
                  <a:srgbClr val="731919">
                    <a:alpha val="100000"/>
                  </a:srgbClr>
                </a:gs>
                <a:gs pos="100000">
                  <a:srgbClr val="E52B2B">
                    <a:alpha val="100000"/>
                  </a:srgbClr>
                </a:gs>
              </a:gsLst>
              <a:lin ang="5400000"/>
            </a:gradFill>
          </p:spPr>
        </p:sp>
        <p:sp>
          <p:nvSpPr>
            <p:cNvPr name="TextBox 12" id="12"/>
            <p:cNvSpPr txBox="true"/>
            <p:nvPr/>
          </p:nvSpPr>
          <p:spPr>
            <a:xfrm>
              <a:off x="0" y="-38100"/>
              <a:ext cx="670814" cy="145308"/>
            </a:xfrm>
            <a:prstGeom prst="rect">
              <a:avLst/>
            </a:prstGeom>
          </p:spPr>
          <p:txBody>
            <a:bodyPr anchor="ctr" rtlCol="false" tIns="60771" lIns="60771" bIns="60771" rIns="60771"/>
            <a:lstStyle/>
            <a:p>
              <a:pPr algn="ctr">
                <a:lnSpc>
                  <a:spcPts val="2659"/>
                </a:lnSpc>
                <a:spcBef>
                  <a:spcPct val="0"/>
                </a:spcBef>
              </a:pPr>
            </a:p>
          </p:txBody>
        </p:sp>
      </p:grpSp>
      <p:sp>
        <p:nvSpPr>
          <p:cNvPr name="TextBox 13" id="13"/>
          <p:cNvSpPr txBox="true"/>
          <p:nvPr/>
        </p:nvSpPr>
        <p:spPr>
          <a:xfrm rot="0">
            <a:off x="11216453" y="5993977"/>
            <a:ext cx="3666325" cy="457200"/>
          </a:xfrm>
          <a:prstGeom prst="rect">
            <a:avLst/>
          </a:prstGeom>
        </p:spPr>
        <p:txBody>
          <a:bodyPr anchor="t" rtlCol="false" tIns="0" lIns="0" bIns="0" rIns="0">
            <a:spAutoFit/>
          </a:bodyPr>
          <a:lstStyle/>
          <a:p>
            <a:pPr algn="ctr">
              <a:lnSpc>
                <a:spcPts val="3600"/>
              </a:lnSpc>
            </a:pPr>
            <a:r>
              <a:rPr lang="en-US" sz="3000">
                <a:solidFill>
                  <a:srgbClr val="FFFFFF"/>
                </a:solidFill>
                <a:latin typeface="Montserrat"/>
                <a:ea typeface="Montserrat"/>
                <a:cs typeface="Montserrat"/>
                <a:sym typeface="Montserrat"/>
              </a:rPr>
              <a:t>Presented by </a:t>
            </a:r>
          </a:p>
        </p:txBody>
      </p:sp>
      <p:sp>
        <p:nvSpPr>
          <p:cNvPr name="TextBox 14" id="14"/>
          <p:cNvSpPr txBox="true"/>
          <p:nvPr/>
        </p:nvSpPr>
        <p:spPr>
          <a:xfrm rot="0">
            <a:off x="11273038" y="6743364"/>
            <a:ext cx="7219479" cy="2428875"/>
          </a:xfrm>
          <a:prstGeom prst="rect">
            <a:avLst/>
          </a:prstGeom>
        </p:spPr>
        <p:txBody>
          <a:bodyPr anchor="t" rtlCol="false" tIns="0" lIns="0" bIns="0" rIns="0">
            <a:spAutoFit/>
          </a:bodyPr>
          <a:lstStyle/>
          <a:p>
            <a:pPr algn="l">
              <a:lnSpc>
                <a:spcPts val="4861"/>
              </a:lnSpc>
            </a:pPr>
            <a:r>
              <a:rPr lang="en-US" sz="4051">
                <a:solidFill>
                  <a:srgbClr val="000000"/>
                </a:solidFill>
                <a:latin typeface="Montserrat"/>
                <a:ea typeface="Montserrat"/>
                <a:cs typeface="Montserrat"/>
                <a:sym typeface="Montserrat"/>
              </a:rPr>
              <a:t>Mohamed Aziz Amri </a:t>
            </a:r>
          </a:p>
          <a:p>
            <a:pPr algn="l">
              <a:lnSpc>
                <a:spcPts val="4861"/>
              </a:lnSpc>
            </a:pPr>
            <a:r>
              <a:rPr lang="en-US" sz="4051">
                <a:solidFill>
                  <a:srgbClr val="000000"/>
                </a:solidFill>
                <a:latin typeface="Montserrat"/>
                <a:ea typeface="Montserrat"/>
                <a:cs typeface="Montserrat"/>
                <a:sym typeface="Montserrat"/>
              </a:rPr>
              <a:t>Mohamed Dhia Ben Kilani </a:t>
            </a:r>
          </a:p>
          <a:p>
            <a:pPr algn="l">
              <a:lnSpc>
                <a:spcPts val="4861"/>
              </a:lnSpc>
            </a:pPr>
            <a:r>
              <a:rPr lang="en-US" sz="4051">
                <a:solidFill>
                  <a:srgbClr val="000000"/>
                </a:solidFill>
                <a:latin typeface="Montserrat"/>
                <a:ea typeface="Montserrat"/>
                <a:cs typeface="Montserrat"/>
                <a:sym typeface="Montserrat"/>
              </a:rPr>
              <a:t>Elaa Chaaleb</a:t>
            </a:r>
          </a:p>
          <a:p>
            <a:pPr algn="l">
              <a:lnSpc>
                <a:spcPts val="4861"/>
              </a:lnSpc>
            </a:pPr>
            <a:r>
              <a:rPr lang="en-US" sz="4051">
                <a:solidFill>
                  <a:srgbClr val="000000"/>
                </a:solidFill>
                <a:latin typeface="Montserrat"/>
                <a:ea typeface="Montserrat"/>
                <a:cs typeface="Montserrat"/>
                <a:sym typeface="Montserrat"/>
              </a:rPr>
              <a:t>Wassef Bellila</a:t>
            </a:r>
          </a:p>
        </p:txBody>
      </p:sp>
      <p:sp>
        <p:nvSpPr>
          <p:cNvPr name="TextBox 15" id="15"/>
          <p:cNvSpPr txBox="true"/>
          <p:nvPr/>
        </p:nvSpPr>
        <p:spPr>
          <a:xfrm rot="0">
            <a:off x="2118257" y="7871463"/>
            <a:ext cx="4756636" cy="1082261"/>
          </a:xfrm>
          <a:prstGeom prst="rect">
            <a:avLst/>
          </a:prstGeom>
        </p:spPr>
        <p:txBody>
          <a:bodyPr anchor="t" rtlCol="false" tIns="0" lIns="0" bIns="0" rIns="0">
            <a:spAutoFit/>
          </a:bodyPr>
          <a:lstStyle/>
          <a:p>
            <a:pPr algn="l">
              <a:lnSpc>
                <a:spcPts val="4397"/>
              </a:lnSpc>
            </a:pPr>
            <a:r>
              <a:rPr lang="en-US" sz="3141">
                <a:solidFill>
                  <a:srgbClr val="20180C"/>
                </a:solidFill>
                <a:latin typeface="Inter"/>
                <a:ea typeface="Inter"/>
                <a:cs typeface="Inter"/>
                <a:sym typeface="Inter"/>
              </a:rPr>
              <a:t>26, JANUARY 2026</a:t>
            </a:r>
          </a:p>
          <a:p>
            <a:pPr algn="l" marL="0" indent="0" lvl="0">
              <a:lnSpc>
                <a:spcPts val="4397"/>
              </a:lnSpc>
              <a:spcBef>
                <a:spcPct val="0"/>
              </a:spcBef>
            </a:pPr>
          </a:p>
        </p:txBody>
      </p:sp>
      <p:grpSp>
        <p:nvGrpSpPr>
          <p:cNvPr name="Group 16" id="16"/>
          <p:cNvGrpSpPr/>
          <p:nvPr/>
        </p:nvGrpSpPr>
        <p:grpSpPr>
          <a:xfrm rot="0">
            <a:off x="1777757" y="7769791"/>
            <a:ext cx="4366718" cy="864453"/>
            <a:chOff x="0" y="0"/>
            <a:chExt cx="961389" cy="190320"/>
          </a:xfrm>
        </p:grpSpPr>
        <p:sp>
          <p:nvSpPr>
            <p:cNvPr name="Freeform 17" id="17"/>
            <p:cNvSpPr/>
            <p:nvPr/>
          </p:nvSpPr>
          <p:spPr>
            <a:xfrm flipH="false" flipV="false" rot="0">
              <a:off x="0" y="0"/>
              <a:ext cx="961389" cy="190320"/>
            </a:xfrm>
            <a:custGeom>
              <a:avLst/>
              <a:gdLst/>
              <a:ahLst/>
              <a:cxnLst/>
              <a:rect r="r" b="b" t="t" l="l"/>
              <a:pathLst>
                <a:path h="190320" w="961389">
                  <a:moveTo>
                    <a:pt x="0" y="0"/>
                  </a:moveTo>
                  <a:lnTo>
                    <a:pt x="961389" y="0"/>
                  </a:lnTo>
                  <a:lnTo>
                    <a:pt x="961389" y="190320"/>
                  </a:lnTo>
                  <a:lnTo>
                    <a:pt x="0" y="190320"/>
                  </a:lnTo>
                  <a:close/>
                </a:path>
              </a:pathLst>
            </a:custGeom>
            <a:solidFill>
              <a:srgbClr val="000000">
                <a:alpha val="0"/>
              </a:srgbClr>
            </a:solidFill>
            <a:ln w="19050" cap="sq">
              <a:solidFill>
                <a:srgbClr val="000000"/>
              </a:solidFill>
              <a:prstDash val="dash"/>
              <a:miter/>
            </a:ln>
          </p:spPr>
        </p:sp>
        <p:sp>
          <p:nvSpPr>
            <p:cNvPr name="TextBox 18" id="18"/>
            <p:cNvSpPr txBox="true"/>
            <p:nvPr/>
          </p:nvSpPr>
          <p:spPr>
            <a:xfrm>
              <a:off x="0" y="-38100"/>
              <a:ext cx="961389" cy="228420"/>
            </a:xfrm>
            <a:prstGeom prst="rect">
              <a:avLst/>
            </a:prstGeom>
          </p:spPr>
          <p:txBody>
            <a:bodyPr anchor="ctr" rtlCol="false" tIns="60771" lIns="60771" bIns="60771" rIns="60771"/>
            <a:lstStyle/>
            <a:p>
              <a:pPr algn="ctr">
                <a:lnSpc>
                  <a:spcPts val="2659"/>
                </a:lnSpc>
                <a:spcBef>
                  <a:spcPct val="0"/>
                </a:spcBef>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2777" r="0" b="-12777"/>
            </a:stretch>
          </a:blipFill>
        </p:spPr>
      </p:sp>
      <p:sp>
        <p:nvSpPr>
          <p:cNvPr name="Freeform 3" id="3"/>
          <p:cNvSpPr/>
          <p:nvPr/>
        </p:nvSpPr>
        <p:spPr>
          <a:xfrm flipH="false" flipV="false" rot="5400000">
            <a:off x="10988108" y="2063139"/>
            <a:ext cx="10283561" cy="6157282"/>
          </a:xfrm>
          <a:custGeom>
            <a:avLst/>
            <a:gdLst/>
            <a:ahLst/>
            <a:cxnLst/>
            <a:rect r="r" b="b" t="t" l="l"/>
            <a:pathLst>
              <a:path h="6157282" w="10283561">
                <a:moveTo>
                  <a:pt x="0" y="0"/>
                </a:moveTo>
                <a:lnTo>
                  <a:pt x="10283562" y="0"/>
                </a:lnTo>
                <a:lnTo>
                  <a:pt x="10283562" y="6157283"/>
                </a:lnTo>
                <a:lnTo>
                  <a:pt x="0" y="6157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221732" y="3500116"/>
            <a:ext cx="1099769" cy="901681"/>
          </a:xfrm>
          <a:prstGeom prst="rect">
            <a:avLst/>
          </a:prstGeom>
        </p:spPr>
        <p:txBody>
          <a:bodyPr anchor="t" rtlCol="false" tIns="0" lIns="0" bIns="0" rIns="0">
            <a:spAutoFit/>
          </a:bodyPr>
          <a:lstStyle/>
          <a:p>
            <a:pPr algn="l" marL="0" indent="0" lvl="0">
              <a:lnSpc>
                <a:spcPts val="7000"/>
              </a:lnSpc>
              <a:spcBef>
                <a:spcPct val="0"/>
              </a:spcBef>
            </a:pPr>
            <a:r>
              <a:rPr lang="en-US" b="true" sz="5000">
                <a:solidFill>
                  <a:srgbClr val="56021F"/>
                </a:solidFill>
                <a:latin typeface="Poppins Ultra-Bold"/>
                <a:ea typeface="Poppins Ultra-Bold"/>
                <a:cs typeface="Poppins Ultra-Bold"/>
                <a:sym typeface="Poppins Ultra-Bold"/>
              </a:rPr>
              <a:t>01</a:t>
            </a:r>
          </a:p>
        </p:txBody>
      </p:sp>
      <p:sp>
        <p:nvSpPr>
          <p:cNvPr name="TextBox 5" id="5"/>
          <p:cNvSpPr txBox="true"/>
          <p:nvPr/>
        </p:nvSpPr>
        <p:spPr>
          <a:xfrm rot="0">
            <a:off x="1221732" y="4861660"/>
            <a:ext cx="1099769" cy="901681"/>
          </a:xfrm>
          <a:prstGeom prst="rect">
            <a:avLst/>
          </a:prstGeom>
        </p:spPr>
        <p:txBody>
          <a:bodyPr anchor="t" rtlCol="false" tIns="0" lIns="0" bIns="0" rIns="0">
            <a:spAutoFit/>
          </a:bodyPr>
          <a:lstStyle/>
          <a:p>
            <a:pPr algn="l" marL="0" indent="0" lvl="0">
              <a:lnSpc>
                <a:spcPts val="7000"/>
              </a:lnSpc>
              <a:spcBef>
                <a:spcPct val="0"/>
              </a:spcBef>
            </a:pPr>
            <a:r>
              <a:rPr lang="en-US" b="true" sz="5000">
                <a:solidFill>
                  <a:srgbClr val="56021F"/>
                </a:solidFill>
                <a:latin typeface="Poppins Ultra-Bold"/>
                <a:ea typeface="Poppins Ultra-Bold"/>
                <a:cs typeface="Poppins Ultra-Bold"/>
                <a:sym typeface="Poppins Ultra-Bold"/>
              </a:rPr>
              <a:t>02</a:t>
            </a:r>
          </a:p>
        </p:txBody>
      </p:sp>
      <p:sp>
        <p:nvSpPr>
          <p:cNvPr name="TextBox 6" id="6"/>
          <p:cNvSpPr txBox="true"/>
          <p:nvPr/>
        </p:nvSpPr>
        <p:spPr>
          <a:xfrm rot="0">
            <a:off x="8738547" y="3500116"/>
            <a:ext cx="1099769" cy="901681"/>
          </a:xfrm>
          <a:prstGeom prst="rect">
            <a:avLst/>
          </a:prstGeom>
        </p:spPr>
        <p:txBody>
          <a:bodyPr anchor="t" rtlCol="false" tIns="0" lIns="0" bIns="0" rIns="0">
            <a:spAutoFit/>
          </a:bodyPr>
          <a:lstStyle/>
          <a:p>
            <a:pPr algn="l" marL="0" indent="0" lvl="0">
              <a:lnSpc>
                <a:spcPts val="7000"/>
              </a:lnSpc>
              <a:spcBef>
                <a:spcPct val="0"/>
              </a:spcBef>
            </a:pPr>
            <a:r>
              <a:rPr lang="en-US" b="true" sz="5000">
                <a:solidFill>
                  <a:srgbClr val="56021F"/>
                </a:solidFill>
                <a:latin typeface="Poppins Ultra-Bold"/>
                <a:ea typeface="Poppins Ultra-Bold"/>
                <a:cs typeface="Poppins Ultra-Bold"/>
                <a:sym typeface="Poppins Ultra-Bold"/>
              </a:rPr>
              <a:t>05</a:t>
            </a:r>
          </a:p>
        </p:txBody>
      </p:sp>
      <p:sp>
        <p:nvSpPr>
          <p:cNvPr name="TextBox 7" id="7"/>
          <p:cNvSpPr txBox="true"/>
          <p:nvPr/>
        </p:nvSpPr>
        <p:spPr>
          <a:xfrm rot="0">
            <a:off x="8738547" y="4861660"/>
            <a:ext cx="1099769" cy="901681"/>
          </a:xfrm>
          <a:prstGeom prst="rect">
            <a:avLst/>
          </a:prstGeom>
        </p:spPr>
        <p:txBody>
          <a:bodyPr anchor="t" rtlCol="false" tIns="0" lIns="0" bIns="0" rIns="0">
            <a:spAutoFit/>
          </a:bodyPr>
          <a:lstStyle/>
          <a:p>
            <a:pPr algn="l" marL="0" indent="0" lvl="0">
              <a:lnSpc>
                <a:spcPts val="7000"/>
              </a:lnSpc>
              <a:spcBef>
                <a:spcPct val="0"/>
              </a:spcBef>
            </a:pPr>
            <a:r>
              <a:rPr lang="en-US" b="true" sz="5000">
                <a:solidFill>
                  <a:srgbClr val="56021F"/>
                </a:solidFill>
                <a:latin typeface="Poppins Ultra-Bold"/>
                <a:ea typeface="Poppins Ultra-Bold"/>
                <a:cs typeface="Poppins Ultra-Bold"/>
                <a:sym typeface="Poppins Ultra-Bold"/>
              </a:rPr>
              <a:t>06</a:t>
            </a:r>
          </a:p>
        </p:txBody>
      </p:sp>
      <p:sp>
        <p:nvSpPr>
          <p:cNvPr name="AutoShape 8" id="8"/>
          <p:cNvSpPr/>
          <p:nvPr/>
        </p:nvSpPr>
        <p:spPr>
          <a:xfrm flipV="true">
            <a:off x="1047750" y="3823153"/>
            <a:ext cx="1414599" cy="102131"/>
          </a:xfrm>
          <a:prstGeom prst="line">
            <a:avLst/>
          </a:prstGeom>
          <a:ln cap="flat" w="38100">
            <a:solidFill>
              <a:srgbClr val="56021F"/>
            </a:solidFill>
            <a:prstDash val="solid"/>
            <a:headEnd type="none" len="sm" w="sm"/>
            <a:tailEnd type="none" len="sm" w="sm"/>
          </a:ln>
        </p:spPr>
      </p:sp>
      <p:sp>
        <p:nvSpPr>
          <p:cNvPr name="AutoShape 9" id="9"/>
          <p:cNvSpPr/>
          <p:nvPr/>
        </p:nvSpPr>
        <p:spPr>
          <a:xfrm flipV="true">
            <a:off x="1047750" y="5184697"/>
            <a:ext cx="1414599" cy="102131"/>
          </a:xfrm>
          <a:prstGeom prst="line">
            <a:avLst/>
          </a:prstGeom>
          <a:ln cap="flat" w="38100">
            <a:solidFill>
              <a:srgbClr val="56021F"/>
            </a:solidFill>
            <a:prstDash val="solid"/>
            <a:headEnd type="none" len="sm" w="sm"/>
            <a:tailEnd type="none" len="sm" w="sm"/>
          </a:ln>
        </p:spPr>
      </p:sp>
      <p:sp>
        <p:nvSpPr>
          <p:cNvPr name="AutoShape 10" id="10"/>
          <p:cNvSpPr/>
          <p:nvPr/>
        </p:nvSpPr>
        <p:spPr>
          <a:xfrm flipV="true">
            <a:off x="8564564" y="3823153"/>
            <a:ext cx="1414599" cy="102131"/>
          </a:xfrm>
          <a:prstGeom prst="line">
            <a:avLst/>
          </a:prstGeom>
          <a:ln cap="flat" w="38100">
            <a:solidFill>
              <a:srgbClr val="56021F"/>
            </a:solidFill>
            <a:prstDash val="solid"/>
            <a:headEnd type="none" len="sm" w="sm"/>
            <a:tailEnd type="none" len="sm" w="sm"/>
          </a:ln>
        </p:spPr>
      </p:sp>
      <p:sp>
        <p:nvSpPr>
          <p:cNvPr name="AutoShape 11" id="11"/>
          <p:cNvSpPr/>
          <p:nvPr/>
        </p:nvSpPr>
        <p:spPr>
          <a:xfrm flipV="true">
            <a:off x="8564564" y="5184697"/>
            <a:ext cx="1414599" cy="102131"/>
          </a:xfrm>
          <a:prstGeom prst="line">
            <a:avLst/>
          </a:prstGeom>
          <a:ln cap="flat" w="38100">
            <a:solidFill>
              <a:srgbClr val="56021F"/>
            </a:solidFill>
            <a:prstDash val="solid"/>
            <a:headEnd type="none" len="sm" w="sm"/>
            <a:tailEnd type="none" len="sm" w="sm"/>
          </a:ln>
        </p:spPr>
      </p:sp>
      <p:sp>
        <p:nvSpPr>
          <p:cNvPr name="TextBox 12" id="12"/>
          <p:cNvSpPr txBox="true"/>
          <p:nvPr/>
        </p:nvSpPr>
        <p:spPr>
          <a:xfrm rot="0">
            <a:off x="1221732" y="6223204"/>
            <a:ext cx="1099769" cy="901681"/>
          </a:xfrm>
          <a:prstGeom prst="rect">
            <a:avLst/>
          </a:prstGeom>
        </p:spPr>
        <p:txBody>
          <a:bodyPr anchor="t" rtlCol="false" tIns="0" lIns="0" bIns="0" rIns="0">
            <a:spAutoFit/>
          </a:bodyPr>
          <a:lstStyle/>
          <a:p>
            <a:pPr algn="l" marL="0" indent="0" lvl="0">
              <a:lnSpc>
                <a:spcPts val="7000"/>
              </a:lnSpc>
              <a:spcBef>
                <a:spcPct val="0"/>
              </a:spcBef>
            </a:pPr>
            <a:r>
              <a:rPr lang="en-US" b="true" sz="5000">
                <a:solidFill>
                  <a:srgbClr val="56021F"/>
                </a:solidFill>
                <a:latin typeface="Poppins Ultra-Bold"/>
                <a:ea typeface="Poppins Ultra-Bold"/>
                <a:cs typeface="Poppins Ultra-Bold"/>
                <a:sym typeface="Poppins Ultra-Bold"/>
              </a:rPr>
              <a:t>03</a:t>
            </a:r>
          </a:p>
        </p:txBody>
      </p:sp>
      <p:sp>
        <p:nvSpPr>
          <p:cNvPr name="TextBox 13" id="13"/>
          <p:cNvSpPr txBox="true"/>
          <p:nvPr/>
        </p:nvSpPr>
        <p:spPr>
          <a:xfrm rot="0">
            <a:off x="8738547" y="6223204"/>
            <a:ext cx="1099769" cy="901681"/>
          </a:xfrm>
          <a:prstGeom prst="rect">
            <a:avLst/>
          </a:prstGeom>
        </p:spPr>
        <p:txBody>
          <a:bodyPr anchor="t" rtlCol="false" tIns="0" lIns="0" bIns="0" rIns="0">
            <a:spAutoFit/>
          </a:bodyPr>
          <a:lstStyle/>
          <a:p>
            <a:pPr algn="l" marL="0" indent="0" lvl="0">
              <a:lnSpc>
                <a:spcPts val="7000"/>
              </a:lnSpc>
              <a:spcBef>
                <a:spcPct val="0"/>
              </a:spcBef>
            </a:pPr>
            <a:r>
              <a:rPr lang="en-US" b="true" sz="5000">
                <a:solidFill>
                  <a:srgbClr val="56021F"/>
                </a:solidFill>
                <a:latin typeface="Poppins Ultra-Bold"/>
                <a:ea typeface="Poppins Ultra-Bold"/>
                <a:cs typeface="Poppins Ultra-Bold"/>
                <a:sym typeface="Poppins Ultra-Bold"/>
              </a:rPr>
              <a:t>07</a:t>
            </a:r>
          </a:p>
        </p:txBody>
      </p:sp>
      <p:sp>
        <p:nvSpPr>
          <p:cNvPr name="AutoShape 14" id="14"/>
          <p:cNvSpPr/>
          <p:nvPr/>
        </p:nvSpPr>
        <p:spPr>
          <a:xfrm flipV="true">
            <a:off x="1047750" y="6546240"/>
            <a:ext cx="1414599" cy="102131"/>
          </a:xfrm>
          <a:prstGeom prst="line">
            <a:avLst/>
          </a:prstGeom>
          <a:ln cap="flat" w="38100">
            <a:solidFill>
              <a:srgbClr val="56021F"/>
            </a:solidFill>
            <a:prstDash val="solid"/>
            <a:headEnd type="none" len="sm" w="sm"/>
            <a:tailEnd type="none" len="sm" w="sm"/>
          </a:ln>
        </p:spPr>
      </p:sp>
      <p:sp>
        <p:nvSpPr>
          <p:cNvPr name="AutoShape 15" id="15"/>
          <p:cNvSpPr/>
          <p:nvPr/>
        </p:nvSpPr>
        <p:spPr>
          <a:xfrm flipV="true">
            <a:off x="8564564" y="6546240"/>
            <a:ext cx="1414599" cy="102131"/>
          </a:xfrm>
          <a:prstGeom prst="line">
            <a:avLst/>
          </a:prstGeom>
          <a:ln cap="flat" w="38100">
            <a:solidFill>
              <a:srgbClr val="56021F"/>
            </a:solidFill>
            <a:prstDash val="solid"/>
            <a:headEnd type="none" len="sm" w="sm"/>
            <a:tailEnd type="none" len="sm" w="sm"/>
          </a:ln>
        </p:spPr>
      </p:sp>
      <p:sp>
        <p:nvSpPr>
          <p:cNvPr name="TextBox 16" id="16"/>
          <p:cNvSpPr txBox="true"/>
          <p:nvPr/>
        </p:nvSpPr>
        <p:spPr>
          <a:xfrm rot="0">
            <a:off x="1221732" y="7584748"/>
            <a:ext cx="1099769" cy="901681"/>
          </a:xfrm>
          <a:prstGeom prst="rect">
            <a:avLst/>
          </a:prstGeom>
        </p:spPr>
        <p:txBody>
          <a:bodyPr anchor="t" rtlCol="false" tIns="0" lIns="0" bIns="0" rIns="0">
            <a:spAutoFit/>
          </a:bodyPr>
          <a:lstStyle/>
          <a:p>
            <a:pPr algn="l" marL="0" indent="0" lvl="0">
              <a:lnSpc>
                <a:spcPts val="7000"/>
              </a:lnSpc>
              <a:spcBef>
                <a:spcPct val="0"/>
              </a:spcBef>
            </a:pPr>
            <a:r>
              <a:rPr lang="en-US" b="true" sz="5000">
                <a:solidFill>
                  <a:srgbClr val="56021F"/>
                </a:solidFill>
                <a:latin typeface="Poppins Ultra-Bold"/>
                <a:ea typeface="Poppins Ultra-Bold"/>
                <a:cs typeface="Poppins Ultra-Bold"/>
                <a:sym typeface="Poppins Ultra-Bold"/>
              </a:rPr>
              <a:t>04</a:t>
            </a:r>
          </a:p>
        </p:txBody>
      </p:sp>
      <p:sp>
        <p:nvSpPr>
          <p:cNvPr name="TextBox 17" id="17"/>
          <p:cNvSpPr txBox="true"/>
          <p:nvPr/>
        </p:nvSpPr>
        <p:spPr>
          <a:xfrm rot="0">
            <a:off x="8738547" y="7584748"/>
            <a:ext cx="1099769" cy="901681"/>
          </a:xfrm>
          <a:prstGeom prst="rect">
            <a:avLst/>
          </a:prstGeom>
        </p:spPr>
        <p:txBody>
          <a:bodyPr anchor="t" rtlCol="false" tIns="0" lIns="0" bIns="0" rIns="0">
            <a:spAutoFit/>
          </a:bodyPr>
          <a:lstStyle/>
          <a:p>
            <a:pPr algn="l" marL="0" indent="0" lvl="0">
              <a:lnSpc>
                <a:spcPts val="7000"/>
              </a:lnSpc>
              <a:spcBef>
                <a:spcPct val="0"/>
              </a:spcBef>
            </a:pPr>
            <a:r>
              <a:rPr lang="en-US" b="true" sz="5000">
                <a:solidFill>
                  <a:srgbClr val="56021F"/>
                </a:solidFill>
                <a:latin typeface="Poppins Ultra-Bold"/>
                <a:ea typeface="Poppins Ultra-Bold"/>
                <a:cs typeface="Poppins Ultra-Bold"/>
                <a:sym typeface="Poppins Ultra-Bold"/>
              </a:rPr>
              <a:t>08</a:t>
            </a:r>
          </a:p>
        </p:txBody>
      </p:sp>
      <p:sp>
        <p:nvSpPr>
          <p:cNvPr name="AutoShape 18" id="18"/>
          <p:cNvSpPr/>
          <p:nvPr/>
        </p:nvSpPr>
        <p:spPr>
          <a:xfrm flipV="true">
            <a:off x="1047750" y="7907784"/>
            <a:ext cx="1414599" cy="102131"/>
          </a:xfrm>
          <a:prstGeom prst="line">
            <a:avLst/>
          </a:prstGeom>
          <a:ln cap="flat" w="38100">
            <a:solidFill>
              <a:srgbClr val="56021F"/>
            </a:solidFill>
            <a:prstDash val="solid"/>
            <a:headEnd type="none" len="sm" w="sm"/>
            <a:tailEnd type="none" len="sm" w="sm"/>
          </a:ln>
        </p:spPr>
      </p:sp>
      <p:sp>
        <p:nvSpPr>
          <p:cNvPr name="AutoShape 19" id="19"/>
          <p:cNvSpPr/>
          <p:nvPr/>
        </p:nvSpPr>
        <p:spPr>
          <a:xfrm flipV="true">
            <a:off x="8564564" y="7907784"/>
            <a:ext cx="1414599" cy="102131"/>
          </a:xfrm>
          <a:prstGeom prst="line">
            <a:avLst/>
          </a:prstGeom>
          <a:ln cap="flat" w="38100">
            <a:solidFill>
              <a:srgbClr val="56021F"/>
            </a:solidFill>
            <a:prstDash val="solid"/>
            <a:headEnd type="none" len="sm" w="sm"/>
            <a:tailEnd type="none" len="sm" w="sm"/>
          </a:ln>
        </p:spPr>
      </p:sp>
      <p:sp>
        <p:nvSpPr>
          <p:cNvPr name="Freeform 20" id="20"/>
          <p:cNvSpPr/>
          <p:nvPr/>
        </p:nvSpPr>
        <p:spPr>
          <a:xfrm flipH="false" flipV="false" rot="0">
            <a:off x="7714377" y="-379706"/>
            <a:ext cx="6787678" cy="3845196"/>
          </a:xfrm>
          <a:custGeom>
            <a:avLst/>
            <a:gdLst/>
            <a:ahLst/>
            <a:cxnLst/>
            <a:rect r="r" b="b" t="t" l="l"/>
            <a:pathLst>
              <a:path h="3845196" w="6787678">
                <a:moveTo>
                  <a:pt x="0" y="0"/>
                </a:moveTo>
                <a:lnTo>
                  <a:pt x="6787678" y="0"/>
                </a:lnTo>
                <a:lnTo>
                  <a:pt x="6787678" y="3845196"/>
                </a:lnTo>
                <a:lnTo>
                  <a:pt x="0" y="3845196"/>
                </a:lnTo>
                <a:lnTo>
                  <a:pt x="0" y="0"/>
                </a:lnTo>
                <a:close/>
              </a:path>
            </a:pathLst>
          </a:custGeom>
          <a:blipFill>
            <a:blip r:embed="rId5"/>
            <a:stretch>
              <a:fillRect l="-13" t="-25365" r="-13" b="0"/>
            </a:stretch>
          </a:blipFill>
        </p:spPr>
      </p:sp>
      <p:sp>
        <p:nvSpPr>
          <p:cNvPr name="TextBox 21" id="21"/>
          <p:cNvSpPr txBox="true"/>
          <p:nvPr/>
        </p:nvSpPr>
        <p:spPr>
          <a:xfrm rot="0">
            <a:off x="1047750" y="1149647"/>
            <a:ext cx="5506177" cy="2211069"/>
          </a:xfrm>
          <a:prstGeom prst="rect">
            <a:avLst/>
          </a:prstGeom>
        </p:spPr>
        <p:txBody>
          <a:bodyPr anchor="t" rtlCol="false" tIns="0" lIns="0" bIns="0" rIns="0">
            <a:spAutoFit/>
          </a:bodyPr>
          <a:lstStyle/>
          <a:p>
            <a:pPr algn="l" marL="0" indent="0" lvl="0">
              <a:lnSpc>
                <a:spcPts val="8299"/>
              </a:lnSpc>
            </a:pPr>
            <a:r>
              <a:rPr lang="en-US" b="true" sz="8299" spc="414">
                <a:solidFill>
                  <a:srgbClr val="360214"/>
                </a:solidFill>
                <a:latin typeface="Poppins Semi-Bold"/>
                <a:ea typeface="Poppins Semi-Bold"/>
                <a:cs typeface="Poppins Semi-Bold"/>
                <a:sym typeface="Poppins Semi-Bold"/>
              </a:rPr>
              <a:t>TABLE OF CONTENT</a:t>
            </a:r>
          </a:p>
        </p:txBody>
      </p:sp>
      <p:sp>
        <p:nvSpPr>
          <p:cNvPr name="TextBox 22" id="22"/>
          <p:cNvSpPr txBox="true"/>
          <p:nvPr/>
        </p:nvSpPr>
        <p:spPr>
          <a:xfrm rot="0">
            <a:off x="2348849" y="3917928"/>
            <a:ext cx="5365528" cy="483869"/>
          </a:xfrm>
          <a:prstGeom prst="rect">
            <a:avLst/>
          </a:prstGeom>
        </p:spPr>
        <p:txBody>
          <a:bodyPr anchor="t" rtlCol="false" tIns="0" lIns="0" bIns="0" rIns="0">
            <a:spAutoFit/>
          </a:bodyPr>
          <a:lstStyle/>
          <a:p>
            <a:pPr algn="l" marL="0" indent="0" lvl="0">
              <a:lnSpc>
                <a:spcPts val="3780"/>
              </a:lnSpc>
              <a:spcBef>
                <a:spcPct val="0"/>
              </a:spcBef>
            </a:pPr>
            <a:r>
              <a:rPr lang="en-US" b="true" sz="2700" spc="270">
                <a:solidFill>
                  <a:srgbClr val="56021F"/>
                </a:solidFill>
                <a:latin typeface="Poppins Bold"/>
                <a:ea typeface="Poppins Bold"/>
                <a:cs typeface="Poppins Bold"/>
                <a:sym typeface="Poppins Bold"/>
              </a:rPr>
              <a:t>ORGANISATION OVERVIEW</a:t>
            </a:r>
          </a:p>
        </p:txBody>
      </p:sp>
      <p:sp>
        <p:nvSpPr>
          <p:cNvPr name="TextBox 23" id="23"/>
          <p:cNvSpPr txBox="true"/>
          <p:nvPr/>
        </p:nvSpPr>
        <p:spPr>
          <a:xfrm rot="0">
            <a:off x="2462349" y="5279472"/>
            <a:ext cx="5138529" cy="483869"/>
          </a:xfrm>
          <a:prstGeom prst="rect">
            <a:avLst/>
          </a:prstGeom>
        </p:spPr>
        <p:txBody>
          <a:bodyPr anchor="t" rtlCol="false" tIns="0" lIns="0" bIns="0" rIns="0">
            <a:spAutoFit/>
          </a:bodyPr>
          <a:lstStyle/>
          <a:p>
            <a:pPr algn="l" marL="0" indent="0" lvl="0">
              <a:lnSpc>
                <a:spcPts val="3780"/>
              </a:lnSpc>
              <a:spcBef>
                <a:spcPct val="0"/>
              </a:spcBef>
            </a:pPr>
            <a:r>
              <a:rPr lang="en-US" b="true" sz="2700" spc="270">
                <a:solidFill>
                  <a:srgbClr val="56021F"/>
                </a:solidFill>
                <a:latin typeface="Poppins Bold"/>
                <a:ea typeface="Poppins Bold"/>
                <a:cs typeface="Poppins Bold"/>
                <a:sym typeface="Poppins Bold"/>
              </a:rPr>
              <a:t>BUSINESS PROBLEM</a:t>
            </a:r>
          </a:p>
        </p:txBody>
      </p:sp>
      <p:sp>
        <p:nvSpPr>
          <p:cNvPr name="TextBox 24" id="24"/>
          <p:cNvSpPr txBox="true"/>
          <p:nvPr/>
        </p:nvSpPr>
        <p:spPr>
          <a:xfrm rot="0">
            <a:off x="9981190" y="5307738"/>
            <a:ext cx="5138529" cy="483869"/>
          </a:xfrm>
          <a:prstGeom prst="rect">
            <a:avLst/>
          </a:prstGeom>
        </p:spPr>
        <p:txBody>
          <a:bodyPr anchor="t" rtlCol="false" tIns="0" lIns="0" bIns="0" rIns="0">
            <a:spAutoFit/>
          </a:bodyPr>
          <a:lstStyle/>
          <a:p>
            <a:pPr algn="l" marL="0" indent="0" lvl="0">
              <a:lnSpc>
                <a:spcPts val="3780"/>
              </a:lnSpc>
              <a:spcBef>
                <a:spcPct val="0"/>
              </a:spcBef>
            </a:pPr>
            <a:r>
              <a:rPr lang="en-US" b="true" sz="2700" spc="270">
                <a:solidFill>
                  <a:srgbClr val="56021F"/>
                </a:solidFill>
                <a:latin typeface="Poppins Bold"/>
                <a:ea typeface="Poppins Bold"/>
                <a:cs typeface="Poppins Bold"/>
                <a:sym typeface="Poppins Bold"/>
              </a:rPr>
              <a:t>DATA VISUALIZATION</a:t>
            </a:r>
          </a:p>
        </p:txBody>
      </p:sp>
      <p:sp>
        <p:nvSpPr>
          <p:cNvPr name="TextBox 25" id="25"/>
          <p:cNvSpPr txBox="true"/>
          <p:nvPr/>
        </p:nvSpPr>
        <p:spPr>
          <a:xfrm rot="0">
            <a:off x="9979163" y="6669282"/>
            <a:ext cx="5138529" cy="483869"/>
          </a:xfrm>
          <a:prstGeom prst="rect">
            <a:avLst/>
          </a:prstGeom>
        </p:spPr>
        <p:txBody>
          <a:bodyPr anchor="t" rtlCol="false" tIns="0" lIns="0" bIns="0" rIns="0">
            <a:spAutoFit/>
          </a:bodyPr>
          <a:lstStyle/>
          <a:p>
            <a:pPr algn="l" marL="0" indent="0" lvl="0">
              <a:lnSpc>
                <a:spcPts val="3780"/>
              </a:lnSpc>
              <a:spcBef>
                <a:spcPct val="0"/>
              </a:spcBef>
            </a:pPr>
            <a:r>
              <a:rPr lang="en-US" b="true" sz="2700" spc="270">
                <a:solidFill>
                  <a:srgbClr val="56021F"/>
                </a:solidFill>
                <a:latin typeface="Poppins Bold"/>
                <a:ea typeface="Poppins Bold"/>
                <a:cs typeface="Poppins Bold"/>
                <a:sym typeface="Poppins Bold"/>
              </a:rPr>
              <a:t>KEY INSIGHTS</a:t>
            </a:r>
          </a:p>
        </p:txBody>
      </p:sp>
      <p:sp>
        <p:nvSpPr>
          <p:cNvPr name="TextBox 26" id="26"/>
          <p:cNvSpPr txBox="true"/>
          <p:nvPr/>
        </p:nvSpPr>
        <p:spPr>
          <a:xfrm rot="0">
            <a:off x="2462349" y="6641016"/>
            <a:ext cx="5138529" cy="483869"/>
          </a:xfrm>
          <a:prstGeom prst="rect">
            <a:avLst/>
          </a:prstGeom>
        </p:spPr>
        <p:txBody>
          <a:bodyPr anchor="t" rtlCol="false" tIns="0" lIns="0" bIns="0" rIns="0">
            <a:spAutoFit/>
          </a:bodyPr>
          <a:lstStyle/>
          <a:p>
            <a:pPr algn="l" marL="0" indent="0" lvl="0">
              <a:lnSpc>
                <a:spcPts val="3780"/>
              </a:lnSpc>
              <a:spcBef>
                <a:spcPct val="0"/>
              </a:spcBef>
            </a:pPr>
            <a:r>
              <a:rPr lang="en-US" b="true" sz="2700" spc="270">
                <a:solidFill>
                  <a:srgbClr val="56021F"/>
                </a:solidFill>
                <a:latin typeface="Poppins Bold"/>
                <a:ea typeface="Poppins Bold"/>
                <a:cs typeface="Poppins Bold"/>
                <a:sym typeface="Poppins Bold"/>
              </a:rPr>
              <a:t>BI SOLUTION</a:t>
            </a:r>
          </a:p>
        </p:txBody>
      </p:sp>
      <p:sp>
        <p:nvSpPr>
          <p:cNvPr name="TextBox 27" id="27"/>
          <p:cNvSpPr txBox="true"/>
          <p:nvPr/>
        </p:nvSpPr>
        <p:spPr>
          <a:xfrm rot="0">
            <a:off x="9979163" y="7933716"/>
            <a:ext cx="5138529" cy="483869"/>
          </a:xfrm>
          <a:prstGeom prst="rect">
            <a:avLst/>
          </a:prstGeom>
        </p:spPr>
        <p:txBody>
          <a:bodyPr anchor="t" rtlCol="false" tIns="0" lIns="0" bIns="0" rIns="0">
            <a:spAutoFit/>
          </a:bodyPr>
          <a:lstStyle/>
          <a:p>
            <a:pPr algn="l" marL="0" indent="0" lvl="0">
              <a:lnSpc>
                <a:spcPts val="3780"/>
              </a:lnSpc>
              <a:spcBef>
                <a:spcPct val="0"/>
              </a:spcBef>
            </a:pPr>
            <a:r>
              <a:rPr lang="en-US" b="true" sz="2700" spc="270">
                <a:solidFill>
                  <a:srgbClr val="56021F"/>
                </a:solidFill>
                <a:latin typeface="Poppins Bold"/>
                <a:ea typeface="Poppins Bold"/>
                <a:cs typeface="Poppins Bold"/>
                <a:sym typeface="Poppins Bold"/>
              </a:rPr>
              <a:t>RECOMMENDATIONS</a:t>
            </a:r>
          </a:p>
        </p:txBody>
      </p:sp>
      <p:sp>
        <p:nvSpPr>
          <p:cNvPr name="TextBox 28" id="28"/>
          <p:cNvSpPr txBox="true"/>
          <p:nvPr/>
        </p:nvSpPr>
        <p:spPr>
          <a:xfrm rot="0">
            <a:off x="2462349" y="8002560"/>
            <a:ext cx="5138529" cy="483869"/>
          </a:xfrm>
          <a:prstGeom prst="rect">
            <a:avLst/>
          </a:prstGeom>
        </p:spPr>
        <p:txBody>
          <a:bodyPr anchor="t" rtlCol="false" tIns="0" lIns="0" bIns="0" rIns="0">
            <a:spAutoFit/>
          </a:bodyPr>
          <a:lstStyle/>
          <a:p>
            <a:pPr algn="l" marL="0" indent="0" lvl="0">
              <a:lnSpc>
                <a:spcPts val="3780"/>
              </a:lnSpc>
              <a:spcBef>
                <a:spcPct val="0"/>
              </a:spcBef>
            </a:pPr>
            <a:r>
              <a:rPr lang="en-US" b="true" sz="2700" spc="270">
                <a:solidFill>
                  <a:srgbClr val="56021F"/>
                </a:solidFill>
                <a:latin typeface="Poppins Bold"/>
                <a:ea typeface="Poppins Bold"/>
                <a:cs typeface="Poppins Bold"/>
                <a:sym typeface="Poppins Bold"/>
              </a:rPr>
              <a:t>ETL PROCESS</a:t>
            </a:r>
          </a:p>
        </p:txBody>
      </p:sp>
      <p:sp>
        <p:nvSpPr>
          <p:cNvPr name="TextBox 29" id="29"/>
          <p:cNvSpPr txBox="true"/>
          <p:nvPr/>
        </p:nvSpPr>
        <p:spPr>
          <a:xfrm rot="0">
            <a:off x="9981190" y="3917928"/>
            <a:ext cx="5138529" cy="483869"/>
          </a:xfrm>
          <a:prstGeom prst="rect">
            <a:avLst/>
          </a:prstGeom>
        </p:spPr>
        <p:txBody>
          <a:bodyPr anchor="t" rtlCol="false" tIns="0" lIns="0" bIns="0" rIns="0">
            <a:spAutoFit/>
          </a:bodyPr>
          <a:lstStyle/>
          <a:p>
            <a:pPr algn="l" marL="0" indent="0" lvl="0">
              <a:lnSpc>
                <a:spcPts val="3780"/>
              </a:lnSpc>
              <a:spcBef>
                <a:spcPct val="0"/>
              </a:spcBef>
            </a:pPr>
            <a:r>
              <a:rPr lang="en-US" b="true" sz="2700" spc="270">
                <a:solidFill>
                  <a:srgbClr val="56021F"/>
                </a:solidFill>
                <a:latin typeface="Poppins Bold"/>
                <a:ea typeface="Poppins Bold"/>
                <a:cs typeface="Poppins Bold"/>
                <a:sym typeface="Poppins Bold"/>
              </a:rPr>
              <a:t>SCHEMA DESIGN</a:t>
            </a:r>
          </a:p>
        </p:txBody>
      </p:sp>
      <p:sp>
        <p:nvSpPr>
          <p:cNvPr name="TextBox 30" id="30"/>
          <p:cNvSpPr txBox="true"/>
          <p:nvPr/>
        </p:nvSpPr>
        <p:spPr>
          <a:xfrm rot="0">
            <a:off x="5020346" y="8797626"/>
            <a:ext cx="1099769" cy="901700"/>
          </a:xfrm>
          <a:prstGeom prst="rect">
            <a:avLst/>
          </a:prstGeom>
        </p:spPr>
        <p:txBody>
          <a:bodyPr anchor="t" rtlCol="false" tIns="0" lIns="0" bIns="0" rIns="0">
            <a:spAutoFit/>
          </a:bodyPr>
          <a:lstStyle/>
          <a:p>
            <a:pPr algn="l" marL="0" indent="0" lvl="0">
              <a:lnSpc>
                <a:spcPts val="7000"/>
              </a:lnSpc>
              <a:spcBef>
                <a:spcPct val="0"/>
              </a:spcBef>
            </a:pPr>
            <a:r>
              <a:rPr lang="en-US" b="true" sz="5000">
                <a:solidFill>
                  <a:srgbClr val="56021F"/>
                </a:solidFill>
                <a:latin typeface="Poppins Ultra-Bold"/>
                <a:ea typeface="Poppins Ultra-Bold"/>
                <a:cs typeface="Poppins Ultra-Bold"/>
                <a:sym typeface="Poppins Ultra-Bold"/>
              </a:rPr>
              <a:t>09</a:t>
            </a:r>
          </a:p>
        </p:txBody>
      </p:sp>
      <p:sp>
        <p:nvSpPr>
          <p:cNvPr name="AutoShape 31" id="31"/>
          <p:cNvSpPr/>
          <p:nvPr/>
        </p:nvSpPr>
        <p:spPr>
          <a:xfrm flipV="true">
            <a:off x="4846363" y="9120662"/>
            <a:ext cx="1414599" cy="102131"/>
          </a:xfrm>
          <a:prstGeom prst="line">
            <a:avLst/>
          </a:prstGeom>
          <a:ln cap="flat" w="38100">
            <a:solidFill>
              <a:srgbClr val="56021F"/>
            </a:solidFill>
            <a:prstDash val="solid"/>
            <a:headEnd type="none" len="sm" w="sm"/>
            <a:tailEnd type="none" len="sm" w="sm"/>
          </a:ln>
        </p:spPr>
      </p:sp>
      <p:sp>
        <p:nvSpPr>
          <p:cNvPr name="TextBox 32" id="32"/>
          <p:cNvSpPr txBox="true"/>
          <p:nvPr/>
        </p:nvSpPr>
        <p:spPr>
          <a:xfrm rot="0">
            <a:off x="6252643" y="9146593"/>
            <a:ext cx="5138529" cy="483869"/>
          </a:xfrm>
          <a:prstGeom prst="rect">
            <a:avLst/>
          </a:prstGeom>
        </p:spPr>
        <p:txBody>
          <a:bodyPr anchor="t" rtlCol="false" tIns="0" lIns="0" bIns="0" rIns="0">
            <a:spAutoFit/>
          </a:bodyPr>
          <a:lstStyle/>
          <a:p>
            <a:pPr algn="l" marL="0" indent="0" lvl="0">
              <a:lnSpc>
                <a:spcPts val="3780"/>
              </a:lnSpc>
              <a:spcBef>
                <a:spcPct val="0"/>
              </a:spcBef>
            </a:pPr>
            <a:r>
              <a:rPr lang="en-US" b="true" sz="2700" spc="270">
                <a:solidFill>
                  <a:srgbClr val="56021F"/>
                </a:solidFill>
                <a:latin typeface="Poppins Bold"/>
                <a:ea typeface="Poppins Bold"/>
                <a:cs typeface="Poppins Bold"/>
                <a:sym typeface="Poppins Bold"/>
              </a:rPr>
              <a:t>CONCLUSION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grpSp>
        <p:nvGrpSpPr>
          <p:cNvPr name="Group 2" id="2"/>
          <p:cNvGrpSpPr/>
          <p:nvPr/>
        </p:nvGrpSpPr>
        <p:grpSpPr>
          <a:xfrm rot="-5400000">
            <a:off x="11641109" y="547821"/>
            <a:ext cx="10435362" cy="9529437"/>
            <a:chOff x="0" y="0"/>
            <a:chExt cx="890070" cy="812800"/>
          </a:xfrm>
        </p:grpSpPr>
        <p:sp>
          <p:nvSpPr>
            <p:cNvPr name="Freeform 3" id="3"/>
            <p:cNvSpPr/>
            <p:nvPr/>
          </p:nvSpPr>
          <p:spPr>
            <a:xfrm flipH="false" flipV="false" rot="0">
              <a:off x="0" y="0"/>
              <a:ext cx="890070" cy="812800"/>
            </a:xfrm>
            <a:custGeom>
              <a:avLst/>
              <a:gdLst/>
              <a:ahLst/>
              <a:cxnLst/>
              <a:rect r="r" b="b" t="t" l="l"/>
              <a:pathLst>
                <a:path h="812800" w="890070">
                  <a:moveTo>
                    <a:pt x="445035" y="0"/>
                  </a:moveTo>
                  <a:cubicBezTo>
                    <a:pt x="199249" y="0"/>
                    <a:pt x="0" y="181951"/>
                    <a:pt x="0" y="406400"/>
                  </a:cubicBezTo>
                  <a:cubicBezTo>
                    <a:pt x="0" y="630849"/>
                    <a:pt x="199249" y="812800"/>
                    <a:pt x="445035" y="812800"/>
                  </a:cubicBezTo>
                  <a:cubicBezTo>
                    <a:pt x="690821" y="812800"/>
                    <a:pt x="890070" y="630849"/>
                    <a:pt x="890070" y="406400"/>
                  </a:cubicBezTo>
                  <a:cubicBezTo>
                    <a:pt x="890070" y="181951"/>
                    <a:pt x="690821" y="0"/>
                    <a:pt x="445035" y="0"/>
                  </a:cubicBezTo>
                  <a:close/>
                </a:path>
              </a:pathLst>
            </a:custGeom>
            <a:gradFill rotWithShape="true">
              <a:gsLst>
                <a:gs pos="0">
                  <a:srgbClr val="731919">
                    <a:alpha val="100000"/>
                  </a:srgbClr>
                </a:gs>
                <a:gs pos="100000">
                  <a:srgbClr val="E52B2B">
                    <a:alpha val="100000"/>
                  </a:srgbClr>
                </a:gs>
              </a:gsLst>
              <a:lin ang="5400000"/>
            </a:gradFill>
          </p:spPr>
        </p:sp>
        <p:sp>
          <p:nvSpPr>
            <p:cNvPr name="TextBox 4" id="4"/>
            <p:cNvSpPr txBox="true"/>
            <p:nvPr/>
          </p:nvSpPr>
          <p:spPr>
            <a:xfrm>
              <a:off x="83444" y="38100"/>
              <a:ext cx="723182" cy="698500"/>
            </a:xfrm>
            <a:prstGeom prst="rect">
              <a:avLst/>
            </a:prstGeom>
          </p:spPr>
          <p:txBody>
            <a:bodyPr anchor="ctr" rtlCol="false" tIns="42600" lIns="42600" bIns="42600" rIns="42600"/>
            <a:lstStyle/>
            <a:p>
              <a:pPr algn="ctr">
                <a:lnSpc>
                  <a:spcPts val="2659"/>
                </a:lnSpc>
              </a:pPr>
            </a:p>
          </p:txBody>
        </p:sp>
      </p:grpSp>
      <p:sp>
        <p:nvSpPr>
          <p:cNvPr name="Freeform 5" id="5"/>
          <p:cNvSpPr/>
          <p:nvPr/>
        </p:nvSpPr>
        <p:spPr>
          <a:xfrm flipH="false" flipV="false" rot="0">
            <a:off x="270024" y="3904244"/>
            <a:ext cx="1318426" cy="710241"/>
          </a:xfrm>
          <a:custGeom>
            <a:avLst/>
            <a:gdLst/>
            <a:ahLst/>
            <a:cxnLst/>
            <a:rect r="r" b="b" t="t" l="l"/>
            <a:pathLst>
              <a:path h="710241" w="1318426">
                <a:moveTo>
                  <a:pt x="0" y="0"/>
                </a:moveTo>
                <a:lnTo>
                  <a:pt x="1318426" y="0"/>
                </a:lnTo>
                <a:lnTo>
                  <a:pt x="1318426" y="710241"/>
                </a:lnTo>
                <a:lnTo>
                  <a:pt x="0" y="710241"/>
                </a:lnTo>
                <a:lnTo>
                  <a:pt x="0" y="0"/>
                </a:lnTo>
                <a:close/>
              </a:path>
            </a:pathLst>
          </a:custGeom>
          <a:blipFill>
            <a:blip r:embed="rId2">
              <a:extLst>
                <a:ext uri="{96DAC541-7B7A-43D3-8B79-37D633B846F1}">
                  <asvg:svgBlip xmlns:asvg="http://schemas.microsoft.com/office/drawing/2016/SVG/main" r:embed="rId3"/>
                </a:ext>
              </a:extLst>
            </a:blip>
            <a:stretch>
              <a:fillRect l="0" t="0" r="0" b="-85630"/>
            </a:stretch>
          </a:blipFill>
        </p:spPr>
      </p:sp>
      <p:sp>
        <p:nvSpPr>
          <p:cNvPr name="Freeform 6" id="6"/>
          <p:cNvSpPr/>
          <p:nvPr/>
        </p:nvSpPr>
        <p:spPr>
          <a:xfrm flipH="false" flipV="false" rot="0">
            <a:off x="12094072" y="2049684"/>
            <a:ext cx="6936007" cy="6187632"/>
          </a:xfrm>
          <a:custGeom>
            <a:avLst/>
            <a:gdLst/>
            <a:ahLst/>
            <a:cxnLst/>
            <a:rect r="r" b="b" t="t" l="l"/>
            <a:pathLst>
              <a:path h="6187632" w="6936007">
                <a:moveTo>
                  <a:pt x="0" y="0"/>
                </a:moveTo>
                <a:lnTo>
                  <a:pt x="6936006" y="0"/>
                </a:lnTo>
                <a:lnTo>
                  <a:pt x="6936006" y="6187632"/>
                </a:lnTo>
                <a:lnTo>
                  <a:pt x="0" y="6187632"/>
                </a:lnTo>
                <a:lnTo>
                  <a:pt x="0" y="0"/>
                </a:lnTo>
                <a:close/>
              </a:path>
            </a:pathLst>
          </a:custGeom>
          <a:blipFill>
            <a:blip r:embed="rId4"/>
            <a:stretch>
              <a:fillRect l="-17075" t="0" r="-17075" b="0"/>
            </a:stretch>
          </a:blipFill>
        </p:spPr>
      </p:sp>
      <p:grpSp>
        <p:nvGrpSpPr>
          <p:cNvPr name="Group 7" id="7"/>
          <p:cNvGrpSpPr/>
          <p:nvPr/>
        </p:nvGrpSpPr>
        <p:grpSpPr>
          <a:xfrm rot="3890140">
            <a:off x="11037027" y="9364066"/>
            <a:ext cx="640411" cy="64041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1919">
                    <a:alpha val="90000"/>
                  </a:srgbClr>
                </a:gs>
                <a:gs pos="100000">
                  <a:srgbClr val="E52B2B">
                    <a:alpha val="90000"/>
                  </a:srgbClr>
                </a:gs>
              </a:gsLst>
              <a:lin ang="5400000"/>
            </a:gradFill>
            <a:ln cap="sq">
              <a:no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4689365" y="1509561"/>
            <a:ext cx="15620626" cy="1484132"/>
            <a:chOff x="0" y="0"/>
            <a:chExt cx="1876002" cy="178241"/>
          </a:xfrm>
        </p:grpSpPr>
        <p:sp>
          <p:nvSpPr>
            <p:cNvPr name="Freeform 11" id="11"/>
            <p:cNvSpPr/>
            <p:nvPr/>
          </p:nvSpPr>
          <p:spPr>
            <a:xfrm flipH="false" flipV="false" rot="0">
              <a:off x="0" y="0"/>
              <a:ext cx="1876002" cy="178241"/>
            </a:xfrm>
            <a:custGeom>
              <a:avLst/>
              <a:gdLst/>
              <a:ahLst/>
              <a:cxnLst/>
              <a:rect r="r" b="b" t="t" l="l"/>
              <a:pathLst>
                <a:path h="178241" w="1876002">
                  <a:moveTo>
                    <a:pt x="1672802" y="0"/>
                  </a:moveTo>
                  <a:lnTo>
                    <a:pt x="0" y="0"/>
                  </a:lnTo>
                  <a:lnTo>
                    <a:pt x="203200" y="178241"/>
                  </a:lnTo>
                  <a:lnTo>
                    <a:pt x="1876002" y="178241"/>
                  </a:lnTo>
                  <a:lnTo>
                    <a:pt x="1672802" y="0"/>
                  </a:lnTo>
                  <a:close/>
                </a:path>
              </a:pathLst>
            </a:custGeom>
            <a:solidFill>
              <a:srgbClr val="661414"/>
            </a:solidFill>
            <a:ln cap="sq">
              <a:noFill/>
              <a:prstDash val="solid"/>
              <a:miter/>
            </a:ln>
          </p:spPr>
        </p:sp>
        <p:sp>
          <p:nvSpPr>
            <p:cNvPr name="TextBox 12" id="12"/>
            <p:cNvSpPr txBox="true"/>
            <p:nvPr/>
          </p:nvSpPr>
          <p:spPr>
            <a:xfrm>
              <a:off x="101600" y="-19050"/>
              <a:ext cx="1672802" cy="197291"/>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Freeform 13" id="13"/>
          <p:cNvSpPr/>
          <p:nvPr/>
        </p:nvSpPr>
        <p:spPr>
          <a:xfrm flipH="false" flipV="false" rot="0">
            <a:off x="5202717" y="1728542"/>
            <a:ext cx="1456691" cy="1046169"/>
          </a:xfrm>
          <a:custGeom>
            <a:avLst/>
            <a:gdLst/>
            <a:ahLst/>
            <a:cxnLst/>
            <a:rect r="r" b="b" t="t" l="l"/>
            <a:pathLst>
              <a:path h="1046169" w="1456691">
                <a:moveTo>
                  <a:pt x="0" y="0"/>
                </a:moveTo>
                <a:lnTo>
                  <a:pt x="1456691" y="0"/>
                </a:lnTo>
                <a:lnTo>
                  <a:pt x="1456691" y="1046169"/>
                </a:lnTo>
                <a:lnTo>
                  <a:pt x="0" y="1046169"/>
                </a:lnTo>
                <a:lnTo>
                  <a:pt x="0" y="0"/>
                </a:lnTo>
                <a:close/>
              </a:path>
            </a:pathLst>
          </a:custGeom>
          <a:blipFill>
            <a:blip r:embed="rId5"/>
            <a:stretch>
              <a:fillRect l="0" t="0" r="0" b="0"/>
            </a:stretch>
          </a:blipFill>
        </p:spPr>
      </p:sp>
      <p:sp>
        <p:nvSpPr>
          <p:cNvPr name="TextBox 14" id="14"/>
          <p:cNvSpPr txBox="true"/>
          <p:nvPr/>
        </p:nvSpPr>
        <p:spPr>
          <a:xfrm rot="0">
            <a:off x="1997850" y="3837569"/>
            <a:ext cx="9323116" cy="5029835"/>
          </a:xfrm>
          <a:prstGeom prst="rect">
            <a:avLst/>
          </a:prstGeom>
        </p:spPr>
        <p:txBody>
          <a:bodyPr anchor="t" rtlCol="false" tIns="0" lIns="0" bIns="0" rIns="0">
            <a:spAutoFit/>
          </a:bodyPr>
          <a:lstStyle/>
          <a:p>
            <a:pPr algn="just" marL="0" indent="0" lvl="0">
              <a:lnSpc>
                <a:spcPts val="3640"/>
              </a:lnSpc>
              <a:spcBef>
                <a:spcPct val="0"/>
              </a:spcBef>
            </a:pPr>
            <a:r>
              <a:rPr lang="en-US" sz="2600" strike="noStrike" u="none">
                <a:solidFill>
                  <a:srgbClr val="000000"/>
                </a:solidFill>
                <a:latin typeface="Poppins"/>
                <a:ea typeface="Poppins"/>
                <a:cs typeface="Poppins"/>
                <a:sym typeface="Poppins"/>
              </a:rPr>
              <a:t>Charles Nicolle Hospital </a:t>
            </a:r>
            <a:r>
              <a:rPr lang="en-US" sz="2600" strike="noStrike" u="none">
                <a:solidFill>
                  <a:srgbClr val="000000"/>
                </a:solidFill>
                <a:latin typeface="Poppins"/>
                <a:ea typeface="Poppins"/>
                <a:cs typeface="Poppins"/>
                <a:sym typeface="Poppins"/>
              </a:rPr>
              <a:t>(Hôpital Charles-Nicolle) </a:t>
            </a:r>
            <a:r>
              <a:rPr lang="en-US" sz="2600" strike="noStrike" u="none">
                <a:solidFill>
                  <a:srgbClr val="000000"/>
                </a:solidFill>
                <a:latin typeface="Poppins"/>
                <a:ea typeface="Poppins"/>
                <a:cs typeface="Poppins"/>
                <a:sym typeface="Poppins"/>
              </a:rPr>
              <a:t>is a p</a:t>
            </a:r>
            <a:r>
              <a:rPr lang="en-US" sz="2600" strike="noStrike" u="none">
                <a:solidFill>
                  <a:srgbClr val="000000"/>
                </a:solidFill>
                <a:latin typeface="Poppins"/>
                <a:ea typeface="Poppins"/>
                <a:cs typeface="Poppins"/>
                <a:sym typeface="Poppins"/>
              </a:rPr>
              <a:t>remier p</a:t>
            </a:r>
            <a:r>
              <a:rPr lang="en-US" sz="2600" strike="noStrike" u="none">
                <a:solidFill>
                  <a:srgbClr val="000000"/>
                </a:solidFill>
                <a:latin typeface="Poppins"/>
                <a:ea typeface="Poppins"/>
                <a:cs typeface="Poppins"/>
                <a:sym typeface="Poppins"/>
              </a:rPr>
              <a:t>ublic </a:t>
            </a:r>
            <a:r>
              <a:rPr lang="en-US" sz="2600" strike="noStrike" u="none">
                <a:solidFill>
                  <a:srgbClr val="000000"/>
                </a:solidFill>
                <a:latin typeface="Poppins"/>
                <a:ea typeface="Poppins"/>
                <a:cs typeface="Poppins"/>
                <a:sym typeface="Poppins"/>
              </a:rPr>
              <a:t>university </a:t>
            </a:r>
            <a:r>
              <a:rPr lang="en-US" sz="2600" strike="noStrike" u="none">
                <a:solidFill>
                  <a:srgbClr val="000000"/>
                </a:solidFill>
                <a:latin typeface="Poppins"/>
                <a:ea typeface="Poppins"/>
                <a:cs typeface="Poppins"/>
                <a:sym typeface="Poppins"/>
              </a:rPr>
              <a:t>h</a:t>
            </a:r>
            <a:r>
              <a:rPr lang="en-US" sz="2600" strike="noStrike" u="none">
                <a:solidFill>
                  <a:srgbClr val="000000"/>
                </a:solidFill>
                <a:latin typeface="Poppins"/>
                <a:ea typeface="Poppins"/>
                <a:cs typeface="Poppins"/>
                <a:sym typeface="Poppins"/>
              </a:rPr>
              <a:t>ospit</a:t>
            </a:r>
            <a:r>
              <a:rPr lang="en-US" sz="2600" strike="noStrike" u="none">
                <a:solidFill>
                  <a:srgbClr val="000000"/>
                </a:solidFill>
                <a:latin typeface="Poppins"/>
                <a:ea typeface="Poppins"/>
                <a:cs typeface="Poppins"/>
                <a:sym typeface="Poppins"/>
              </a:rPr>
              <a:t>al</a:t>
            </a:r>
            <a:r>
              <a:rPr lang="en-US" sz="2600" strike="noStrike" u="none">
                <a:solidFill>
                  <a:srgbClr val="000000"/>
                </a:solidFill>
                <a:latin typeface="Poppins"/>
                <a:ea typeface="Poppins"/>
                <a:cs typeface="Poppins"/>
                <a:sym typeface="Poppins"/>
              </a:rPr>
              <a:t> (CHU) located in </a:t>
            </a:r>
            <a:r>
              <a:rPr lang="en-US" sz="2600" strike="noStrike" u="none">
                <a:solidFill>
                  <a:srgbClr val="000000"/>
                </a:solidFill>
                <a:latin typeface="Poppins"/>
                <a:ea typeface="Poppins"/>
                <a:cs typeface="Poppins"/>
                <a:sym typeface="Poppins"/>
              </a:rPr>
              <a:t>th</a:t>
            </a:r>
            <a:r>
              <a:rPr lang="en-US" sz="2600" strike="noStrike" u="none">
                <a:solidFill>
                  <a:srgbClr val="000000"/>
                </a:solidFill>
                <a:latin typeface="Poppins"/>
                <a:ea typeface="Poppins"/>
                <a:cs typeface="Poppins"/>
                <a:sym typeface="Poppins"/>
              </a:rPr>
              <a:t>e Bab Sa</a:t>
            </a:r>
            <a:r>
              <a:rPr lang="en-US" sz="2600" strike="noStrike" u="none">
                <a:solidFill>
                  <a:srgbClr val="000000"/>
                </a:solidFill>
                <a:latin typeface="Poppins"/>
                <a:ea typeface="Poppins"/>
                <a:cs typeface="Poppins"/>
                <a:sym typeface="Poppins"/>
              </a:rPr>
              <a:t>a</a:t>
            </a:r>
            <a:r>
              <a:rPr lang="en-US" sz="2600" strike="noStrike" u="none">
                <a:solidFill>
                  <a:srgbClr val="000000"/>
                </a:solidFill>
                <a:latin typeface="Poppins"/>
                <a:ea typeface="Poppins"/>
                <a:cs typeface="Poppins"/>
                <a:sym typeface="Poppins"/>
              </a:rPr>
              <a:t>doun dist</a:t>
            </a:r>
            <a:r>
              <a:rPr lang="en-US" sz="2600" strike="noStrike" u="none">
                <a:solidFill>
                  <a:srgbClr val="000000"/>
                </a:solidFill>
                <a:latin typeface="Poppins"/>
                <a:ea typeface="Poppins"/>
                <a:cs typeface="Poppins"/>
                <a:sym typeface="Poppins"/>
              </a:rPr>
              <a:t>r</a:t>
            </a:r>
            <a:r>
              <a:rPr lang="en-US" sz="2600" strike="noStrike" u="none">
                <a:solidFill>
                  <a:srgbClr val="000000"/>
                </a:solidFill>
                <a:latin typeface="Poppins"/>
                <a:ea typeface="Poppins"/>
                <a:cs typeface="Poppins"/>
                <a:sym typeface="Poppins"/>
              </a:rPr>
              <a:t>ict</a:t>
            </a:r>
            <a:r>
              <a:rPr lang="en-US" sz="2600" strike="noStrike" u="none">
                <a:solidFill>
                  <a:srgbClr val="000000"/>
                </a:solidFill>
                <a:latin typeface="Poppins"/>
                <a:ea typeface="Poppins"/>
                <a:cs typeface="Poppins"/>
                <a:sym typeface="Poppins"/>
              </a:rPr>
              <a:t> </a:t>
            </a:r>
            <a:r>
              <a:rPr lang="en-US" sz="2600" strike="noStrike" u="none">
                <a:solidFill>
                  <a:srgbClr val="000000"/>
                </a:solidFill>
                <a:latin typeface="Poppins"/>
                <a:ea typeface="Poppins"/>
                <a:cs typeface="Poppins"/>
                <a:sym typeface="Poppins"/>
              </a:rPr>
              <a:t>o</a:t>
            </a:r>
            <a:r>
              <a:rPr lang="en-US" sz="2600" strike="noStrike" u="none">
                <a:solidFill>
                  <a:srgbClr val="000000"/>
                </a:solidFill>
                <a:latin typeface="Poppins"/>
                <a:ea typeface="Poppins"/>
                <a:cs typeface="Poppins"/>
                <a:sym typeface="Poppins"/>
              </a:rPr>
              <a:t>f</a:t>
            </a:r>
            <a:r>
              <a:rPr lang="en-US" sz="2600" strike="noStrike" u="none">
                <a:solidFill>
                  <a:srgbClr val="000000"/>
                </a:solidFill>
                <a:latin typeface="Poppins"/>
                <a:ea typeface="Poppins"/>
                <a:cs typeface="Poppins"/>
                <a:sym typeface="Poppins"/>
              </a:rPr>
              <a:t> Tun</a:t>
            </a:r>
            <a:r>
              <a:rPr lang="en-US" sz="2600" strike="noStrike" u="none">
                <a:solidFill>
                  <a:srgbClr val="000000"/>
                </a:solidFill>
                <a:latin typeface="Poppins"/>
                <a:ea typeface="Poppins"/>
                <a:cs typeface="Poppins"/>
                <a:sym typeface="Poppins"/>
              </a:rPr>
              <a:t>i</a:t>
            </a:r>
            <a:r>
              <a:rPr lang="en-US" sz="2600" strike="noStrike" u="none">
                <a:solidFill>
                  <a:srgbClr val="000000"/>
                </a:solidFill>
                <a:latin typeface="Poppins"/>
                <a:ea typeface="Poppins"/>
                <a:cs typeface="Poppins"/>
                <a:sym typeface="Poppins"/>
              </a:rPr>
              <a:t>s, Tunis</a:t>
            </a:r>
            <a:r>
              <a:rPr lang="en-US" sz="2600" strike="noStrike" u="none">
                <a:solidFill>
                  <a:srgbClr val="000000"/>
                </a:solidFill>
                <a:latin typeface="Poppins"/>
                <a:ea typeface="Poppins"/>
                <a:cs typeface="Poppins"/>
                <a:sym typeface="Poppins"/>
              </a:rPr>
              <a:t>i</a:t>
            </a:r>
            <a:r>
              <a:rPr lang="en-US" sz="2600" strike="noStrike" u="none">
                <a:solidFill>
                  <a:srgbClr val="000000"/>
                </a:solidFill>
                <a:latin typeface="Poppins"/>
                <a:ea typeface="Poppins"/>
                <a:cs typeface="Poppins"/>
                <a:sym typeface="Poppins"/>
              </a:rPr>
              <a:t>a. I</a:t>
            </a:r>
            <a:r>
              <a:rPr lang="en-US" sz="2600" strike="noStrike" u="none">
                <a:solidFill>
                  <a:srgbClr val="000000"/>
                </a:solidFill>
                <a:latin typeface="Poppins"/>
                <a:ea typeface="Poppins"/>
                <a:cs typeface="Poppins"/>
                <a:sym typeface="Poppins"/>
              </a:rPr>
              <a:t>t </a:t>
            </a:r>
            <a:r>
              <a:rPr lang="en-US" sz="2600" strike="noStrike" u="none">
                <a:solidFill>
                  <a:srgbClr val="000000"/>
                </a:solidFill>
                <a:latin typeface="Poppins"/>
                <a:ea typeface="Poppins"/>
                <a:cs typeface="Poppins"/>
                <a:sym typeface="Poppins"/>
              </a:rPr>
              <a:t>s</a:t>
            </a:r>
            <a:r>
              <a:rPr lang="en-US" sz="2600" strike="noStrike" u="none">
                <a:solidFill>
                  <a:srgbClr val="000000"/>
                </a:solidFill>
                <a:latin typeface="Poppins"/>
                <a:ea typeface="Poppins"/>
                <a:cs typeface="Poppins"/>
                <a:sym typeface="Poppins"/>
              </a:rPr>
              <a:t>t</a:t>
            </a:r>
            <a:r>
              <a:rPr lang="en-US" sz="2600" strike="noStrike" u="none">
                <a:solidFill>
                  <a:srgbClr val="000000"/>
                </a:solidFill>
                <a:latin typeface="Poppins"/>
                <a:ea typeface="Poppins"/>
                <a:cs typeface="Poppins"/>
                <a:sym typeface="Poppins"/>
              </a:rPr>
              <a:t>ands </a:t>
            </a:r>
            <a:r>
              <a:rPr lang="en-US" sz="2600" strike="noStrike" u="none">
                <a:solidFill>
                  <a:srgbClr val="000000"/>
                </a:solidFill>
                <a:latin typeface="Poppins"/>
                <a:ea typeface="Poppins"/>
                <a:cs typeface="Poppins"/>
                <a:sym typeface="Poppins"/>
              </a:rPr>
              <a:t>a</a:t>
            </a:r>
            <a:r>
              <a:rPr lang="en-US" sz="2600" strike="noStrike" u="none">
                <a:solidFill>
                  <a:srgbClr val="000000"/>
                </a:solidFill>
                <a:latin typeface="Poppins"/>
                <a:ea typeface="Poppins"/>
                <a:cs typeface="Poppins"/>
                <a:sym typeface="Poppins"/>
              </a:rPr>
              <a:t>s</a:t>
            </a:r>
            <a:r>
              <a:rPr lang="en-US" sz="2600" strike="noStrike" u="none">
                <a:solidFill>
                  <a:srgbClr val="000000"/>
                </a:solidFill>
                <a:latin typeface="Poppins"/>
                <a:ea typeface="Poppins"/>
                <a:cs typeface="Poppins"/>
                <a:sym typeface="Poppins"/>
              </a:rPr>
              <a:t> </a:t>
            </a:r>
            <a:r>
              <a:rPr lang="en-US" sz="2600" strike="noStrike" u="none">
                <a:solidFill>
                  <a:srgbClr val="000000"/>
                </a:solidFill>
                <a:latin typeface="Poppins"/>
                <a:ea typeface="Poppins"/>
                <a:cs typeface="Poppins"/>
                <a:sym typeface="Poppins"/>
              </a:rPr>
              <a:t>on</a:t>
            </a:r>
            <a:r>
              <a:rPr lang="en-US" sz="2600" strike="noStrike" u="none">
                <a:solidFill>
                  <a:srgbClr val="000000"/>
                </a:solidFill>
                <a:latin typeface="Poppins"/>
                <a:ea typeface="Poppins"/>
                <a:cs typeface="Poppins"/>
                <a:sym typeface="Poppins"/>
              </a:rPr>
              <a:t>e</a:t>
            </a:r>
            <a:r>
              <a:rPr lang="en-US" sz="2600" strike="noStrike" u="none">
                <a:solidFill>
                  <a:srgbClr val="000000"/>
                </a:solidFill>
                <a:latin typeface="Poppins"/>
                <a:ea typeface="Poppins"/>
                <a:cs typeface="Poppins"/>
                <a:sym typeface="Poppins"/>
              </a:rPr>
              <a:t> of th</a:t>
            </a:r>
            <a:r>
              <a:rPr lang="en-US" sz="2600" strike="noStrike" u="none">
                <a:solidFill>
                  <a:srgbClr val="000000"/>
                </a:solidFill>
                <a:latin typeface="Poppins"/>
                <a:ea typeface="Poppins"/>
                <a:cs typeface="Poppins"/>
                <a:sym typeface="Poppins"/>
              </a:rPr>
              <a:t>e</a:t>
            </a:r>
            <a:r>
              <a:rPr lang="en-US" sz="2600" strike="noStrike" u="none">
                <a:solidFill>
                  <a:srgbClr val="000000"/>
                </a:solidFill>
                <a:latin typeface="Poppins"/>
                <a:ea typeface="Poppins"/>
                <a:cs typeface="Poppins"/>
                <a:sym typeface="Poppins"/>
              </a:rPr>
              <a:t> count</a:t>
            </a:r>
            <a:r>
              <a:rPr lang="en-US" sz="2600" strike="noStrike" u="none">
                <a:solidFill>
                  <a:srgbClr val="000000"/>
                </a:solidFill>
                <a:latin typeface="Poppins"/>
                <a:ea typeface="Poppins"/>
                <a:cs typeface="Poppins"/>
                <a:sym typeface="Poppins"/>
              </a:rPr>
              <a:t>r</a:t>
            </a:r>
            <a:r>
              <a:rPr lang="en-US" sz="2600" strike="noStrike" u="none">
                <a:solidFill>
                  <a:srgbClr val="000000"/>
                </a:solidFill>
                <a:latin typeface="Poppins"/>
                <a:ea typeface="Poppins"/>
                <a:cs typeface="Poppins"/>
                <a:sym typeface="Poppins"/>
              </a:rPr>
              <a:t>y'</a:t>
            </a:r>
            <a:r>
              <a:rPr lang="en-US" sz="2600" strike="noStrike" u="none">
                <a:solidFill>
                  <a:srgbClr val="000000"/>
                </a:solidFill>
                <a:latin typeface="Poppins"/>
                <a:ea typeface="Poppins"/>
                <a:cs typeface="Poppins"/>
                <a:sym typeface="Poppins"/>
              </a:rPr>
              <a:t>s </a:t>
            </a:r>
            <a:r>
              <a:rPr lang="en-US" sz="2600" strike="noStrike" u="none">
                <a:solidFill>
                  <a:srgbClr val="000000"/>
                </a:solidFill>
                <a:latin typeface="Poppins"/>
                <a:ea typeface="Poppins"/>
                <a:cs typeface="Poppins"/>
                <a:sym typeface="Poppins"/>
              </a:rPr>
              <a:t>mo</a:t>
            </a:r>
            <a:r>
              <a:rPr lang="en-US" sz="2600" strike="noStrike" u="none">
                <a:solidFill>
                  <a:srgbClr val="000000"/>
                </a:solidFill>
                <a:latin typeface="Poppins"/>
                <a:ea typeface="Poppins"/>
                <a:cs typeface="Poppins"/>
                <a:sym typeface="Poppins"/>
              </a:rPr>
              <a:t>s</a:t>
            </a:r>
            <a:r>
              <a:rPr lang="en-US" sz="2600" strike="noStrike" u="none">
                <a:solidFill>
                  <a:srgbClr val="000000"/>
                </a:solidFill>
                <a:latin typeface="Poppins"/>
                <a:ea typeface="Poppins"/>
                <a:cs typeface="Poppins"/>
                <a:sym typeface="Poppins"/>
              </a:rPr>
              <a:t>t </a:t>
            </a:r>
            <a:r>
              <a:rPr lang="en-US" sz="2600" strike="noStrike" u="none">
                <a:solidFill>
                  <a:srgbClr val="000000"/>
                </a:solidFill>
                <a:latin typeface="Poppins"/>
                <a:ea typeface="Poppins"/>
                <a:cs typeface="Poppins"/>
                <a:sym typeface="Poppins"/>
              </a:rPr>
              <a:t>s</a:t>
            </a:r>
            <a:r>
              <a:rPr lang="en-US" sz="2600" strike="noStrike" u="none">
                <a:solidFill>
                  <a:srgbClr val="000000"/>
                </a:solidFill>
                <a:latin typeface="Poppins"/>
                <a:ea typeface="Poppins"/>
                <a:cs typeface="Poppins"/>
                <a:sym typeface="Poppins"/>
              </a:rPr>
              <a:t>ig</a:t>
            </a:r>
            <a:r>
              <a:rPr lang="en-US" sz="2600" strike="noStrike" u="none">
                <a:solidFill>
                  <a:srgbClr val="000000"/>
                </a:solidFill>
                <a:latin typeface="Poppins"/>
                <a:ea typeface="Poppins"/>
                <a:cs typeface="Poppins"/>
                <a:sym typeface="Poppins"/>
              </a:rPr>
              <a:t>ni</a:t>
            </a:r>
            <a:r>
              <a:rPr lang="en-US" sz="2600" strike="noStrike" u="none">
                <a:solidFill>
                  <a:srgbClr val="000000"/>
                </a:solidFill>
                <a:latin typeface="Poppins"/>
                <a:ea typeface="Poppins"/>
                <a:cs typeface="Poppins"/>
                <a:sym typeface="Poppins"/>
              </a:rPr>
              <a:t>fic</a:t>
            </a:r>
            <a:r>
              <a:rPr lang="en-US" sz="2600" strike="noStrike" u="none">
                <a:solidFill>
                  <a:srgbClr val="000000"/>
                </a:solidFill>
                <a:latin typeface="Poppins"/>
                <a:ea typeface="Poppins"/>
                <a:cs typeface="Poppins"/>
                <a:sym typeface="Poppins"/>
              </a:rPr>
              <a:t>a</a:t>
            </a:r>
            <a:r>
              <a:rPr lang="en-US" sz="2600" strike="noStrike" u="none">
                <a:solidFill>
                  <a:srgbClr val="000000"/>
                </a:solidFill>
                <a:latin typeface="Poppins"/>
                <a:ea typeface="Poppins"/>
                <a:cs typeface="Poppins"/>
                <a:sym typeface="Poppins"/>
              </a:rPr>
              <a:t>nt and o</a:t>
            </a:r>
            <a:r>
              <a:rPr lang="en-US" sz="2600" strike="noStrike" u="none">
                <a:solidFill>
                  <a:srgbClr val="000000"/>
                </a:solidFill>
                <a:latin typeface="Poppins"/>
                <a:ea typeface="Poppins"/>
                <a:cs typeface="Poppins"/>
                <a:sym typeface="Poppins"/>
              </a:rPr>
              <a:t>l</a:t>
            </a:r>
            <a:r>
              <a:rPr lang="en-US" sz="2600" strike="noStrike" u="none">
                <a:solidFill>
                  <a:srgbClr val="000000"/>
                </a:solidFill>
                <a:latin typeface="Poppins"/>
                <a:ea typeface="Poppins"/>
                <a:cs typeface="Poppins"/>
                <a:sym typeface="Poppins"/>
              </a:rPr>
              <a:t>dest</a:t>
            </a:r>
            <a:r>
              <a:rPr lang="en-US" sz="2600" strike="noStrike" u="none">
                <a:solidFill>
                  <a:srgbClr val="000000"/>
                </a:solidFill>
                <a:latin typeface="Poppins"/>
                <a:ea typeface="Poppins"/>
                <a:cs typeface="Poppins"/>
                <a:sym typeface="Poppins"/>
              </a:rPr>
              <a:t> </a:t>
            </a:r>
            <a:r>
              <a:rPr lang="en-US" sz="2600" strike="noStrike" u="none">
                <a:solidFill>
                  <a:srgbClr val="000000"/>
                </a:solidFill>
                <a:latin typeface="Poppins"/>
                <a:ea typeface="Poppins"/>
                <a:cs typeface="Poppins"/>
                <a:sym typeface="Poppins"/>
              </a:rPr>
              <a:t>he</a:t>
            </a:r>
            <a:r>
              <a:rPr lang="en-US" sz="2600" strike="noStrike" u="none">
                <a:solidFill>
                  <a:srgbClr val="000000"/>
                </a:solidFill>
                <a:latin typeface="Poppins"/>
                <a:ea typeface="Poppins"/>
                <a:cs typeface="Poppins"/>
                <a:sym typeface="Poppins"/>
              </a:rPr>
              <a:t>a</a:t>
            </a:r>
            <a:r>
              <a:rPr lang="en-US" sz="2600" strike="noStrike" u="none">
                <a:solidFill>
                  <a:srgbClr val="000000"/>
                </a:solidFill>
                <a:latin typeface="Poppins"/>
                <a:ea typeface="Poppins"/>
                <a:cs typeface="Poppins"/>
                <a:sym typeface="Poppins"/>
              </a:rPr>
              <a:t>l</a:t>
            </a:r>
            <a:r>
              <a:rPr lang="en-US" sz="2600" strike="noStrike" u="none">
                <a:solidFill>
                  <a:srgbClr val="000000"/>
                </a:solidFill>
                <a:latin typeface="Poppins"/>
                <a:ea typeface="Poppins"/>
                <a:cs typeface="Poppins"/>
                <a:sym typeface="Poppins"/>
              </a:rPr>
              <a:t>t</a:t>
            </a:r>
            <a:r>
              <a:rPr lang="en-US" sz="2600" strike="noStrike" u="none">
                <a:solidFill>
                  <a:srgbClr val="000000"/>
                </a:solidFill>
                <a:latin typeface="Poppins"/>
                <a:ea typeface="Poppins"/>
                <a:cs typeface="Poppins"/>
                <a:sym typeface="Poppins"/>
              </a:rPr>
              <a:t>h</a:t>
            </a:r>
            <a:r>
              <a:rPr lang="en-US" sz="2600" strike="noStrike" u="none">
                <a:solidFill>
                  <a:srgbClr val="000000"/>
                </a:solidFill>
                <a:latin typeface="Poppins"/>
                <a:ea typeface="Poppins"/>
                <a:cs typeface="Poppins"/>
                <a:sym typeface="Poppins"/>
              </a:rPr>
              <a:t>care </a:t>
            </a:r>
            <a:r>
              <a:rPr lang="en-US" sz="2600" strike="noStrike" u="none">
                <a:solidFill>
                  <a:srgbClr val="000000"/>
                </a:solidFill>
                <a:latin typeface="Poppins"/>
                <a:ea typeface="Poppins"/>
                <a:cs typeface="Poppins"/>
                <a:sym typeface="Poppins"/>
              </a:rPr>
              <a:t>in</a:t>
            </a:r>
            <a:r>
              <a:rPr lang="en-US" sz="2600" strike="noStrike" u="none">
                <a:solidFill>
                  <a:srgbClr val="000000"/>
                </a:solidFill>
                <a:latin typeface="Poppins"/>
                <a:ea typeface="Poppins"/>
                <a:cs typeface="Poppins"/>
                <a:sym typeface="Poppins"/>
              </a:rPr>
              <a:t>s</a:t>
            </a:r>
            <a:r>
              <a:rPr lang="en-US" sz="2600" strike="noStrike" u="none">
                <a:solidFill>
                  <a:srgbClr val="000000"/>
                </a:solidFill>
                <a:latin typeface="Poppins"/>
                <a:ea typeface="Poppins"/>
                <a:cs typeface="Poppins"/>
                <a:sym typeface="Poppins"/>
              </a:rPr>
              <a:t>titut</a:t>
            </a:r>
            <a:r>
              <a:rPr lang="en-US" sz="2600" strike="noStrike" u="none">
                <a:solidFill>
                  <a:srgbClr val="000000"/>
                </a:solidFill>
                <a:latin typeface="Poppins"/>
                <a:ea typeface="Poppins"/>
                <a:cs typeface="Poppins"/>
                <a:sym typeface="Poppins"/>
              </a:rPr>
              <a:t>i</a:t>
            </a:r>
            <a:r>
              <a:rPr lang="en-US" sz="2600" strike="noStrike" u="none">
                <a:solidFill>
                  <a:srgbClr val="000000"/>
                </a:solidFill>
                <a:latin typeface="Poppins"/>
                <a:ea typeface="Poppins"/>
                <a:cs typeface="Poppins"/>
                <a:sym typeface="Poppins"/>
              </a:rPr>
              <a:t>on</a:t>
            </a:r>
            <a:r>
              <a:rPr lang="en-US" sz="2600" strike="noStrike" u="none">
                <a:solidFill>
                  <a:srgbClr val="000000"/>
                </a:solidFill>
                <a:latin typeface="Poppins"/>
                <a:ea typeface="Poppins"/>
                <a:cs typeface="Poppins"/>
                <a:sym typeface="Poppins"/>
              </a:rPr>
              <a:t>s. Established in 1897 as the "Hôpital Civil Français”, It serves as a national referral center, providing specialized care for patients from across the entire country, not just the capital.</a:t>
            </a:r>
          </a:p>
          <a:p>
            <a:pPr algn="just" marL="0" indent="0" lvl="0">
              <a:lnSpc>
                <a:spcPts val="3640"/>
              </a:lnSpc>
              <a:spcBef>
                <a:spcPct val="0"/>
              </a:spcBef>
            </a:pPr>
          </a:p>
          <a:p>
            <a:pPr algn="just" marL="0" indent="0" lvl="0">
              <a:lnSpc>
                <a:spcPts val="3640"/>
              </a:lnSpc>
              <a:spcBef>
                <a:spcPct val="0"/>
              </a:spcBef>
            </a:pPr>
          </a:p>
          <a:p>
            <a:pPr algn="just" marL="0" indent="0" lvl="0">
              <a:lnSpc>
                <a:spcPts val="3640"/>
              </a:lnSpc>
              <a:spcBef>
                <a:spcPct val="0"/>
              </a:spcBef>
            </a:pPr>
          </a:p>
        </p:txBody>
      </p:sp>
      <p:sp>
        <p:nvSpPr>
          <p:cNvPr name="TextBox 15" id="15"/>
          <p:cNvSpPr txBox="true"/>
          <p:nvPr/>
        </p:nvSpPr>
        <p:spPr>
          <a:xfrm rot="0">
            <a:off x="1162478" y="1706257"/>
            <a:ext cx="5496931" cy="1100265"/>
          </a:xfrm>
          <a:prstGeom prst="rect">
            <a:avLst/>
          </a:prstGeom>
        </p:spPr>
        <p:txBody>
          <a:bodyPr anchor="t" rtlCol="false" tIns="0" lIns="0" bIns="0" rIns="0">
            <a:spAutoFit/>
          </a:bodyPr>
          <a:lstStyle/>
          <a:p>
            <a:pPr algn="l">
              <a:lnSpc>
                <a:spcPts val="4335"/>
              </a:lnSpc>
            </a:pPr>
            <a:r>
              <a:rPr lang="en-US" sz="3770">
                <a:solidFill>
                  <a:srgbClr val="F0F0F0"/>
                </a:solidFill>
                <a:latin typeface="Archivo Black"/>
                <a:ea typeface="Archivo Black"/>
                <a:cs typeface="Archivo Black"/>
                <a:sym typeface="Archivo Black"/>
              </a:rPr>
              <a:t>Organization Overview</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grpSp>
        <p:nvGrpSpPr>
          <p:cNvPr name="Group 2" id="2"/>
          <p:cNvGrpSpPr/>
          <p:nvPr/>
        </p:nvGrpSpPr>
        <p:grpSpPr>
          <a:xfrm rot="2814899">
            <a:off x="-13575670" y="-9304869"/>
            <a:ext cx="16384192" cy="9695687"/>
            <a:chOff x="0" y="0"/>
            <a:chExt cx="4315178" cy="2553597"/>
          </a:xfrm>
        </p:grpSpPr>
        <p:sp>
          <p:nvSpPr>
            <p:cNvPr name="Freeform 3" id="3"/>
            <p:cNvSpPr/>
            <p:nvPr/>
          </p:nvSpPr>
          <p:spPr>
            <a:xfrm flipH="false" flipV="false" rot="0">
              <a:off x="0" y="0"/>
              <a:ext cx="4315178" cy="2553597"/>
            </a:xfrm>
            <a:custGeom>
              <a:avLst/>
              <a:gdLst/>
              <a:ahLst/>
              <a:cxnLst/>
              <a:rect r="r" b="b" t="t" l="l"/>
              <a:pathLst>
                <a:path h="2553597" w="4315178">
                  <a:moveTo>
                    <a:pt x="0" y="0"/>
                  </a:moveTo>
                  <a:lnTo>
                    <a:pt x="4315178" y="0"/>
                  </a:lnTo>
                  <a:lnTo>
                    <a:pt x="4315178" y="2553597"/>
                  </a:lnTo>
                  <a:lnTo>
                    <a:pt x="0" y="2553597"/>
                  </a:lnTo>
                  <a:close/>
                </a:path>
              </a:pathLst>
            </a:custGeom>
            <a:solidFill>
              <a:srgbClr val="661414"/>
            </a:solidFill>
          </p:spPr>
        </p:sp>
        <p:sp>
          <p:nvSpPr>
            <p:cNvPr name="TextBox 4" id="4"/>
            <p:cNvSpPr txBox="true"/>
            <p:nvPr/>
          </p:nvSpPr>
          <p:spPr>
            <a:xfrm>
              <a:off x="0" y="-57150"/>
              <a:ext cx="4315178" cy="2610747"/>
            </a:xfrm>
            <a:prstGeom prst="rect">
              <a:avLst/>
            </a:prstGeom>
          </p:spPr>
          <p:txBody>
            <a:bodyPr anchor="ctr" rtlCol="false" tIns="50800" lIns="50800" bIns="50800" rIns="50800"/>
            <a:lstStyle/>
            <a:p>
              <a:pPr algn="ctr">
                <a:lnSpc>
                  <a:spcPts val="2735"/>
                </a:lnSpc>
              </a:pPr>
            </a:p>
          </p:txBody>
        </p:sp>
      </p:grpSp>
      <p:grpSp>
        <p:nvGrpSpPr>
          <p:cNvPr name="Group 5" id="5"/>
          <p:cNvGrpSpPr/>
          <p:nvPr/>
        </p:nvGrpSpPr>
        <p:grpSpPr>
          <a:xfrm rot="2814899">
            <a:off x="-2538825" y="281159"/>
            <a:ext cx="2285201" cy="3853336"/>
            <a:chOff x="0" y="0"/>
            <a:chExt cx="601864" cy="1014870"/>
          </a:xfrm>
        </p:grpSpPr>
        <p:sp>
          <p:nvSpPr>
            <p:cNvPr name="Freeform 6" id="6"/>
            <p:cNvSpPr/>
            <p:nvPr/>
          </p:nvSpPr>
          <p:spPr>
            <a:xfrm flipH="false" flipV="false" rot="0">
              <a:off x="0" y="0"/>
              <a:ext cx="601864" cy="1014870"/>
            </a:xfrm>
            <a:custGeom>
              <a:avLst/>
              <a:gdLst/>
              <a:ahLst/>
              <a:cxnLst/>
              <a:rect r="r" b="b" t="t" l="l"/>
              <a:pathLst>
                <a:path h="1014870" w="601864">
                  <a:moveTo>
                    <a:pt x="0" y="0"/>
                  </a:moveTo>
                  <a:lnTo>
                    <a:pt x="601864" y="0"/>
                  </a:lnTo>
                  <a:lnTo>
                    <a:pt x="601864" y="1014870"/>
                  </a:lnTo>
                  <a:lnTo>
                    <a:pt x="0" y="1014870"/>
                  </a:lnTo>
                  <a:close/>
                </a:path>
              </a:pathLst>
            </a:custGeom>
            <a:gradFill rotWithShape="true">
              <a:gsLst>
                <a:gs pos="0">
                  <a:srgbClr val="FF3131">
                    <a:alpha val="70000"/>
                  </a:srgbClr>
                </a:gs>
                <a:gs pos="100000">
                  <a:srgbClr val="FF914D">
                    <a:alpha val="70000"/>
                  </a:srgbClr>
                </a:gs>
              </a:gsLst>
              <a:lin ang="0"/>
            </a:gradFill>
          </p:spPr>
        </p:sp>
        <p:sp>
          <p:nvSpPr>
            <p:cNvPr name="TextBox 7" id="7"/>
            <p:cNvSpPr txBox="true"/>
            <p:nvPr/>
          </p:nvSpPr>
          <p:spPr>
            <a:xfrm>
              <a:off x="0" y="-57150"/>
              <a:ext cx="601864" cy="1072020"/>
            </a:xfrm>
            <a:prstGeom prst="rect">
              <a:avLst/>
            </a:prstGeom>
          </p:spPr>
          <p:txBody>
            <a:bodyPr anchor="ctr" rtlCol="false" tIns="50800" lIns="50800" bIns="50800" rIns="50800"/>
            <a:lstStyle/>
            <a:p>
              <a:pPr algn="ctr">
                <a:lnSpc>
                  <a:spcPts val="2735"/>
                </a:lnSpc>
              </a:pPr>
            </a:p>
          </p:txBody>
        </p:sp>
      </p:grpSp>
      <p:grpSp>
        <p:nvGrpSpPr>
          <p:cNvPr name="Group 8" id="8"/>
          <p:cNvGrpSpPr/>
          <p:nvPr/>
        </p:nvGrpSpPr>
        <p:grpSpPr>
          <a:xfrm rot="2814899">
            <a:off x="8093595" y="93589"/>
            <a:ext cx="6281730" cy="4647343"/>
            <a:chOff x="0" y="0"/>
            <a:chExt cx="1654429" cy="1224026"/>
          </a:xfrm>
        </p:grpSpPr>
        <p:sp>
          <p:nvSpPr>
            <p:cNvPr name="Freeform 9" id="9"/>
            <p:cNvSpPr/>
            <p:nvPr/>
          </p:nvSpPr>
          <p:spPr>
            <a:xfrm flipH="false" flipV="false" rot="0">
              <a:off x="0" y="0"/>
              <a:ext cx="1654429" cy="1224026"/>
            </a:xfrm>
            <a:custGeom>
              <a:avLst/>
              <a:gdLst/>
              <a:ahLst/>
              <a:cxnLst/>
              <a:rect r="r" b="b" t="t" l="l"/>
              <a:pathLst>
                <a:path h="1224026" w="1654429">
                  <a:moveTo>
                    <a:pt x="1654429" y="0"/>
                  </a:moveTo>
                  <a:lnTo>
                    <a:pt x="1654429" y="1224026"/>
                  </a:lnTo>
                  <a:lnTo>
                    <a:pt x="0" y="1224026"/>
                  </a:lnTo>
                  <a:lnTo>
                    <a:pt x="0" y="0"/>
                  </a:lnTo>
                  <a:close/>
                </a:path>
              </a:pathLst>
            </a:custGeom>
            <a:gradFill rotWithShape="true">
              <a:gsLst>
                <a:gs pos="0">
                  <a:srgbClr val="381313">
                    <a:alpha val="100000"/>
                  </a:srgbClr>
                </a:gs>
                <a:gs pos="100000">
                  <a:srgbClr val="EE8E71">
                    <a:alpha val="100000"/>
                  </a:srgbClr>
                </a:gs>
              </a:gsLst>
              <a:lin ang="18900000"/>
            </a:gradFill>
            <a:ln cap="sq">
              <a:noFill/>
              <a:prstDash val="lgDash"/>
              <a:miter/>
            </a:ln>
          </p:spPr>
        </p:sp>
        <p:sp>
          <p:nvSpPr>
            <p:cNvPr name="TextBox 10" id="10"/>
            <p:cNvSpPr txBox="true"/>
            <p:nvPr/>
          </p:nvSpPr>
          <p:spPr>
            <a:xfrm>
              <a:off x="0" y="-57150"/>
              <a:ext cx="1654429" cy="1281176"/>
            </a:xfrm>
            <a:prstGeom prst="rect">
              <a:avLst/>
            </a:prstGeom>
          </p:spPr>
          <p:txBody>
            <a:bodyPr anchor="ctr" rtlCol="false" tIns="50800" lIns="50800" bIns="50800" rIns="50800"/>
            <a:lstStyle/>
            <a:p>
              <a:pPr algn="ctr">
                <a:lnSpc>
                  <a:spcPts val="2735"/>
                </a:lnSpc>
              </a:pPr>
            </a:p>
          </p:txBody>
        </p:sp>
      </p:grpSp>
      <p:grpSp>
        <p:nvGrpSpPr>
          <p:cNvPr name="Group 11" id="11"/>
          <p:cNvGrpSpPr/>
          <p:nvPr/>
        </p:nvGrpSpPr>
        <p:grpSpPr>
          <a:xfrm rot="5400000">
            <a:off x="8642466" y="641466"/>
            <a:ext cx="10287000" cy="9004069"/>
            <a:chOff x="0" y="0"/>
            <a:chExt cx="2709333" cy="2371442"/>
          </a:xfrm>
        </p:grpSpPr>
        <p:sp>
          <p:nvSpPr>
            <p:cNvPr name="Freeform 12" id="12"/>
            <p:cNvSpPr/>
            <p:nvPr/>
          </p:nvSpPr>
          <p:spPr>
            <a:xfrm flipH="false" flipV="false" rot="0">
              <a:off x="0" y="0"/>
              <a:ext cx="2709333" cy="2371442"/>
            </a:xfrm>
            <a:custGeom>
              <a:avLst/>
              <a:gdLst/>
              <a:ahLst/>
              <a:cxnLst/>
              <a:rect r="r" b="b" t="t" l="l"/>
              <a:pathLst>
                <a:path h="2371442" w="2709333">
                  <a:moveTo>
                    <a:pt x="0" y="0"/>
                  </a:moveTo>
                  <a:lnTo>
                    <a:pt x="2709333" y="0"/>
                  </a:lnTo>
                  <a:lnTo>
                    <a:pt x="2709333" y="2371442"/>
                  </a:lnTo>
                  <a:lnTo>
                    <a:pt x="0" y="2371442"/>
                  </a:lnTo>
                  <a:close/>
                </a:path>
              </a:pathLst>
            </a:custGeom>
            <a:solidFill>
              <a:srgbClr val="7A0000"/>
            </a:solidFill>
          </p:spPr>
        </p:sp>
        <p:sp>
          <p:nvSpPr>
            <p:cNvPr name="TextBox 13" id="13"/>
            <p:cNvSpPr txBox="true"/>
            <p:nvPr/>
          </p:nvSpPr>
          <p:spPr>
            <a:xfrm>
              <a:off x="0" y="-57150"/>
              <a:ext cx="2709333" cy="2428592"/>
            </a:xfrm>
            <a:prstGeom prst="rect">
              <a:avLst/>
            </a:prstGeom>
          </p:spPr>
          <p:txBody>
            <a:bodyPr anchor="ctr" rtlCol="false" tIns="50800" lIns="50800" bIns="50800" rIns="50800"/>
            <a:lstStyle/>
            <a:p>
              <a:pPr algn="ctr">
                <a:lnSpc>
                  <a:spcPts val="2735"/>
                </a:lnSpc>
              </a:pPr>
            </a:p>
          </p:txBody>
        </p:sp>
      </p:grpSp>
      <p:sp>
        <p:nvSpPr>
          <p:cNvPr name="Freeform 14" id="14"/>
          <p:cNvSpPr/>
          <p:nvPr/>
        </p:nvSpPr>
        <p:spPr>
          <a:xfrm flipH="false" flipV="false" rot="0">
            <a:off x="10046042" y="2079221"/>
            <a:ext cx="889217" cy="889217"/>
          </a:xfrm>
          <a:custGeom>
            <a:avLst/>
            <a:gdLst/>
            <a:ahLst/>
            <a:cxnLst/>
            <a:rect r="r" b="b" t="t" l="l"/>
            <a:pathLst>
              <a:path h="889217" w="889217">
                <a:moveTo>
                  <a:pt x="0" y="0"/>
                </a:moveTo>
                <a:lnTo>
                  <a:pt x="889217" y="0"/>
                </a:lnTo>
                <a:lnTo>
                  <a:pt x="889217" y="889217"/>
                </a:lnTo>
                <a:lnTo>
                  <a:pt x="0" y="8892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1034219" y="1414321"/>
            <a:ext cx="7744887" cy="2024930"/>
          </a:xfrm>
          <a:prstGeom prst="rect">
            <a:avLst/>
          </a:prstGeom>
        </p:spPr>
        <p:txBody>
          <a:bodyPr anchor="t" rtlCol="false" tIns="0" lIns="0" bIns="0" rIns="0">
            <a:spAutoFit/>
          </a:bodyPr>
          <a:lstStyle/>
          <a:p>
            <a:pPr algn="l">
              <a:lnSpc>
                <a:spcPts val="7919"/>
              </a:lnSpc>
            </a:pPr>
            <a:r>
              <a:rPr lang="en-US" sz="6886" b="true">
                <a:solidFill>
                  <a:srgbClr val="501934"/>
                </a:solidFill>
                <a:latin typeface="Aileron Bold"/>
                <a:ea typeface="Aileron Bold"/>
                <a:cs typeface="Aileron Bold"/>
                <a:sym typeface="Aileron Bold"/>
              </a:rPr>
              <a:t>BUSINESS PROBLEM</a:t>
            </a:r>
          </a:p>
        </p:txBody>
      </p:sp>
      <p:sp>
        <p:nvSpPr>
          <p:cNvPr name="TextBox 16" id="16"/>
          <p:cNvSpPr txBox="true"/>
          <p:nvPr/>
        </p:nvSpPr>
        <p:spPr>
          <a:xfrm rot="0">
            <a:off x="11234460" y="2098271"/>
            <a:ext cx="7053540" cy="870167"/>
          </a:xfrm>
          <a:prstGeom prst="rect">
            <a:avLst/>
          </a:prstGeom>
        </p:spPr>
        <p:txBody>
          <a:bodyPr anchor="t" rtlCol="false" tIns="0" lIns="0" bIns="0" rIns="0">
            <a:spAutoFit/>
          </a:bodyPr>
          <a:lstStyle/>
          <a:p>
            <a:pPr algn="l">
              <a:lnSpc>
                <a:spcPts val="6749"/>
              </a:lnSpc>
            </a:pPr>
            <a:r>
              <a:rPr lang="en-US" sz="5869" b="true">
                <a:solidFill>
                  <a:srgbClr val="FFFFFF"/>
                </a:solidFill>
                <a:latin typeface="Aileron Bold"/>
                <a:ea typeface="Aileron Bold"/>
                <a:cs typeface="Aileron Bold"/>
                <a:sym typeface="Aileron Bold"/>
              </a:rPr>
              <a:t>BI SOLUTION</a:t>
            </a:r>
          </a:p>
        </p:txBody>
      </p:sp>
      <p:sp>
        <p:nvSpPr>
          <p:cNvPr name="TextBox 17" id="17"/>
          <p:cNvSpPr txBox="true"/>
          <p:nvPr/>
        </p:nvSpPr>
        <p:spPr>
          <a:xfrm rot="0">
            <a:off x="572084" y="3909865"/>
            <a:ext cx="8207022" cy="2989781"/>
          </a:xfrm>
          <a:prstGeom prst="rect">
            <a:avLst/>
          </a:prstGeom>
        </p:spPr>
        <p:txBody>
          <a:bodyPr anchor="t" rtlCol="false" tIns="0" lIns="0" bIns="0" rIns="0">
            <a:spAutoFit/>
          </a:bodyPr>
          <a:lstStyle/>
          <a:p>
            <a:pPr algn="just">
              <a:lnSpc>
                <a:spcPts val="3362"/>
              </a:lnSpc>
              <a:spcBef>
                <a:spcPct val="0"/>
              </a:spcBef>
            </a:pPr>
            <a:r>
              <a:rPr lang="en-US" sz="2401">
                <a:solidFill>
                  <a:srgbClr val="000000"/>
                </a:solidFill>
                <a:latin typeface="Poppins"/>
                <a:ea typeface="Poppins"/>
                <a:cs typeface="Poppins"/>
                <a:sym typeface="Poppins"/>
              </a:rPr>
              <a:t>The Emergency Department is facing persistent overcrowding and inefficiencies in patient flow. Average waiting times exceed industry benchmarks, and critical resources such as beds and staff are frequently overstretched. The absence of integrated performance visibility prevents administrators from clearly identifying operational bottlenecks.</a:t>
            </a:r>
          </a:p>
        </p:txBody>
      </p:sp>
      <p:sp>
        <p:nvSpPr>
          <p:cNvPr name="TextBox 18" id="18"/>
          <p:cNvSpPr txBox="true"/>
          <p:nvPr/>
        </p:nvSpPr>
        <p:spPr>
          <a:xfrm rot="0">
            <a:off x="10046042" y="3878168"/>
            <a:ext cx="7797349" cy="2479463"/>
          </a:xfrm>
          <a:prstGeom prst="rect">
            <a:avLst/>
          </a:prstGeom>
        </p:spPr>
        <p:txBody>
          <a:bodyPr anchor="t" rtlCol="false" tIns="0" lIns="0" bIns="0" rIns="0">
            <a:spAutoFit/>
          </a:bodyPr>
          <a:lstStyle/>
          <a:p>
            <a:pPr algn="l">
              <a:lnSpc>
                <a:spcPts val="3226"/>
              </a:lnSpc>
            </a:pPr>
            <a:r>
              <a:rPr lang="en-US" sz="2520">
                <a:solidFill>
                  <a:srgbClr val="FFFFFF"/>
                </a:solidFill>
                <a:latin typeface="Poppins"/>
                <a:ea typeface="Poppins"/>
                <a:cs typeface="Poppins"/>
                <a:sym typeface="Poppins"/>
              </a:rPr>
              <a:t>This project aims to develop a Business Intelligence solution that visualizes the end-to-end Emergency Department patient journey. The solution will support the identification of throughput bottlenecks and enable data-driven operational decisions.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sp>
        <p:nvSpPr>
          <p:cNvPr name="Freeform 2" id="2" descr="Geometric Dot"/>
          <p:cNvSpPr/>
          <p:nvPr/>
        </p:nvSpPr>
        <p:spPr>
          <a:xfrm flipH="false" flipV="false" rot="-5400000">
            <a:off x="16873113" y="577710"/>
            <a:ext cx="1674354" cy="901980"/>
          </a:xfrm>
          <a:custGeom>
            <a:avLst/>
            <a:gdLst/>
            <a:ahLst/>
            <a:cxnLst/>
            <a:rect r="r" b="b" t="t" l="l"/>
            <a:pathLst>
              <a:path h="901980" w="1674354">
                <a:moveTo>
                  <a:pt x="0" y="0"/>
                </a:moveTo>
                <a:lnTo>
                  <a:pt x="1674354" y="0"/>
                </a:lnTo>
                <a:lnTo>
                  <a:pt x="1674354" y="901980"/>
                </a:lnTo>
                <a:lnTo>
                  <a:pt x="0" y="901980"/>
                </a:lnTo>
                <a:lnTo>
                  <a:pt x="0" y="0"/>
                </a:lnTo>
                <a:close/>
              </a:path>
            </a:pathLst>
          </a:custGeom>
          <a:blipFill>
            <a:blip r:embed="rId2">
              <a:extLst>
                <a:ext uri="{96DAC541-7B7A-43D3-8B79-37D633B846F1}">
                  <asvg:svgBlip xmlns:asvg="http://schemas.microsoft.com/office/drawing/2016/SVG/main" r:embed="rId3"/>
                </a:ext>
              </a:extLst>
            </a:blip>
            <a:stretch>
              <a:fillRect l="0" t="0" r="0" b="-85630"/>
            </a:stretch>
          </a:blipFill>
        </p:spPr>
      </p:sp>
      <p:grpSp>
        <p:nvGrpSpPr>
          <p:cNvPr name="Group 3" id="3"/>
          <p:cNvGrpSpPr/>
          <p:nvPr/>
        </p:nvGrpSpPr>
        <p:grpSpPr>
          <a:xfrm rot="-10800000">
            <a:off x="-1871343" y="-9525"/>
            <a:ext cx="8505674" cy="518339"/>
            <a:chOff x="0" y="0"/>
            <a:chExt cx="2240178" cy="136517"/>
          </a:xfrm>
        </p:grpSpPr>
        <p:sp>
          <p:nvSpPr>
            <p:cNvPr name="Freeform 4" id="4"/>
            <p:cNvSpPr/>
            <p:nvPr/>
          </p:nvSpPr>
          <p:spPr>
            <a:xfrm flipH="false" flipV="false" rot="0">
              <a:off x="0" y="0"/>
              <a:ext cx="2240178" cy="136517"/>
            </a:xfrm>
            <a:custGeom>
              <a:avLst/>
              <a:gdLst/>
              <a:ahLst/>
              <a:cxnLst/>
              <a:rect r="r" b="b" t="t" l="l"/>
              <a:pathLst>
                <a:path h="136517" w="2240178">
                  <a:moveTo>
                    <a:pt x="68259" y="0"/>
                  </a:moveTo>
                  <a:lnTo>
                    <a:pt x="2171919" y="0"/>
                  </a:lnTo>
                  <a:cubicBezTo>
                    <a:pt x="2190022" y="0"/>
                    <a:pt x="2207384" y="7192"/>
                    <a:pt x="2220185" y="19992"/>
                  </a:cubicBezTo>
                  <a:cubicBezTo>
                    <a:pt x="2232986" y="32793"/>
                    <a:pt x="2240178" y="50155"/>
                    <a:pt x="2240178" y="68259"/>
                  </a:cubicBezTo>
                  <a:lnTo>
                    <a:pt x="2240178" y="68259"/>
                  </a:lnTo>
                  <a:cubicBezTo>
                    <a:pt x="2240178" y="86362"/>
                    <a:pt x="2232986" y="103724"/>
                    <a:pt x="2220185" y="116525"/>
                  </a:cubicBezTo>
                  <a:cubicBezTo>
                    <a:pt x="2207384" y="129326"/>
                    <a:pt x="2190022" y="136517"/>
                    <a:pt x="2171919" y="136517"/>
                  </a:cubicBezTo>
                  <a:lnTo>
                    <a:pt x="68259" y="136517"/>
                  </a:lnTo>
                  <a:cubicBezTo>
                    <a:pt x="50155" y="136517"/>
                    <a:pt x="32793" y="129326"/>
                    <a:pt x="19992" y="116525"/>
                  </a:cubicBezTo>
                  <a:cubicBezTo>
                    <a:pt x="7192" y="103724"/>
                    <a:pt x="0" y="86362"/>
                    <a:pt x="0" y="68259"/>
                  </a:cubicBezTo>
                  <a:lnTo>
                    <a:pt x="0" y="68259"/>
                  </a:lnTo>
                  <a:cubicBezTo>
                    <a:pt x="0" y="50155"/>
                    <a:pt x="7192" y="32793"/>
                    <a:pt x="19992" y="19992"/>
                  </a:cubicBezTo>
                  <a:cubicBezTo>
                    <a:pt x="32793" y="7192"/>
                    <a:pt x="50155" y="0"/>
                    <a:pt x="68259" y="0"/>
                  </a:cubicBezTo>
                  <a:close/>
                </a:path>
              </a:pathLst>
            </a:custGeom>
            <a:solidFill>
              <a:srgbClr val="661414"/>
            </a:solidFill>
          </p:spPr>
        </p:sp>
        <p:sp>
          <p:nvSpPr>
            <p:cNvPr name="TextBox 5" id="5"/>
            <p:cNvSpPr txBox="true"/>
            <p:nvPr/>
          </p:nvSpPr>
          <p:spPr>
            <a:xfrm>
              <a:off x="0" y="-38100"/>
              <a:ext cx="2240178" cy="17461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4932203"/>
            <a:ext cx="7808035" cy="3496650"/>
            <a:chOff x="0" y="0"/>
            <a:chExt cx="4378459" cy="1960792"/>
          </a:xfrm>
        </p:grpSpPr>
        <p:sp>
          <p:nvSpPr>
            <p:cNvPr name="Freeform 7" id="7"/>
            <p:cNvSpPr/>
            <p:nvPr/>
          </p:nvSpPr>
          <p:spPr>
            <a:xfrm flipH="false" flipV="false" rot="0">
              <a:off x="0" y="0"/>
              <a:ext cx="4378459" cy="1960793"/>
            </a:xfrm>
            <a:custGeom>
              <a:avLst/>
              <a:gdLst/>
              <a:ahLst/>
              <a:cxnLst/>
              <a:rect r="r" b="b" t="t" l="l"/>
              <a:pathLst>
                <a:path h="1960793" w="4378459">
                  <a:moveTo>
                    <a:pt x="4253998" y="1960792"/>
                  </a:moveTo>
                  <a:lnTo>
                    <a:pt x="124460" y="1960792"/>
                  </a:lnTo>
                  <a:cubicBezTo>
                    <a:pt x="55880" y="1960792"/>
                    <a:pt x="0" y="1904912"/>
                    <a:pt x="0" y="1836332"/>
                  </a:cubicBezTo>
                  <a:lnTo>
                    <a:pt x="0" y="124460"/>
                  </a:lnTo>
                  <a:cubicBezTo>
                    <a:pt x="0" y="55880"/>
                    <a:pt x="55880" y="0"/>
                    <a:pt x="124460" y="0"/>
                  </a:cubicBezTo>
                  <a:lnTo>
                    <a:pt x="4253999" y="0"/>
                  </a:lnTo>
                  <a:cubicBezTo>
                    <a:pt x="4322579" y="0"/>
                    <a:pt x="4378459" y="55880"/>
                    <a:pt x="4378459" y="124460"/>
                  </a:cubicBezTo>
                  <a:lnTo>
                    <a:pt x="4378459" y="1836332"/>
                  </a:lnTo>
                  <a:cubicBezTo>
                    <a:pt x="4378459" y="1904912"/>
                    <a:pt x="4322579" y="1960793"/>
                    <a:pt x="4253999" y="1960793"/>
                  </a:cubicBezTo>
                  <a:close/>
                </a:path>
              </a:pathLst>
            </a:custGeom>
            <a:solidFill>
              <a:srgbClr val="201F1F">
                <a:alpha val="9804"/>
              </a:srgbClr>
            </a:solidFill>
          </p:spPr>
        </p:sp>
      </p:grpSp>
      <p:sp>
        <p:nvSpPr>
          <p:cNvPr name="TextBox 8" id="8"/>
          <p:cNvSpPr txBox="true"/>
          <p:nvPr/>
        </p:nvSpPr>
        <p:spPr>
          <a:xfrm rot="0">
            <a:off x="1500461" y="6642428"/>
            <a:ext cx="8325543" cy="525419"/>
          </a:xfrm>
          <a:prstGeom prst="rect">
            <a:avLst/>
          </a:prstGeom>
        </p:spPr>
        <p:txBody>
          <a:bodyPr anchor="t" rtlCol="false" tIns="0" lIns="0" bIns="0" rIns="0">
            <a:spAutoFit/>
          </a:bodyPr>
          <a:lstStyle/>
          <a:p>
            <a:pPr algn="l" marL="0" indent="0" lvl="0">
              <a:lnSpc>
                <a:spcPts val="4222"/>
              </a:lnSpc>
            </a:pPr>
            <a:r>
              <a:rPr lang="en-US" sz="3248" i="true">
                <a:solidFill>
                  <a:srgbClr val="545454"/>
                </a:solidFill>
                <a:latin typeface="Glacial Indifference Italics"/>
                <a:ea typeface="Glacial Indifference Italics"/>
                <a:cs typeface="Glacial Indifference Italics"/>
                <a:sym typeface="Glacial Indifference Italics"/>
              </a:rPr>
              <a:t>Extraction of data from the csv file</a:t>
            </a:r>
          </a:p>
        </p:txBody>
      </p:sp>
      <p:grpSp>
        <p:nvGrpSpPr>
          <p:cNvPr name="Group 9" id="9"/>
          <p:cNvGrpSpPr/>
          <p:nvPr/>
        </p:nvGrpSpPr>
        <p:grpSpPr>
          <a:xfrm rot="0">
            <a:off x="9451265" y="4590075"/>
            <a:ext cx="7808035" cy="4668225"/>
            <a:chOff x="0" y="0"/>
            <a:chExt cx="4378459" cy="2617768"/>
          </a:xfrm>
        </p:grpSpPr>
        <p:sp>
          <p:nvSpPr>
            <p:cNvPr name="Freeform 10" id="10"/>
            <p:cNvSpPr/>
            <p:nvPr/>
          </p:nvSpPr>
          <p:spPr>
            <a:xfrm flipH="false" flipV="false" rot="0">
              <a:off x="0" y="0"/>
              <a:ext cx="4378459" cy="2617769"/>
            </a:xfrm>
            <a:custGeom>
              <a:avLst/>
              <a:gdLst/>
              <a:ahLst/>
              <a:cxnLst/>
              <a:rect r="r" b="b" t="t" l="l"/>
              <a:pathLst>
                <a:path h="2617769" w="4378459">
                  <a:moveTo>
                    <a:pt x="4253998" y="2617768"/>
                  </a:moveTo>
                  <a:lnTo>
                    <a:pt x="124460" y="2617768"/>
                  </a:lnTo>
                  <a:cubicBezTo>
                    <a:pt x="55880" y="2617768"/>
                    <a:pt x="0" y="2561888"/>
                    <a:pt x="0" y="2493308"/>
                  </a:cubicBezTo>
                  <a:lnTo>
                    <a:pt x="0" y="124460"/>
                  </a:lnTo>
                  <a:cubicBezTo>
                    <a:pt x="0" y="55880"/>
                    <a:pt x="55880" y="0"/>
                    <a:pt x="124460" y="0"/>
                  </a:cubicBezTo>
                  <a:lnTo>
                    <a:pt x="4253999" y="0"/>
                  </a:lnTo>
                  <a:cubicBezTo>
                    <a:pt x="4322579" y="0"/>
                    <a:pt x="4378459" y="55880"/>
                    <a:pt x="4378459" y="124460"/>
                  </a:cubicBezTo>
                  <a:lnTo>
                    <a:pt x="4378459" y="2493308"/>
                  </a:lnTo>
                  <a:cubicBezTo>
                    <a:pt x="4378459" y="2561888"/>
                    <a:pt x="4322579" y="2617769"/>
                    <a:pt x="4253999" y="2617769"/>
                  </a:cubicBezTo>
                  <a:close/>
                </a:path>
              </a:pathLst>
            </a:custGeom>
            <a:solidFill>
              <a:srgbClr val="201F1F">
                <a:alpha val="9804"/>
              </a:srgbClr>
            </a:solidFill>
          </p:spPr>
        </p:sp>
      </p:grpSp>
      <p:sp>
        <p:nvSpPr>
          <p:cNvPr name="Freeform 11" id="11"/>
          <p:cNvSpPr/>
          <p:nvPr/>
        </p:nvSpPr>
        <p:spPr>
          <a:xfrm flipH="false" flipV="false" rot="0">
            <a:off x="9620836" y="5504398"/>
            <a:ext cx="7468892" cy="2839579"/>
          </a:xfrm>
          <a:custGeom>
            <a:avLst/>
            <a:gdLst/>
            <a:ahLst/>
            <a:cxnLst/>
            <a:rect r="r" b="b" t="t" l="l"/>
            <a:pathLst>
              <a:path h="2839579" w="7468892">
                <a:moveTo>
                  <a:pt x="0" y="0"/>
                </a:moveTo>
                <a:lnTo>
                  <a:pt x="7468892" y="0"/>
                </a:lnTo>
                <a:lnTo>
                  <a:pt x="7468892" y="2839579"/>
                </a:lnTo>
                <a:lnTo>
                  <a:pt x="0" y="2839579"/>
                </a:lnTo>
                <a:lnTo>
                  <a:pt x="0" y="0"/>
                </a:lnTo>
                <a:close/>
              </a:path>
            </a:pathLst>
          </a:custGeom>
          <a:blipFill>
            <a:blip r:embed="rId4"/>
            <a:stretch>
              <a:fillRect l="0" t="0" r="-7315" b="0"/>
            </a:stretch>
          </a:blipFill>
        </p:spPr>
      </p:sp>
      <p:sp>
        <p:nvSpPr>
          <p:cNvPr name="Freeform 12" id="12"/>
          <p:cNvSpPr/>
          <p:nvPr/>
        </p:nvSpPr>
        <p:spPr>
          <a:xfrm flipH="false" flipV="false" rot="0">
            <a:off x="1500461" y="3301563"/>
            <a:ext cx="527035" cy="508212"/>
          </a:xfrm>
          <a:custGeom>
            <a:avLst/>
            <a:gdLst/>
            <a:ahLst/>
            <a:cxnLst/>
            <a:rect r="r" b="b" t="t" l="l"/>
            <a:pathLst>
              <a:path h="508212" w="527035">
                <a:moveTo>
                  <a:pt x="0" y="0"/>
                </a:moveTo>
                <a:lnTo>
                  <a:pt x="527035" y="0"/>
                </a:lnTo>
                <a:lnTo>
                  <a:pt x="527035" y="508212"/>
                </a:lnTo>
                <a:lnTo>
                  <a:pt x="0" y="508212"/>
                </a:lnTo>
                <a:lnTo>
                  <a:pt x="0" y="0"/>
                </a:lnTo>
                <a:close/>
              </a:path>
            </a:pathLst>
          </a:custGeom>
          <a:blipFill>
            <a:blip r:embed="rId5"/>
            <a:stretch>
              <a:fillRect l="0" t="0" r="0" b="0"/>
            </a:stretch>
          </a:blipFill>
        </p:spPr>
      </p:sp>
      <p:sp>
        <p:nvSpPr>
          <p:cNvPr name="TextBox 13" id="13"/>
          <p:cNvSpPr txBox="true"/>
          <p:nvPr/>
        </p:nvSpPr>
        <p:spPr>
          <a:xfrm rot="0">
            <a:off x="1028700" y="1371913"/>
            <a:ext cx="13495946" cy="1149350"/>
          </a:xfrm>
          <a:prstGeom prst="rect">
            <a:avLst/>
          </a:prstGeom>
        </p:spPr>
        <p:txBody>
          <a:bodyPr anchor="t" rtlCol="false" tIns="0" lIns="0" bIns="0" rIns="0">
            <a:spAutoFit/>
          </a:bodyPr>
          <a:lstStyle/>
          <a:p>
            <a:pPr algn="l" marL="0" indent="0" lvl="0">
              <a:lnSpc>
                <a:spcPts val="8800"/>
              </a:lnSpc>
            </a:pPr>
            <a:r>
              <a:rPr lang="en-US" b="true" sz="8000">
                <a:solidFill>
                  <a:srgbClr val="501934"/>
                </a:solidFill>
                <a:latin typeface="Aileron Bold"/>
                <a:ea typeface="Aileron Bold"/>
                <a:cs typeface="Aileron Bold"/>
                <a:sym typeface="Aileron Bold"/>
              </a:rPr>
              <a:t>ETL PROCESS</a:t>
            </a:r>
          </a:p>
        </p:txBody>
      </p:sp>
      <p:sp>
        <p:nvSpPr>
          <p:cNvPr name="TextBox 14" id="14"/>
          <p:cNvSpPr txBox="true"/>
          <p:nvPr/>
        </p:nvSpPr>
        <p:spPr>
          <a:xfrm rot="0">
            <a:off x="2235740" y="3325799"/>
            <a:ext cx="13495946" cy="440690"/>
          </a:xfrm>
          <a:prstGeom prst="rect">
            <a:avLst/>
          </a:prstGeom>
        </p:spPr>
        <p:txBody>
          <a:bodyPr anchor="t" rtlCol="false" tIns="0" lIns="0" bIns="0" rIns="0">
            <a:spAutoFit/>
          </a:bodyPr>
          <a:lstStyle/>
          <a:p>
            <a:pPr algn="l" marL="0" indent="0" lvl="0">
              <a:lnSpc>
                <a:spcPts val="3639"/>
              </a:lnSpc>
            </a:pPr>
            <a:r>
              <a:rPr lang="en-US" b="true" sz="2799">
                <a:solidFill>
                  <a:srgbClr val="21170D"/>
                </a:solidFill>
                <a:latin typeface="Montserrat Bold"/>
                <a:ea typeface="Montserrat Bold"/>
                <a:cs typeface="Montserrat Bold"/>
                <a:sym typeface="Montserrat Bold"/>
              </a:rPr>
              <a:t>DATA EXTRACTION</a:t>
            </a:r>
          </a:p>
        </p:txBody>
      </p:sp>
      <p:sp>
        <p:nvSpPr>
          <p:cNvPr name="Freeform 15" id="15"/>
          <p:cNvSpPr/>
          <p:nvPr/>
        </p:nvSpPr>
        <p:spPr>
          <a:xfrm flipH="false" flipV="false" rot="0">
            <a:off x="-3183319" y="8672513"/>
            <a:ext cx="6366637" cy="4132527"/>
          </a:xfrm>
          <a:custGeom>
            <a:avLst/>
            <a:gdLst/>
            <a:ahLst/>
            <a:cxnLst/>
            <a:rect r="r" b="b" t="t" l="l"/>
            <a:pathLst>
              <a:path h="4132527" w="6366637">
                <a:moveTo>
                  <a:pt x="0" y="0"/>
                </a:moveTo>
                <a:lnTo>
                  <a:pt x="6366638" y="0"/>
                </a:lnTo>
                <a:lnTo>
                  <a:pt x="6366638" y="4132526"/>
                </a:lnTo>
                <a:lnTo>
                  <a:pt x="0" y="41325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16" id="16"/>
          <p:cNvSpPr/>
          <p:nvPr/>
        </p:nvSpPr>
        <p:spPr>
          <a:xfrm flipV="true">
            <a:off x="8357131" y="1894598"/>
            <a:ext cx="1347211" cy="0"/>
          </a:xfrm>
          <a:prstGeom prst="line">
            <a:avLst/>
          </a:prstGeom>
          <a:ln cap="flat" w="104775">
            <a:solidFill>
              <a:srgbClr val="E1C4B4"/>
            </a:solidFill>
            <a:prstDash val="solid"/>
            <a:headEnd type="none" len="sm" w="sm"/>
            <a:tailEnd type="none" len="sm" w="sm"/>
          </a:ln>
        </p:spPr>
      </p:sp>
      <p:grpSp>
        <p:nvGrpSpPr>
          <p:cNvPr name="Group 17" id="17"/>
          <p:cNvGrpSpPr/>
          <p:nvPr/>
        </p:nvGrpSpPr>
        <p:grpSpPr>
          <a:xfrm rot="0">
            <a:off x="8884982" y="1660227"/>
            <a:ext cx="522572" cy="52257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1C4B4"/>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8114760" y="1660227"/>
            <a:ext cx="522572" cy="522572"/>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C0D12"/>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9650668" y="1660227"/>
            <a:ext cx="522572" cy="522572"/>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1C4B4"/>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grpSp>
        <p:nvGrpSpPr>
          <p:cNvPr name="Group 2" id="2"/>
          <p:cNvGrpSpPr/>
          <p:nvPr/>
        </p:nvGrpSpPr>
        <p:grpSpPr>
          <a:xfrm rot="-10800000">
            <a:off x="15618843" y="174124"/>
            <a:ext cx="3045158" cy="205201"/>
            <a:chOff x="0" y="0"/>
            <a:chExt cx="1829122" cy="123257"/>
          </a:xfrm>
        </p:grpSpPr>
        <p:sp>
          <p:nvSpPr>
            <p:cNvPr name="Freeform 3" id="3"/>
            <p:cNvSpPr/>
            <p:nvPr/>
          </p:nvSpPr>
          <p:spPr>
            <a:xfrm flipH="false" flipV="false" rot="0">
              <a:off x="0" y="0"/>
              <a:ext cx="1829122" cy="123257"/>
            </a:xfrm>
            <a:custGeom>
              <a:avLst/>
              <a:gdLst/>
              <a:ahLst/>
              <a:cxnLst/>
              <a:rect r="r" b="b" t="t" l="l"/>
              <a:pathLst>
                <a:path h="123257" w="1829122">
                  <a:moveTo>
                    <a:pt x="61629" y="0"/>
                  </a:moveTo>
                  <a:lnTo>
                    <a:pt x="1767493" y="0"/>
                  </a:lnTo>
                  <a:cubicBezTo>
                    <a:pt x="1801530" y="0"/>
                    <a:pt x="1829122" y="27592"/>
                    <a:pt x="1829122" y="61629"/>
                  </a:cubicBezTo>
                  <a:lnTo>
                    <a:pt x="1829122" y="61629"/>
                  </a:lnTo>
                  <a:cubicBezTo>
                    <a:pt x="1829122" y="77974"/>
                    <a:pt x="1822629" y="93649"/>
                    <a:pt x="1811071" y="105207"/>
                  </a:cubicBezTo>
                  <a:cubicBezTo>
                    <a:pt x="1799513" y="116764"/>
                    <a:pt x="1783838" y="123257"/>
                    <a:pt x="1767493" y="123257"/>
                  </a:cubicBezTo>
                  <a:lnTo>
                    <a:pt x="61629" y="123257"/>
                  </a:lnTo>
                  <a:cubicBezTo>
                    <a:pt x="27592" y="123257"/>
                    <a:pt x="0" y="95665"/>
                    <a:pt x="0" y="61629"/>
                  </a:cubicBezTo>
                  <a:lnTo>
                    <a:pt x="0" y="61629"/>
                  </a:lnTo>
                  <a:cubicBezTo>
                    <a:pt x="0" y="27592"/>
                    <a:pt x="27592" y="0"/>
                    <a:pt x="61629" y="0"/>
                  </a:cubicBezTo>
                  <a:close/>
                </a:path>
              </a:pathLst>
            </a:custGeom>
            <a:solidFill>
              <a:srgbClr val="7A0000"/>
            </a:solidFill>
          </p:spPr>
        </p:sp>
        <p:sp>
          <p:nvSpPr>
            <p:cNvPr name="TextBox 4" id="4"/>
            <p:cNvSpPr txBox="true"/>
            <p:nvPr/>
          </p:nvSpPr>
          <p:spPr>
            <a:xfrm>
              <a:off x="0" y="-38100"/>
              <a:ext cx="1829122" cy="161357"/>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3049473" y="2445541"/>
            <a:ext cx="9936478" cy="1334064"/>
          </a:xfrm>
          <a:custGeom>
            <a:avLst/>
            <a:gdLst/>
            <a:ahLst/>
            <a:cxnLst/>
            <a:rect r="r" b="b" t="t" l="l"/>
            <a:pathLst>
              <a:path h="1334064" w="9936478">
                <a:moveTo>
                  <a:pt x="0" y="0"/>
                </a:moveTo>
                <a:lnTo>
                  <a:pt x="9936478" y="0"/>
                </a:lnTo>
                <a:lnTo>
                  <a:pt x="9936478" y="1334064"/>
                </a:lnTo>
                <a:lnTo>
                  <a:pt x="0" y="1334064"/>
                </a:lnTo>
                <a:lnTo>
                  <a:pt x="0" y="0"/>
                </a:lnTo>
                <a:close/>
              </a:path>
            </a:pathLst>
          </a:custGeom>
          <a:blipFill>
            <a:blip r:embed="rId2"/>
            <a:stretch>
              <a:fillRect l="0" t="0" r="0" b="0"/>
            </a:stretch>
          </a:blipFill>
        </p:spPr>
      </p:sp>
      <p:sp>
        <p:nvSpPr>
          <p:cNvPr name="Freeform 6" id="6"/>
          <p:cNvSpPr/>
          <p:nvPr/>
        </p:nvSpPr>
        <p:spPr>
          <a:xfrm flipH="false" flipV="false" rot="0">
            <a:off x="1028700" y="586988"/>
            <a:ext cx="484272" cy="483408"/>
          </a:xfrm>
          <a:custGeom>
            <a:avLst/>
            <a:gdLst/>
            <a:ahLst/>
            <a:cxnLst/>
            <a:rect r="r" b="b" t="t" l="l"/>
            <a:pathLst>
              <a:path h="483408" w="484272">
                <a:moveTo>
                  <a:pt x="0" y="0"/>
                </a:moveTo>
                <a:lnTo>
                  <a:pt x="484272" y="0"/>
                </a:lnTo>
                <a:lnTo>
                  <a:pt x="484272" y="483408"/>
                </a:lnTo>
                <a:lnTo>
                  <a:pt x="0" y="483408"/>
                </a:lnTo>
                <a:lnTo>
                  <a:pt x="0" y="0"/>
                </a:lnTo>
                <a:close/>
              </a:path>
            </a:pathLst>
          </a:custGeom>
          <a:blipFill>
            <a:blip r:embed="rId3"/>
            <a:stretch>
              <a:fillRect l="0" t="0" r="0" b="0"/>
            </a:stretch>
          </a:blipFill>
        </p:spPr>
      </p:sp>
      <p:sp>
        <p:nvSpPr>
          <p:cNvPr name="Freeform 7" id="7"/>
          <p:cNvSpPr/>
          <p:nvPr/>
        </p:nvSpPr>
        <p:spPr>
          <a:xfrm flipH="false" flipV="false" rot="0">
            <a:off x="2907249" y="5917066"/>
            <a:ext cx="12108212" cy="1733183"/>
          </a:xfrm>
          <a:custGeom>
            <a:avLst/>
            <a:gdLst/>
            <a:ahLst/>
            <a:cxnLst/>
            <a:rect r="r" b="b" t="t" l="l"/>
            <a:pathLst>
              <a:path h="1733183" w="12108212">
                <a:moveTo>
                  <a:pt x="0" y="0"/>
                </a:moveTo>
                <a:lnTo>
                  <a:pt x="12108212" y="0"/>
                </a:lnTo>
                <a:lnTo>
                  <a:pt x="12108212" y="1733184"/>
                </a:lnTo>
                <a:lnTo>
                  <a:pt x="0" y="1733184"/>
                </a:lnTo>
                <a:lnTo>
                  <a:pt x="0" y="0"/>
                </a:lnTo>
                <a:close/>
              </a:path>
            </a:pathLst>
          </a:custGeom>
          <a:blipFill>
            <a:blip r:embed="rId4"/>
            <a:stretch>
              <a:fillRect l="0" t="0" r="0" b="0"/>
            </a:stretch>
          </a:blipFill>
        </p:spPr>
      </p:sp>
      <p:sp>
        <p:nvSpPr>
          <p:cNvPr name="TextBox 8" id="8"/>
          <p:cNvSpPr txBox="true"/>
          <p:nvPr/>
        </p:nvSpPr>
        <p:spPr>
          <a:xfrm rot="0">
            <a:off x="14122794" y="424174"/>
            <a:ext cx="5930326" cy="404518"/>
          </a:xfrm>
          <a:prstGeom prst="rect">
            <a:avLst/>
          </a:prstGeom>
        </p:spPr>
        <p:txBody>
          <a:bodyPr anchor="t" rtlCol="false" tIns="0" lIns="0" bIns="0" rIns="0">
            <a:spAutoFit/>
          </a:bodyPr>
          <a:lstStyle/>
          <a:p>
            <a:pPr algn="ctr">
              <a:lnSpc>
                <a:spcPts val="3129"/>
              </a:lnSpc>
            </a:pPr>
            <a:r>
              <a:rPr lang="en-US" b="true" sz="2721">
                <a:solidFill>
                  <a:srgbClr val="501934"/>
                </a:solidFill>
                <a:latin typeface="Aileron Bold"/>
                <a:ea typeface="Aileron Bold"/>
                <a:cs typeface="Aileron Bold"/>
                <a:sym typeface="Aileron Bold"/>
              </a:rPr>
              <a:t>ETL PROCESS</a:t>
            </a:r>
          </a:p>
        </p:txBody>
      </p:sp>
      <p:sp>
        <p:nvSpPr>
          <p:cNvPr name="TextBox 9" id="9"/>
          <p:cNvSpPr txBox="true"/>
          <p:nvPr/>
        </p:nvSpPr>
        <p:spPr>
          <a:xfrm rot="0">
            <a:off x="1632419" y="484990"/>
            <a:ext cx="6330553" cy="620730"/>
          </a:xfrm>
          <a:prstGeom prst="rect">
            <a:avLst/>
          </a:prstGeom>
        </p:spPr>
        <p:txBody>
          <a:bodyPr anchor="t" rtlCol="false" tIns="0" lIns="0" bIns="0" rIns="0">
            <a:spAutoFit/>
          </a:bodyPr>
          <a:lstStyle/>
          <a:p>
            <a:pPr algn="ctr">
              <a:lnSpc>
                <a:spcPts val="5161"/>
              </a:lnSpc>
            </a:pPr>
            <a:r>
              <a:rPr lang="en-US" sz="3686" b="true">
                <a:solidFill>
                  <a:srgbClr val="21170D"/>
                </a:solidFill>
                <a:latin typeface="Montserrat Bold"/>
                <a:ea typeface="Montserrat Bold"/>
                <a:cs typeface="Montserrat Bold"/>
                <a:sym typeface="Montserrat Bold"/>
              </a:rPr>
              <a:t> DATA TRANSFORMATION</a:t>
            </a:r>
          </a:p>
        </p:txBody>
      </p:sp>
      <p:sp>
        <p:nvSpPr>
          <p:cNvPr name="TextBox 10" id="10"/>
          <p:cNvSpPr txBox="true"/>
          <p:nvPr/>
        </p:nvSpPr>
        <p:spPr>
          <a:xfrm rot="0">
            <a:off x="2299810" y="1603076"/>
            <a:ext cx="7793381" cy="646430"/>
          </a:xfrm>
          <a:prstGeom prst="rect">
            <a:avLst/>
          </a:prstGeom>
        </p:spPr>
        <p:txBody>
          <a:bodyPr anchor="t" rtlCol="false" tIns="0" lIns="0" bIns="0" rIns="0">
            <a:spAutoFit/>
          </a:bodyPr>
          <a:lstStyle/>
          <a:p>
            <a:pPr algn="ctr">
              <a:lnSpc>
                <a:spcPts val="5319"/>
              </a:lnSpc>
            </a:pPr>
            <a:r>
              <a:rPr lang="en-US" sz="3799" i="true">
                <a:solidFill>
                  <a:srgbClr val="545454"/>
                </a:solidFill>
                <a:latin typeface="Glacial Indifference Italics"/>
                <a:ea typeface="Glacial Indifference Italics"/>
                <a:cs typeface="Glacial Indifference Italics"/>
                <a:sym typeface="Glacial Indifference Italics"/>
              </a:rPr>
              <a:t>Removing duplicates</a:t>
            </a:r>
          </a:p>
        </p:txBody>
      </p:sp>
      <p:sp>
        <p:nvSpPr>
          <p:cNvPr name="TextBox 11" id="11"/>
          <p:cNvSpPr txBox="true"/>
          <p:nvPr/>
        </p:nvSpPr>
        <p:spPr>
          <a:xfrm rot="0">
            <a:off x="846063" y="5055955"/>
            <a:ext cx="14169398" cy="2346425"/>
          </a:xfrm>
          <a:prstGeom prst="rect">
            <a:avLst/>
          </a:prstGeom>
        </p:spPr>
        <p:txBody>
          <a:bodyPr anchor="t" rtlCol="false" tIns="0" lIns="0" bIns="0" rIns="0">
            <a:spAutoFit/>
          </a:bodyPr>
          <a:lstStyle/>
          <a:p>
            <a:pPr algn="ctr">
              <a:lnSpc>
                <a:spcPts val="4658"/>
              </a:lnSpc>
            </a:pPr>
            <a:r>
              <a:rPr lang="en-US" sz="3327" i="true">
                <a:solidFill>
                  <a:srgbClr val="545454"/>
                </a:solidFill>
                <a:latin typeface="Glacial Indifference Italics"/>
                <a:ea typeface="Glacial Indifference Italics"/>
                <a:cs typeface="Glacial Indifference Italics"/>
                <a:sym typeface="Glacial Indifference Italics"/>
              </a:rPr>
              <a:t>Convert all time fields to a consistent format</a:t>
            </a:r>
          </a:p>
          <a:p>
            <a:pPr algn="ctr">
              <a:lnSpc>
                <a:spcPts val="5108"/>
              </a:lnSpc>
            </a:pPr>
          </a:p>
          <a:p>
            <a:pPr algn="ctr">
              <a:lnSpc>
                <a:spcPts val="4658"/>
              </a:lnSpc>
            </a:pPr>
          </a:p>
          <a:p>
            <a:pPr algn="ctr">
              <a:lnSpc>
                <a:spcPts val="4357"/>
              </a:lnSpc>
            </a:pPr>
          </a:p>
        </p:txBody>
      </p:sp>
      <p:grpSp>
        <p:nvGrpSpPr>
          <p:cNvPr name="Group 12" id="12"/>
          <p:cNvGrpSpPr/>
          <p:nvPr/>
        </p:nvGrpSpPr>
        <p:grpSpPr>
          <a:xfrm rot="0">
            <a:off x="12985951" y="8993275"/>
            <a:ext cx="5218253" cy="521825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B2126"/>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10800000">
            <a:off x="14784816" y="9258300"/>
            <a:ext cx="1620523" cy="886868"/>
          </a:xfrm>
          <a:custGeom>
            <a:avLst/>
            <a:gdLst/>
            <a:ahLst/>
            <a:cxnLst/>
            <a:rect r="r" b="b" t="t" l="l"/>
            <a:pathLst>
              <a:path h="886868" w="1620523">
                <a:moveTo>
                  <a:pt x="0" y="0"/>
                </a:moveTo>
                <a:lnTo>
                  <a:pt x="1620523" y="0"/>
                </a:lnTo>
                <a:lnTo>
                  <a:pt x="1620523" y="886868"/>
                </a:lnTo>
                <a:lnTo>
                  <a:pt x="0" y="8868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6" id="16"/>
          <p:cNvSpPr/>
          <p:nvPr/>
        </p:nvSpPr>
        <p:spPr>
          <a:xfrm flipV="true">
            <a:off x="13097295" y="437043"/>
            <a:ext cx="1515543" cy="0"/>
          </a:xfrm>
          <a:prstGeom prst="line">
            <a:avLst/>
          </a:prstGeom>
          <a:ln cap="flat" w="114300">
            <a:solidFill>
              <a:srgbClr val="E1C4B4"/>
            </a:solidFill>
            <a:prstDash val="solid"/>
            <a:headEnd type="none" len="sm" w="sm"/>
            <a:tailEnd type="none" len="sm" w="sm"/>
          </a:ln>
        </p:spPr>
      </p:sp>
      <p:grpSp>
        <p:nvGrpSpPr>
          <p:cNvPr name="Group 17" id="17"/>
          <p:cNvGrpSpPr/>
          <p:nvPr/>
        </p:nvGrpSpPr>
        <p:grpSpPr>
          <a:xfrm rot="0">
            <a:off x="14427594" y="131082"/>
            <a:ext cx="587867" cy="58786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1C4B4"/>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3534927" y="143109"/>
            <a:ext cx="587867" cy="587867"/>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C0D12"/>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2583067" y="170819"/>
            <a:ext cx="587867" cy="587867"/>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1C4B4"/>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grpSp>
        <p:nvGrpSpPr>
          <p:cNvPr name="Group 2" id="2"/>
          <p:cNvGrpSpPr/>
          <p:nvPr/>
        </p:nvGrpSpPr>
        <p:grpSpPr>
          <a:xfrm rot="-10800000">
            <a:off x="15324910" y="139442"/>
            <a:ext cx="3045158" cy="205201"/>
            <a:chOff x="0" y="0"/>
            <a:chExt cx="1829122" cy="123257"/>
          </a:xfrm>
        </p:grpSpPr>
        <p:sp>
          <p:nvSpPr>
            <p:cNvPr name="Freeform 3" id="3"/>
            <p:cNvSpPr/>
            <p:nvPr/>
          </p:nvSpPr>
          <p:spPr>
            <a:xfrm flipH="false" flipV="false" rot="0">
              <a:off x="0" y="0"/>
              <a:ext cx="1829122" cy="123257"/>
            </a:xfrm>
            <a:custGeom>
              <a:avLst/>
              <a:gdLst/>
              <a:ahLst/>
              <a:cxnLst/>
              <a:rect r="r" b="b" t="t" l="l"/>
              <a:pathLst>
                <a:path h="123257" w="1829122">
                  <a:moveTo>
                    <a:pt x="61629" y="0"/>
                  </a:moveTo>
                  <a:lnTo>
                    <a:pt x="1767493" y="0"/>
                  </a:lnTo>
                  <a:cubicBezTo>
                    <a:pt x="1801530" y="0"/>
                    <a:pt x="1829122" y="27592"/>
                    <a:pt x="1829122" y="61629"/>
                  </a:cubicBezTo>
                  <a:lnTo>
                    <a:pt x="1829122" y="61629"/>
                  </a:lnTo>
                  <a:cubicBezTo>
                    <a:pt x="1829122" y="77974"/>
                    <a:pt x="1822629" y="93649"/>
                    <a:pt x="1811071" y="105207"/>
                  </a:cubicBezTo>
                  <a:cubicBezTo>
                    <a:pt x="1799513" y="116764"/>
                    <a:pt x="1783838" y="123257"/>
                    <a:pt x="1767493" y="123257"/>
                  </a:cubicBezTo>
                  <a:lnTo>
                    <a:pt x="61629" y="123257"/>
                  </a:lnTo>
                  <a:cubicBezTo>
                    <a:pt x="27592" y="123257"/>
                    <a:pt x="0" y="95665"/>
                    <a:pt x="0" y="61629"/>
                  </a:cubicBezTo>
                  <a:lnTo>
                    <a:pt x="0" y="61629"/>
                  </a:lnTo>
                  <a:cubicBezTo>
                    <a:pt x="0" y="27592"/>
                    <a:pt x="27592" y="0"/>
                    <a:pt x="61629" y="0"/>
                  </a:cubicBezTo>
                  <a:close/>
                </a:path>
              </a:pathLst>
            </a:custGeom>
            <a:solidFill>
              <a:srgbClr val="7A0000"/>
            </a:solidFill>
          </p:spPr>
        </p:sp>
        <p:sp>
          <p:nvSpPr>
            <p:cNvPr name="TextBox 4" id="4"/>
            <p:cNvSpPr txBox="true"/>
            <p:nvPr/>
          </p:nvSpPr>
          <p:spPr>
            <a:xfrm>
              <a:off x="0" y="-38100"/>
              <a:ext cx="1829122" cy="161357"/>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908863" y="1064023"/>
            <a:ext cx="484272" cy="483408"/>
          </a:xfrm>
          <a:custGeom>
            <a:avLst/>
            <a:gdLst/>
            <a:ahLst/>
            <a:cxnLst/>
            <a:rect r="r" b="b" t="t" l="l"/>
            <a:pathLst>
              <a:path h="483408" w="484272">
                <a:moveTo>
                  <a:pt x="0" y="0"/>
                </a:moveTo>
                <a:lnTo>
                  <a:pt x="484272" y="0"/>
                </a:lnTo>
                <a:lnTo>
                  <a:pt x="484272" y="483409"/>
                </a:lnTo>
                <a:lnTo>
                  <a:pt x="0" y="483409"/>
                </a:lnTo>
                <a:lnTo>
                  <a:pt x="0" y="0"/>
                </a:lnTo>
                <a:close/>
              </a:path>
            </a:pathLst>
          </a:custGeom>
          <a:blipFill>
            <a:blip r:embed="rId2"/>
            <a:stretch>
              <a:fillRect l="0" t="0" r="0" b="0"/>
            </a:stretch>
          </a:blipFill>
        </p:spPr>
      </p:sp>
      <p:sp>
        <p:nvSpPr>
          <p:cNvPr name="Freeform 6" id="6"/>
          <p:cNvSpPr/>
          <p:nvPr/>
        </p:nvSpPr>
        <p:spPr>
          <a:xfrm flipH="false" flipV="false" rot="0">
            <a:off x="2479324" y="2736084"/>
            <a:ext cx="13661131" cy="1186146"/>
          </a:xfrm>
          <a:custGeom>
            <a:avLst/>
            <a:gdLst/>
            <a:ahLst/>
            <a:cxnLst/>
            <a:rect r="r" b="b" t="t" l="l"/>
            <a:pathLst>
              <a:path h="1186146" w="13661131">
                <a:moveTo>
                  <a:pt x="0" y="0"/>
                </a:moveTo>
                <a:lnTo>
                  <a:pt x="13661131" y="0"/>
                </a:lnTo>
                <a:lnTo>
                  <a:pt x="13661131" y="1186146"/>
                </a:lnTo>
                <a:lnTo>
                  <a:pt x="0" y="1186146"/>
                </a:lnTo>
                <a:lnTo>
                  <a:pt x="0" y="0"/>
                </a:lnTo>
                <a:close/>
              </a:path>
            </a:pathLst>
          </a:custGeom>
          <a:blipFill>
            <a:blip r:embed="rId3"/>
            <a:stretch>
              <a:fillRect l="0" t="0" r="0" b="0"/>
            </a:stretch>
          </a:blipFill>
        </p:spPr>
      </p:sp>
      <p:sp>
        <p:nvSpPr>
          <p:cNvPr name="Freeform 7" id="7"/>
          <p:cNvSpPr/>
          <p:nvPr/>
        </p:nvSpPr>
        <p:spPr>
          <a:xfrm flipH="false" flipV="false" rot="0">
            <a:off x="3023146" y="5325068"/>
            <a:ext cx="11100942" cy="1090271"/>
          </a:xfrm>
          <a:custGeom>
            <a:avLst/>
            <a:gdLst/>
            <a:ahLst/>
            <a:cxnLst/>
            <a:rect r="r" b="b" t="t" l="l"/>
            <a:pathLst>
              <a:path h="1090271" w="11100942">
                <a:moveTo>
                  <a:pt x="0" y="0"/>
                </a:moveTo>
                <a:lnTo>
                  <a:pt x="11100942" y="0"/>
                </a:lnTo>
                <a:lnTo>
                  <a:pt x="11100942" y="1090271"/>
                </a:lnTo>
                <a:lnTo>
                  <a:pt x="0" y="1090271"/>
                </a:lnTo>
                <a:lnTo>
                  <a:pt x="0" y="0"/>
                </a:lnTo>
                <a:close/>
              </a:path>
            </a:pathLst>
          </a:custGeom>
          <a:blipFill>
            <a:blip r:embed="rId4"/>
            <a:stretch>
              <a:fillRect l="0" t="0" r="0" b="0"/>
            </a:stretch>
          </a:blipFill>
        </p:spPr>
      </p:sp>
      <p:sp>
        <p:nvSpPr>
          <p:cNvPr name="TextBox 8" id="8"/>
          <p:cNvSpPr txBox="true"/>
          <p:nvPr/>
        </p:nvSpPr>
        <p:spPr>
          <a:xfrm rot="0">
            <a:off x="908863" y="4618438"/>
            <a:ext cx="14062817" cy="1690066"/>
          </a:xfrm>
          <a:prstGeom prst="rect">
            <a:avLst/>
          </a:prstGeom>
        </p:spPr>
        <p:txBody>
          <a:bodyPr anchor="t" rtlCol="false" tIns="0" lIns="0" bIns="0" rIns="0">
            <a:spAutoFit/>
          </a:bodyPr>
          <a:lstStyle/>
          <a:p>
            <a:pPr algn="ctr">
              <a:lnSpc>
                <a:spcPts val="4623"/>
              </a:lnSpc>
            </a:pPr>
            <a:r>
              <a:rPr lang="en-US" sz="3302" i="true">
                <a:solidFill>
                  <a:srgbClr val="545454"/>
                </a:solidFill>
                <a:latin typeface="Glacial Indifference Italics"/>
                <a:ea typeface="Glacial Indifference Italics"/>
                <a:cs typeface="Glacial Indifference Italics"/>
                <a:sym typeface="Glacial Indifference Italics"/>
              </a:rPr>
              <a:t>Remove records with no time data</a:t>
            </a:r>
          </a:p>
          <a:p>
            <a:pPr algn="ctr">
              <a:lnSpc>
                <a:spcPts val="4623"/>
              </a:lnSpc>
            </a:pPr>
          </a:p>
          <a:p>
            <a:pPr algn="ctr">
              <a:lnSpc>
                <a:spcPts val="4324"/>
              </a:lnSpc>
            </a:pPr>
          </a:p>
        </p:txBody>
      </p:sp>
      <p:sp>
        <p:nvSpPr>
          <p:cNvPr name="Freeform 9" id="9"/>
          <p:cNvSpPr/>
          <p:nvPr/>
        </p:nvSpPr>
        <p:spPr>
          <a:xfrm flipH="false" flipV="false" rot="0">
            <a:off x="1915233" y="8069997"/>
            <a:ext cx="14225222" cy="1283146"/>
          </a:xfrm>
          <a:custGeom>
            <a:avLst/>
            <a:gdLst/>
            <a:ahLst/>
            <a:cxnLst/>
            <a:rect r="r" b="b" t="t" l="l"/>
            <a:pathLst>
              <a:path h="1283146" w="14225222">
                <a:moveTo>
                  <a:pt x="0" y="0"/>
                </a:moveTo>
                <a:lnTo>
                  <a:pt x="14225222" y="0"/>
                </a:lnTo>
                <a:lnTo>
                  <a:pt x="14225222" y="1283146"/>
                </a:lnTo>
                <a:lnTo>
                  <a:pt x="0" y="1283146"/>
                </a:lnTo>
                <a:lnTo>
                  <a:pt x="0" y="0"/>
                </a:lnTo>
                <a:close/>
              </a:path>
            </a:pathLst>
          </a:custGeom>
          <a:blipFill>
            <a:blip r:embed="rId5"/>
            <a:stretch>
              <a:fillRect l="0" t="0" r="0" b="0"/>
            </a:stretch>
          </a:blipFill>
        </p:spPr>
      </p:sp>
      <p:sp>
        <p:nvSpPr>
          <p:cNvPr name="TextBox 10" id="10"/>
          <p:cNvSpPr txBox="true"/>
          <p:nvPr/>
        </p:nvSpPr>
        <p:spPr>
          <a:xfrm rot="0">
            <a:off x="14047890" y="354168"/>
            <a:ext cx="5930326" cy="404518"/>
          </a:xfrm>
          <a:prstGeom prst="rect">
            <a:avLst/>
          </a:prstGeom>
        </p:spPr>
        <p:txBody>
          <a:bodyPr anchor="t" rtlCol="false" tIns="0" lIns="0" bIns="0" rIns="0">
            <a:spAutoFit/>
          </a:bodyPr>
          <a:lstStyle/>
          <a:p>
            <a:pPr algn="ctr">
              <a:lnSpc>
                <a:spcPts val="3129"/>
              </a:lnSpc>
            </a:pPr>
            <a:r>
              <a:rPr lang="en-US" b="true" sz="2721">
                <a:solidFill>
                  <a:srgbClr val="501934"/>
                </a:solidFill>
                <a:latin typeface="Aileron Bold"/>
                <a:ea typeface="Aileron Bold"/>
                <a:cs typeface="Aileron Bold"/>
                <a:sym typeface="Aileron Bold"/>
              </a:rPr>
              <a:t>ETL PROCESS</a:t>
            </a:r>
          </a:p>
        </p:txBody>
      </p:sp>
      <p:sp>
        <p:nvSpPr>
          <p:cNvPr name="TextBox 11" id="11"/>
          <p:cNvSpPr txBox="true"/>
          <p:nvPr/>
        </p:nvSpPr>
        <p:spPr>
          <a:xfrm rot="0">
            <a:off x="1512582" y="962025"/>
            <a:ext cx="6330553" cy="620730"/>
          </a:xfrm>
          <a:prstGeom prst="rect">
            <a:avLst/>
          </a:prstGeom>
        </p:spPr>
        <p:txBody>
          <a:bodyPr anchor="t" rtlCol="false" tIns="0" lIns="0" bIns="0" rIns="0">
            <a:spAutoFit/>
          </a:bodyPr>
          <a:lstStyle/>
          <a:p>
            <a:pPr algn="ctr">
              <a:lnSpc>
                <a:spcPts val="5161"/>
              </a:lnSpc>
            </a:pPr>
            <a:r>
              <a:rPr lang="en-US" sz="3686" b="true">
                <a:solidFill>
                  <a:srgbClr val="21170D"/>
                </a:solidFill>
                <a:latin typeface="Montserrat Bold"/>
                <a:ea typeface="Montserrat Bold"/>
                <a:cs typeface="Montserrat Bold"/>
                <a:sym typeface="Montserrat Bold"/>
              </a:rPr>
              <a:t> DATA TRANSFORMATION</a:t>
            </a:r>
          </a:p>
        </p:txBody>
      </p:sp>
      <p:sp>
        <p:nvSpPr>
          <p:cNvPr name="TextBox 12" id="12"/>
          <p:cNvSpPr txBox="true"/>
          <p:nvPr/>
        </p:nvSpPr>
        <p:spPr>
          <a:xfrm rot="0">
            <a:off x="2277110" y="1880103"/>
            <a:ext cx="10883922" cy="1313180"/>
          </a:xfrm>
          <a:prstGeom prst="rect">
            <a:avLst/>
          </a:prstGeom>
        </p:spPr>
        <p:txBody>
          <a:bodyPr anchor="t" rtlCol="false" tIns="0" lIns="0" bIns="0" rIns="0">
            <a:spAutoFit/>
          </a:bodyPr>
          <a:lstStyle/>
          <a:p>
            <a:pPr algn="ctr">
              <a:lnSpc>
                <a:spcPts val="5319"/>
              </a:lnSpc>
            </a:pPr>
            <a:r>
              <a:rPr lang="en-US" sz="3799" i="true">
                <a:solidFill>
                  <a:srgbClr val="545454"/>
                </a:solidFill>
                <a:latin typeface="Glacial Indifference Italics"/>
                <a:ea typeface="Glacial Indifference Italics"/>
                <a:cs typeface="Glacial Indifference Italics"/>
                <a:sym typeface="Glacial Indifference Italics"/>
              </a:rPr>
              <a:t>Impute or remove records with missing time data</a:t>
            </a:r>
          </a:p>
          <a:p>
            <a:pPr algn="ctr">
              <a:lnSpc>
                <a:spcPts val="5319"/>
              </a:lnSpc>
            </a:pPr>
          </a:p>
        </p:txBody>
      </p:sp>
      <p:sp>
        <p:nvSpPr>
          <p:cNvPr name="TextBox 13" id="13"/>
          <p:cNvSpPr txBox="true"/>
          <p:nvPr/>
        </p:nvSpPr>
        <p:spPr>
          <a:xfrm rot="0">
            <a:off x="687662" y="7308251"/>
            <a:ext cx="14062817" cy="1111733"/>
          </a:xfrm>
          <a:prstGeom prst="rect">
            <a:avLst/>
          </a:prstGeom>
        </p:spPr>
        <p:txBody>
          <a:bodyPr anchor="t" rtlCol="false" tIns="0" lIns="0" bIns="0" rIns="0">
            <a:spAutoFit/>
          </a:bodyPr>
          <a:lstStyle/>
          <a:p>
            <a:pPr algn="ctr">
              <a:lnSpc>
                <a:spcPts val="4623"/>
              </a:lnSpc>
            </a:pPr>
            <a:r>
              <a:rPr lang="en-US" sz="3302" i="true">
                <a:solidFill>
                  <a:srgbClr val="545454"/>
                </a:solidFill>
                <a:latin typeface="Glacial Indifference Italics"/>
                <a:ea typeface="Glacial Indifference Italics"/>
                <a:cs typeface="Glacial Indifference Italics"/>
                <a:sym typeface="Glacial Indifference Italics"/>
              </a:rPr>
              <a:t>Correct invalid time order</a:t>
            </a:r>
          </a:p>
          <a:p>
            <a:pPr algn="ctr">
              <a:lnSpc>
                <a:spcPts val="4324"/>
              </a:lnSpc>
            </a:pPr>
          </a:p>
        </p:txBody>
      </p:sp>
      <p:sp>
        <p:nvSpPr>
          <p:cNvPr name="AutoShape 14" id="14"/>
          <p:cNvSpPr/>
          <p:nvPr/>
        </p:nvSpPr>
        <p:spPr>
          <a:xfrm>
            <a:off x="9050655" y="9890503"/>
            <a:ext cx="8974393" cy="19050"/>
          </a:xfrm>
          <a:prstGeom prst="line">
            <a:avLst/>
          </a:prstGeom>
          <a:ln cap="flat" w="104775">
            <a:solidFill>
              <a:srgbClr val="E1C4B4"/>
            </a:solidFill>
            <a:prstDash val="solid"/>
            <a:headEnd type="none" len="sm" w="sm"/>
            <a:tailEnd type="none" len="sm" w="sm"/>
          </a:ln>
        </p:spPr>
      </p:sp>
      <p:sp>
        <p:nvSpPr>
          <p:cNvPr name="AutoShape 15" id="15"/>
          <p:cNvSpPr/>
          <p:nvPr/>
        </p:nvSpPr>
        <p:spPr>
          <a:xfrm>
            <a:off x="358085" y="480227"/>
            <a:ext cx="8974393" cy="19050"/>
          </a:xfrm>
          <a:prstGeom prst="line">
            <a:avLst/>
          </a:prstGeom>
          <a:ln cap="flat" w="104775">
            <a:solidFill>
              <a:srgbClr val="E1C4B4"/>
            </a:solidFill>
            <a:prstDash val="solid"/>
            <a:headEnd type="none" len="sm" w="sm"/>
            <a:tailEnd type="none" len="sm" w="sm"/>
          </a:ln>
        </p:spPr>
      </p:sp>
      <p:sp>
        <p:nvSpPr>
          <p:cNvPr name="Freeform 16" id="16"/>
          <p:cNvSpPr/>
          <p:nvPr/>
        </p:nvSpPr>
        <p:spPr>
          <a:xfrm flipH="false" flipV="false" rot="0">
            <a:off x="17350695" y="3922230"/>
            <a:ext cx="1348707" cy="1785381"/>
          </a:xfrm>
          <a:custGeom>
            <a:avLst/>
            <a:gdLst/>
            <a:ahLst/>
            <a:cxnLst/>
            <a:rect r="r" b="b" t="t" l="l"/>
            <a:pathLst>
              <a:path h="1785381" w="1348707">
                <a:moveTo>
                  <a:pt x="0" y="0"/>
                </a:moveTo>
                <a:lnTo>
                  <a:pt x="1348707" y="0"/>
                </a:lnTo>
                <a:lnTo>
                  <a:pt x="1348707" y="1785381"/>
                </a:lnTo>
                <a:lnTo>
                  <a:pt x="0" y="17853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17" id="17"/>
          <p:cNvSpPr/>
          <p:nvPr/>
        </p:nvSpPr>
        <p:spPr>
          <a:xfrm flipV="true">
            <a:off x="13178791" y="453294"/>
            <a:ext cx="1515543" cy="0"/>
          </a:xfrm>
          <a:prstGeom prst="line">
            <a:avLst/>
          </a:prstGeom>
          <a:ln cap="flat" w="114300">
            <a:solidFill>
              <a:srgbClr val="E1C4B4"/>
            </a:solidFill>
            <a:prstDash val="solid"/>
            <a:headEnd type="none" len="sm" w="sm"/>
            <a:tailEnd type="none" len="sm" w="sm"/>
          </a:ln>
        </p:spPr>
      </p:sp>
      <p:grpSp>
        <p:nvGrpSpPr>
          <p:cNvPr name="Group 18" id="18"/>
          <p:cNvGrpSpPr/>
          <p:nvPr/>
        </p:nvGrpSpPr>
        <p:grpSpPr>
          <a:xfrm rot="0">
            <a:off x="14509090" y="147333"/>
            <a:ext cx="587867" cy="58786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1C4B4"/>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3616423" y="187070"/>
            <a:ext cx="587867" cy="587867"/>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C0D12"/>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2664563" y="187070"/>
            <a:ext cx="587867" cy="587867"/>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1C4B4"/>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grpSp>
        <p:nvGrpSpPr>
          <p:cNvPr name="Group 2" id="2"/>
          <p:cNvGrpSpPr/>
          <p:nvPr/>
        </p:nvGrpSpPr>
        <p:grpSpPr>
          <a:xfrm rot="-10800000">
            <a:off x="15324910" y="139442"/>
            <a:ext cx="3045158" cy="205201"/>
            <a:chOff x="0" y="0"/>
            <a:chExt cx="1829122" cy="123257"/>
          </a:xfrm>
        </p:grpSpPr>
        <p:sp>
          <p:nvSpPr>
            <p:cNvPr name="Freeform 3" id="3"/>
            <p:cNvSpPr/>
            <p:nvPr/>
          </p:nvSpPr>
          <p:spPr>
            <a:xfrm flipH="false" flipV="false" rot="0">
              <a:off x="0" y="0"/>
              <a:ext cx="1829122" cy="123257"/>
            </a:xfrm>
            <a:custGeom>
              <a:avLst/>
              <a:gdLst/>
              <a:ahLst/>
              <a:cxnLst/>
              <a:rect r="r" b="b" t="t" l="l"/>
              <a:pathLst>
                <a:path h="123257" w="1829122">
                  <a:moveTo>
                    <a:pt x="61629" y="0"/>
                  </a:moveTo>
                  <a:lnTo>
                    <a:pt x="1767493" y="0"/>
                  </a:lnTo>
                  <a:cubicBezTo>
                    <a:pt x="1801530" y="0"/>
                    <a:pt x="1829122" y="27592"/>
                    <a:pt x="1829122" y="61629"/>
                  </a:cubicBezTo>
                  <a:lnTo>
                    <a:pt x="1829122" y="61629"/>
                  </a:lnTo>
                  <a:cubicBezTo>
                    <a:pt x="1829122" y="77974"/>
                    <a:pt x="1822629" y="93649"/>
                    <a:pt x="1811071" y="105207"/>
                  </a:cubicBezTo>
                  <a:cubicBezTo>
                    <a:pt x="1799513" y="116764"/>
                    <a:pt x="1783838" y="123257"/>
                    <a:pt x="1767493" y="123257"/>
                  </a:cubicBezTo>
                  <a:lnTo>
                    <a:pt x="61629" y="123257"/>
                  </a:lnTo>
                  <a:cubicBezTo>
                    <a:pt x="27592" y="123257"/>
                    <a:pt x="0" y="95665"/>
                    <a:pt x="0" y="61629"/>
                  </a:cubicBezTo>
                  <a:lnTo>
                    <a:pt x="0" y="61629"/>
                  </a:lnTo>
                  <a:cubicBezTo>
                    <a:pt x="0" y="27592"/>
                    <a:pt x="27592" y="0"/>
                    <a:pt x="61629" y="0"/>
                  </a:cubicBezTo>
                  <a:close/>
                </a:path>
              </a:pathLst>
            </a:custGeom>
            <a:solidFill>
              <a:srgbClr val="7A0000"/>
            </a:solidFill>
          </p:spPr>
        </p:sp>
        <p:sp>
          <p:nvSpPr>
            <p:cNvPr name="TextBox 4" id="4"/>
            <p:cNvSpPr txBox="true"/>
            <p:nvPr/>
          </p:nvSpPr>
          <p:spPr>
            <a:xfrm>
              <a:off x="0" y="-38100"/>
              <a:ext cx="1829122" cy="161357"/>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586988"/>
            <a:ext cx="484272" cy="483408"/>
          </a:xfrm>
          <a:custGeom>
            <a:avLst/>
            <a:gdLst/>
            <a:ahLst/>
            <a:cxnLst/>
            <a:rect r="r" b="b" t="t" l="l"/>
            <a:pathLst>
              <a:path h="483408" w="484272">
                <a:moveTo>
                  <a:pt x="0" y="0"/>
                </a:moveTo>
                <a:lnTo>
                  <a:pt x="484272" y="0"/>
                </a:lnTo>
                <a:lnTo>
                  <a:pt x="484272" y="483408"/>
                </a:lnTo>
                <a:lnTo>
                  <a:pt x="0" y="483408"/>
                </a:lnTo>
                <a:lnTo>
                  <a:pt x="0" y="0"/>
                </a:lnTo>
                <a:close/>
              </a:path>
            </a:pathLst>
          </a:custGeom>
          <a:blipFill>
            <a:blip r:embed="rId2"/>
            <a:stretch>
              <a:fillRect l="0" t="0" r="0" b="0"/>
            </a:stretch>
          </a:blipFill>
        </p:spPr>
      </p:sp>
      <p:sp>
        <p:nvSpPr>
          <p:cNvPr name="Freeform 6" id="6"/>
          <p:cNvSpPr/>
          <p:nvPr/>
        </p:nvSpPr>
        <p:spPr>
          <a:xfrm flipH="false" flipV="false" rot="0">
            <a:off x="3888479" y="2471064"/>
            <a:ext cx="9695831" cy="1220622"/>
          </a:xfrm>
          <a:custGeom>
            <a:avLst/>
            <a:gdLst/>
            <a:ahLst/>
            <a:cxnLst/>
            <a:rect r="r" b="b" t="t" l="l"/>
            <a:pathLst>
              <a:path h="1220622" w="9695831">
                <a:moveTo>
                  <a:pt x="0" y="0"/>
                </a:moveTo>
                <a:lnTo>
                  <a:pt x="9695830" y="0"/>
                </a:lnTo>
                <a:lnTo>
                  <a:pt x="9695830" y="1220622"/>
                </a:lnTo>
                <a:lnTo>
                  <a:pt x="0" y="1220622"/>
                </a:lnTo>
                <a:lnTo>
                  <a:pt x="0" y="0"/>
                </a:lnTo>
                <a:close/>
              </a:path>
            </a:pathLst>
          </a:custGeom>
          <a:blipFill>
            <a:blip r:embed="rId3"/>
            <a:stretch>
              <a:fillRect l="0" t="-5230" r="-724" b="-5230"/>
            </a:stretch>
          </a:blipFill>
        </p:spPr>
      </p:sp>
      <p:sp>
        <p:nvSpPr>
          <p:cNvPr name="Freeform 7" id="7"/>
          <p:cNvSpPr/>
          <p:nvPr/>
        </p:nvSpPr>
        <p:spPr>
          <a:xfrm flipH="false" flipV="false" rot="0">
            <a:off x="8382170" y="5799070"/>
            <a:ext cx="9987898" cy="2080812"/>
          </a:xfrm>
          <a:custGeom>
            <a:avLst/>
            <a:gdLst/>
            <a:ahLst/>
            <a:cxnLst/>
            <a:rect r="r" b="b" t="t" l="l"/>
            <a:pathLst>
              <a:path h="2080812" w="9987898">
                <a:moveTo>
                  <a:pt x="0" y="0"/>
                </a:moveTo>
                <a:lnTo>
                  <a:pt x="9987898" y="0"/>
                </a:lnTo>
                <a:lnTo>
                  <a:pt x="9987898" y="2080812"/>
                </a:lnTo>
                <a:lnTo>
                  <a:pt x="0" y="2080812"/>
                </a:lnTo>
                <a:lnTo>
                  <a:pt x="0" y="0"/>
                </a:lnTo>
                <a:close/>
              </a:path>
            </a:pathLst>
          </a:custGeom>
          <a:blipFill>
            <a:blip r:embed="rId4"/>
            <a:stretch>
              <a:fillRect l="0" t="0" r="0" b="0"/>
            </a:stretch>
          </a:blipFill>
        </p:spPr>
      </p:sp>
      <p:sp>
        <p:nvSpPr>
          <p:cNvPr name="Freeform 8" id="8"/>
          <p:cNvSpPr/>
          <p:nvPr/>
        </p:nvSpPr>
        <p:spPr>
          <a:xfrm flipH="false" flipV="false" rot="0">
            <a:off x="202342" y="5694723"/>
            <a:ext cx="7760630" cy="3563577"/>
          </a:xfrm>
          <a:custGeom>
            <a:avLst/>
            <a:gdLst/>
            <a:ahLst/>
            <a:cxnLst/>
            <a:rect r="r" b="b" t="t" l="l"/>
            <a:pathLst>
              <a:path h="3563577" w="7760630">
                <a:moveTo>
                  <a:pt x="0" y="0"/>
                </a:moveTo>
                <a:lnTo>
                  <a:pt x="7760630" y="0"/>
                </a:lnTo>
                <a:lnTo>
                  <a:pt x="7760630" y="3563577"/>
                </a:lnTo>
                <a:lnTo>
                  <a:pt x="0" y="3563577"/>
                </a:lnTo>
                <a:lnTo>
                  <a:pt x="0" y="0"/>
                </a:lnTo>
                <a:close/>
              </a:path>
            </a:pathLst>
          </a:custGeom>
          <a:blipFill>
            <a:blip r:embed="rId5"/>
            <a:stretch>
              <a:fillRect l="-2857" t="0" r="0" b="0"/>
            </a:stretch>
          </a:blipFill>
        </p:spPr>
      </p:sp>
      <p:sp>
        <p:nvSpPr>
          <p:cNvPr name="TextBox 9" id="9"/>
          <p:cNvSpPr txBox="true"/>
          <p:nvPr/>
        </p:nvSpPr>
        <p:spPr>
          <a:xfrm rot="0">
            <a:off x="-2711309" y="4920700"/>
            <a:ext cx="14062817" cy="1111733"/>
          </a:xfrm>
          <a:prstGeom prst="rect">
            <a:avLst/>
          </a:prstGeom>
        </p:spPr>
        <p:txBody>
          <a:bodyPr anchor="t" rtlCol="false" tIns="0" lIns="0" bIns="0" rIns="0">
            <a:spAutoFit/>
          </a:bodyPr>
          <a:lstStyle/>
          <a:p>
            <a:pPr algn="ctr">
              <a:lnSpc>
                <a:spcPts val="4623"/>
              </a:lnSpc>
            </a:pPr>
            <a:r>
              <a:rPr lang="en-US" sz="3302" i="true">
                <a:solidFill>
                  <a:srgbClr val="545454"/>
                </a:solidFill>
                <a:latin typeface="Glacial Indifference Italics"/>
                <a:ea typeface="Glacial Indifference Italics"/>
                <a:cs typeface="Glacial Indifference Italics"/>
                <a:sym typeface="Glacial Indifference Italics"/>
              </a:rPr>
              <a:t>Map to Male/Female</a:t>
            </a:r>
          </a:p>
          <a:p>
            <a:pPr algn="ctr">
              <a:lnSpc>
                <a:spcPts val="4324"/>
              </a:lnSpc>
            </a:pPr>
          </a:p>
        </p:txBody>
      </p:sp>
      <p:sp>
        <p:nvSpPr>
          <p:cNvPr name="TextBox 10" id="10"/>
          <p:cNvSpPr txBox="true"/>
          <p:nvPr/>
        </p:nvSpPr>
        <p:spPr>
          <a:xfrm rot="0">
            <a:off x="14047890" y="354168"/>
            <a:ext cx="5930326" cy="404518"/>
          </a:xfrm>
          <a:prstGeom prst="rect">
            <a:avLst/>
          </a:prstGeom>
        </p:spPr>
        <p:txBody>
          <a:bodyPr anchor="t" rtlCol="false" tIns="0" lIns="0" bIns="0" rIns="0">
            <a:spAutoFit/>
          </a:bodyPr>
          <a:lstStyle/>
          <a:p>
            <a:pPr algn="ctr">
              <a:lnSpc>
                <a:spcPts val="3129"/>
              </a:lnSpc>
            </a:pPr>
            <a:r>
              <a:rPr lang="en-US" b="true" sz="2721">
                <a:solidFill>
                  <a:srgbClr val="501934"/>
                </a:solidFill>
                <a:latin typeface="Aileron Bold"/>
                <a:ea typeface="Aileron Bold"/>
                <a:cs typeface="Aileron Bold"/>
                <a:sym typeface="Aileron Bold"/>
              </a:rPr>
              <a:t>ETL PROCESS</a:t>
            </a:r>
          </a:p>
        </p:txBody>
      </p:sp>
      <p:sp>
        <p:nvSpPr>
          <p:cNvPr name="TextBox 11" id="11"/>
          <p:cNvSpPr txBox="true"/>
          <p:nvPr/>
        </p:nvSpPr>
        <p:spPr>
          <a:xfrm rot="0">
            <a:off x="1632419" y="484990"/>
            <a:ext cx="6330553" cy="620730"/>
          </a:xfrm>
          <a:prstGeom prst="rect">
            <a:avLst/>
          </a:prstGeom>
        </p:spPr>
        <p:txBody>
          <a:bodyPr anchor="t" rtlCol="false" tIns="0" lIns="0" bIns="0" rIns="0">
            <a:spAutoFit/>
          </a:bodyPr>
          <a:lstStyle/>
          <a:p>
            <a:pPr algn="ctr">
              <a:lnSpc>
                <a:spcPts val="5161"/>
              </a:lnSpc>
            </a:pPr>
            <a:r>
              <a:rPr lang="en-US" sz="3686" b="true">
                <a:solidFill>
                  <a:srgbClr val="21170D"/>
                </a:solidFill>
                <a:latin typeface="Montserrat Bold"/>
                <a:ea typeface="Montserrat Bold"/>
                <a:cs typeface="Montserrat Bold"/>
                <a:sym typeface="Montserrat Bold"/>
              </a:rPr>
              <a:t> DATA TRANSFORMATION</a:t>
            </a:r>
          </a:p>
        </p:txBody>
      </p:sp>
      <p:sp>
        <p:nvSpPr>
          <p:cNvPr name="TextBox 12" id="12"/>
          <p:cNvSpPr txBox="true"/>
          <p:nvPr/>
        </p:nvSpPr>
        <p:spPr>
          <a:xfrm rot="0">
            <a:off x="2299810" y="1603076"/>
            <a:ext cx="12605794" cy="1313180"/>
          </a:xfrm>
          <a:prstGeom prst="rect">
            <a:avLst/>
          </a:prstGeom>
        </p:spPr>
        <p:txBody>
          <a:bodyPr anchor="t" rtlCol="false" tIns="0" lIns="0" bIns="0" rIns="0">
            <a:spAutoFit/>
          </a:bodyPr>
          <a:lstStyle/>
          <a:p>
            <a:pPr algn="ctr">
              <a:lnSpc>
                <a:spcPts val="5319"/>
              </a:lnSpc>
            </a:pPr>
            <a:r>
              <a:rPr lang="en-US" sz="3799" i="true">
                <a:solidFill>
                  <a:srgbClr val="545454"/>
                </a:solidFill>
                <a:latin typeface="Glacial Indifference Italics"/>
                <a:ea typeface="Glacial Indifference Italics"/>
                <a:cs typeface="Glacial Indifference Italics"/>
                <a:sym typeface="Glacial Indifference Italics"/>
              </a:rPr>
              <a:t>Standardize gender values/Normalize gender formatting</a:t>
            </a:r>
          </a:p>
          <a:p>
            <a:pPr algn="ctr">
              <a:lnSpc>
                <a:spcPts val="5319"/>
              </a:lnSpc>
            </a:pPr>
          </a:p>
        </p:txBody>
      </p:sp>
      <p:sp>
        <p:nvSpPr>
          <p:cNvPr name="TextBox 13" id="13"/>
          <p:cNvSpPr txBox="true"/>
          <p:nvPr/>
        </p:nvSpPr>
        <p:spPr>
          <a:xfrm rot="0">
            <a:off x="6869368" y="4920700"/>
            <a:ext cx="14062817" cy="1690066"/>
          </a:xfrm>
          <a:prstGeom prst="rect">
            <a:avLst/>
          </a:prstGeom>
        </p:spPr>
        <p:txBody>
          <a:bodyPr anchor="t" rtlCol="false" tIns="0" lIns="0" bIns="0" rIns="0">
            <a:spAutoFit/>
          </a:bodyPr>
          <a:lstStyle/>
          <a:p>
            <a:pPr algn="ctr">
              <a:lnSpc>
                <a:spcPts val="4623"/>
              </a:lnSpc>
            </a:pPr>
            <a:r>
              <a:rPr lang="en-US" sz="3302" i="true">
                <a:solidFill>
                  <a:srgbClr val="545454"/>
                </a:solidFill>
                <a:latin typeface="Glacial Indifference Italics"/>
                <a:ea typeface="Glacial Indifference Italics"/>
                <a:cs typeface="Glacial Indifference Italics"/>
                <a:sym typeface="Glacial Indifference Italics"/>
              </a:rPr>
              <a:t>Drop invalid gender records</a:t>
            </a:r>
          </a:p>
          <a:p>
            <a:pPr algn="ctr">
              <a:lnSpc>
                <a:spcPts val="4623"/>
              </a:lnSpc>
            </a:pPr>
          </a:p>
          <a:p>
            <a:pPr algn="ctr">
              <a:lnSpc>
                <a:spcPts val="4324"/>
              </a:lnSpc>
            </a:pPr>
          </a:p>
        </p:txBody>
      </p:sp>
      <p:grpSp>
        <p:nvGrpSpPr>
          <p:cNvPr name="Group 14" id="14"/>
          <p:cNvGrpSpPr/>
          <p:nvPr/>
        </p:nvGrpSpPr>
        <p:grpSpPr>
          <a:xfrm rot="0">
            <a:off x="16369119" y="8687400"/>
            <a:ext cx="3837762" cy="383776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9161B"/>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5400000">
            <a:off x="16642020" y="9959297"/>
            <a:ext cx="2364391" cy="1293966"/>
          </a:xfrm>
          <a:custGeom>
            <a:avLst/>
            <a:gdLst/>
            <a:ahLst/>
            <a:cxnLst/>
            <a:rect r="r" b="b" t="t" l="l"/>
            <a:pathLst>
              <a:path h="1293966" w="2364391">
                <a:moveTo>
                  <a:pt x="0" y="0"/>
                </a:moveTo>
                <a:lnTo>
                  <a:pt x="2364390" y="0"/>
                </a:lnTo>
                <a:lnTo>
                  <a:pt x="2364390" y="1293967"/>
                </a:lnTo>
                <a:lnTo>
                  <a:pt x="0" y="12939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18" id="18"/>
          <p:cNvSpPr/>
          <p:nvPr/>
        </p:nvSpPr>
        <p:spPr>
          <a:xfrm flipV="true">
            <a:off x="13144664" y="445453"/>
            <a:ext cx="1515543" cy="0"/>
          </a:xfrm>
          <a:prstGeom prst="line">
            <a:avLst/>
          </a:prstGeom>
          <a:ln cap="flat" w="114300">
            <a:solidFill>
              <a:srgbClr val="E1C4B4"/>
            </a:solidFill>
            <a:prstDash val="solid"/>
            <a:headEnd type="none" len="sm" w="sm"/>
            <a:tailEnd type="none" len="sm" w="sm"/>
          </a:ln>
        </p:spPr>
      </p:sp>
      <p:grpSp>
        <p:nvGrpSpPr>
          <p:cNvPr name="Group 19" id="19"/>
          <p:cNvGrpSpPr/>
          <p:nvPr/>
        </p:nvGrpSpPr>
        <p:grpSpPr>
          <a:xfrm rot="0">
            <a:off x="14474963" y="139492"/>
            <a:ext cx="587867" cy="58786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1C4B4"/>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3582296" y="179229"/>
            <a:ext cx="587867" cy="587867"/>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C0D12"/>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2630436" y="179229"/>
            <a:ext cx="587867" cy="587867"/>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1C4B4"/>
            </a:soli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grpSp>
        <p:nvGrpSpPr>
          <p:cNvPr name="Group 2" id="2"/>
          <p:cNvGrpSpPr/>
          <p:nvPr/>
        </p:nvGrpSpPr>
        <p:grpSpPr>
          <a:xfrm rot="-10800000">
            <a:off x="15324910" y="139442"/>
            <a:ext cx="3045158" cy="205201"/>
            <a:chOff x="0" y="0"/>
            <a:chExt cx="1829122" cy="123257"/>
          </a:xfrm>
        </p:grpSpPr>
        <p:sp>
          <p:nvSpPr>
            <p:cNvPr name="Freeform 3" id="3"/>
            <p:cNvSpPr/>
            <p:nvPr/>
          </p:nvSpPr>
          <p:spPr>
            <a:xfrm flipH="false" flipV="false" rot="0">
              <a:off x="0" y="0"/>
              <a:ext cx="1829122" cy="123257"/>
            </a:xfrm>
            <a:custGeom>
              <a:avLst/>
              <a:gdLst/>
              <a:ahLst/>
              <a:cxnLst/>
              <a:rect r="r" b="b" t="t" l="l"/>
              <a:pathLst>
                <a:path h="123257" w="1829122">
                  <a:moveTo>
                    <a:pt x="61629" y="0"/>
                  </a:moveTo>
                  <a:lnTo>
                    <a:pt x="1767493" y="0"/>
                  </a:lnTo>
                  <a:cubicBezTo>
                    <a:pt x="1801530" y="0"/>
                    <a:pt x="1829122" y="27592"/>
                    <a:pt x="1829122" y="61629"/>
                  </a:cubicBezTo>
                  <a:lnTo>
                    <a:pt x="1829122" y="61629"/>
                  </a:lnTo>
                  <a:cubicBezTo>
                    <a:pt x="1829122" y="77974"/>
                    <a:pt x="1822629" y="93649"/>
                    <a:pt x="1811071" y="105207"/>
                  </a:cubicBezTo>
                  <a:cubicBezTo>
                    <a:pt x="1799513" y="116764"/>
                    <a:pt x="1783838" y="123257"/>
                    <a:pt x="1767493" y="123257"/>
                  </a:cubicBezTo>
                  <a:lnTo>
                    <a:pt x="61629" y="123257"/>
                  </a:lnTo>
                  <a:cubicBezTo>
                    <a:pt x="27592" y="123257"/>
                    <a:pt x="0" y="95665"/>
                    <a:pt x="0" y="61629"/>
                  </a:cubicBezTo>
                  <a:lnTo>
                    <a:pt x="0" y="61629"/>
                  </a:lnTo>
                  <a:cubicBezTo>
                    <a:pt x="0" y="27592"/>
                    <a:pt x="27592" y="0"/>
                    <a:pt x="61629" y="0"/>
                  </a:cubicBezTo>
                  <a:close/>
                </a:path>
              </a:pathLst>
            </a:custGeom>
            <a:solidFill>
              <a:srgbClr val="7A0000"/>
            </a:solidFill>
          </p:spPr>
        </p:sp>
        <p:sp>
          <p:nvSpPr>
            <p:cNvPr name="TextBox 4" id="4"/>
            <p:cNvSpPr txBox="true"/>
            <p:nvPr/>
          </p:nvSpPr>
          <p:spPr>
            <a:xfrm>
              <a:off x="0" y="-38100"/>
              <a:ext cx="1829122" cy="161357"/>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586988"/>
            <a:ext cx="484272" cy="483408"/>
          </a:xfrm>
          <a:custGeom>
            <a:avLst/>
            <a:gdLst/>
            <a:ahLst/>
            <a:cxnLst/>
            <a:rect r="r" b="b" t="t" l="l"/>
            <a:pathLst>
              <a:path h="483408" w="484272">
                <a:moveTo>
                  <a:pt x="0" y="0"/>
                </a:moveTo>
                <a:lnTo>
                  <a:pt x="484272" y="0"/>
                </a:lnTo>
                <a:lnTo>
                  <a:pt x="484272" y="483408"/>
                </a:lnTo>
                <a:lnTo>
                  <a:pt x="0" y="483408"/>
                </a:lnTo>
                <a:lnTo>
                  <a:pt x="0" y="0"/>
                </a:lnTo>
                <a:close/>
              </a:path>
            </a:pathLst>
          </a:custGeom>
          <a:blipFill>
            <a:blip r:embed="rId2"/>
            <a:stretch>
              <a:fillRect l="0" t="0" r="0" b="0"/>
            </a:stretch>
          </a:blipFill>
        </p:spPr>
      </p:sp>
      <p:sp>
        <p:nvSpPr>
          <p:cNvPr name="Freeform 6" id="6"/>
          <p:cNvSpPr/>
          <p:nvPr/>
        </p:nvSpPr>
        <p:spPr>
          <a:xfrm flipH="false" flipV="false" rot="0">
            <a:off x="3217933" y="2125234"/>
            <a:ext cx="8204893" cy="822621"/>
          </a:xfrm>
          <a:custGeom>
            <a:avLst/>
            <a:gdLst/>
            <a:ahLst/>
            <a:cxnLst/>
            <a:rect r="r" b="b" t="t" l="l"/>
            <a:pathLst>
              <a:path h="822621" w="8204893">
                <a:moveTo>
                  <a:pt x="0" y="0"/>
                </a:moveTo>
                <a:lnTo>
                  <a:pt x="8204893" y="0"/>
                </a:lnTo>
                <a:lnTo>
                  <a:pt x="8204893" y="822620"/>
                </a:lnTo>
                <a:lnTo>
                  <a:pt x="0" y="822620"/>
                </a:lnTo>
                <a:lnTo>
                  <a:pt x="0" y="0"/>
                </a:lnTo>
                <a:close/>
              </a:path>
            </a:pathLst>
          </a:custGeom>
          <a:blipFill>
            <a:blip r:embed="rId3"/>
            <a:stretch>
              <a:fillRect l="0" t="-1017" r="0" b="-15533"/>
            </a:stretch>
          </a:blipFill>
        </p:spPr>
      </p:sp>
      <p:sp>
        <p:nvSpPr>
          <p:cNvPr name="Freeform 7" id="7"/>
          <p:cNvSpPr/>
          <p:nvPr/>
        </p:nvSpPr>
        <p:spPr>
          <a:xfrm flipH="false" flipV="false" rot="0">
            <a:off x="2971686" y="4197245"/>
            <a:ext cx="10481528" cy="927569"/>
          </a:xfrm>
          <a:custGeom>
            <a:avLst/>
            <a:gdLst/>
            <a:ahLst/>
            <a:cxnLst/>
            <a:rect r="r" b="b" t="t" l="l"/>
            <a:pathLst>
              <a:path h="927569" w="10481528">
                <a:moveTo>
                  <a:pt x="0" y="0"/>
                </a:moveTo>
                <a:lnTo>
                  <a:pt x="10481528" y="0"/>
                </a:lnTo>
                <a:lnTo>
                  <a:pt x="10481528" y="927569"/>
                </a:lnTo>
                <a:lnTo>
                  <a:pt x="0" y="927569"/>
                </a:lnTo>
                <a:lnTo>
                  <a:pt x="0" y="0"/>
                </a:lnTo>
                <a:close/>
              </a:path>
            </a:pathLst>
          </a:custGeom>
          <a:blipFill>
            <a:blip r:embed="rId4"/>
            <a:stretch>
              <a:fillRect l="0" t="0" r="0" b="0"/>
            </a:stretch>
          </a:blipFill>
        </p:spPr>
      </p:sp>
      <p:sp>
        <p:nvSpPr>
          <p:cNvPr name="Freeform 8" id="8"/>
          <p:cNvSpPr/>
          <p:nvPr/>
        </p:nvSpPr>
        <p:spPr>
          <a:xfrm flipH="false" flipV="false" rot="0">
            <a:off x="3903236" y="6178784"/>
            <a:ext cx="10485385" cy="537237"/>
          </a:xfrm>
          <a:custGeom>
            <a:avLst/>
            <a:gdLst/>
            <a:ahLst/>
            <a:cxnLst/>
            <a:rect r="r" b="b" t="t" l="l"/>
            <a:pathLst>
              <a:path h="537237" w="10485385">
                <a:moveTo>
                  <a:pt x="0" y="0"/>
                </a:moveTo>
                <a:lnTo>
                  <a:pt x="10485385" y="0"/>
                </a:lnTo>
                <a:lnTo>
                  <a:pt x="10485385" y="537237"/>
                </a:lnTo>
                <a:lnTo>
                  <a:pt x="0" y="537237"/>
                </a:lnTo>
                <a:lnTo>
                  <a:pt x="0" y="0"/>
                </a:lnTo>
                <a:close/>
              </a:path>
            </a:pathLst>
          </a:custGeom>
          <a:blipFill>
            <a:blip r:embed="rId5"/>
            <a:stretch>
              <a:fillRect l="0" t="0" r="0" b="0"/>
            </a:stretch>
          </a:blipFill>
        </p:spPr>
      </p:sp>
      <p:sp>
        <p:nvSpPr>
          <p:cNvPr name="Freeform 9" id="9"/>
          <p:cNvSpPr/>
          <p:nvPr/>
        </p:nvSpPr>
        <p:spPr>
          <a:xfrm flipH="false" flipV="false" rot="0">
            <a:off x="3359184" y="7856848"/>
            <a:ext cx="10688706" cy="1930863"/>
          </a:xfrm>
          <a:custGeom>
            <a:avLst/>
            <a:gdLst/>
            <a:ahLst/>
            <a:cxnLst/>
            <a:rect r="r" b="b" t="t" l="l"/>
            <a:pathLst>
              <a:path h="1930863" w="10688706">
                <a:moveTo>
                  <a:pt x="0" y="0"/>
                </a:moveTo>
                <a:lnTo>
                  <a:pt x="10688706" y="0"/>
                </a:lnTo>
                <a:lnTo>
                  <a:pt x="10688706" y="1930863"/>
                </a:lnTo>
                <a:lnTo>
                  <a:pt x="0" y="1930863"/>
                </a:lnTo>
                <a:lnTo>
                  <a:pt x="0" y="0"/>
                </a:lnTo>
                <a:close/>
              </a:path>
            </a:pathLst>
          </a:custGeom>
          <a:blipFill>
            <a:blip r:embed="rId6"/>
            <a:stretch>
              <a:fillRect l="0" t="0" r="0" b="0"/>
            </a:stretch>
          </a:blipFill>
        </p:spPr>
      </p:sp>
      <p:sp>
        <p:nvSpPr>
          <p:cNvPr name="TextBox 10" id="10"/>
          <p:cNvSpPr txBox="true"/>
          <p:nvPr/>
        </p:nvSpPr>
        <p:spPr>
          <a:xfrm rot="0">
            <a:off x="14047890" y="354168"/>
            <a:ext cx="5930326" cy="404518"/>
          </a:xfrm>
          <a:prstGeom prst="rect">
            <a:avLst/>
          </a:prstGeom>
        </p:spPr>
        <p:txBody>
          <a:bodyPr anchor="t" rtlCol="false" tIns="0" lIns="0" bIns="0" rIns="0">
            <a:spAutoFit/>
          </a:bodyPr>
          <a:lstStyle/>
          <a:p>
            <a:pPr algn="ctr">
              <a:lnSpc>
                <a:spcPts val="3129"/>
              </a:lnSpc>
            </a:pPr>
            <a:r>
              <a:rPr lang="en-US" b="true" sz="2721">
                <a:solidFill>
                  <a:srgbClr val="501934"/>
                </a:solidFill>
                <a:latin typeface="Aileron Bold"/>
                <a:ea typeface="Aileron Bold"/>
                <a:cs typeface="Aileron Bold"/>
                <a:sym typeface="Aileron Bold"/>
              </a:rPr>
              <a:t>ETL PROCESS</a:t>
            </a:r>
          </a:p>
        </p:txBody>
      </p:sp>
      <p:sp>
        <p:nvSpPr>
          <p:cNvPr name="TextBox 11" id="11"/>
          <p:cNvSpPr txBox="true"/>
          <p:nvPr/>
        </p:nvSpPr>
        <p:spPr>
          <a:xfrm rot="0">
            <a:off x="1632419" y="484990"/>
            <a:ext cx="6330553" cy="620730"/>
          </a:xfrm>
          <a:prstGeom prst="rect">
            <a:avLst/>
          </a:prstGeom>
        </p:spPr>
        <p:txBody>
          <a:bodyPr anchor="t" rtlCol="false" tIns="0" lIns="0" bIns="0" rIns="0">
            <a:spAutoFit/>
          </a:bodyPr>
          <a:lstStyle/>
          <a:p>
            <a:pPr algn="ctr">
              <a:lnSpc>
                <a:spcPts val="5161"/>
              </a:lnSpc>
            </a:pPr>
            <a:r>
              <a:rPr lang="en-US" sz="3686" b="true">
                <a:solidFill>
                  <a:srgbClr val="21170D"/>
                </a:solidFill>
                <a:latin typeface="Montserrat Bold"/>
                <a:ea typeface="Montserrat Bold"/>
                <a:cs typeface="Montserrat Bold"/>
                <a:sym typeface="Montserrat Bold"/>
              </a:rPr>
              <a:t> DATA TRANSFORMATION</a:t>
            </a:r>
          </a:p>
        </p:txBody>
      </p:sp>
      <p:sp>
        <p:nvSpPr>
          <p:cNvPr name="TextBox 12" id="12"/>
          <p:cNvSpPr txBox="true"/>
          <p:nvPr/>
        </p:nvSpPr>
        <p:spPr>
          <a:xfrm rot="0">
            <a:off x="1512972" y="1430543"/>
            <a:ext cx="10883922" cy="1313180"/>
          </a:xfrm>
          <a:prstGeom prst="rect">
            <a:avLst/>
          </a:prstGeom>
        </p:spPr>
        <p:txBody>
          <a:bodyPr anchor="t" rtlCol="false" tIns="0" lIns="0" bIns="0" rIns="0">
            <a:spAutoFit/>
          </a:bodyPr>
          <a:lstStyle/>
          <a:p>
            <a:pPr algn="ctr">
              <a:lnSpc>
                <a:spcPts val="5319"/>
              </a:lnSpc>
            </a:pPr>
            <a:r>
              <a:rPr lang="en-US" sz="3799" i="true">
                <a:solidFill>
                  <a:srgbClr val="545454"/>
                </a:solidFill>
                <a:latin typeface="Glacial Indifference Italics"/>
                <a:ea typeface="Glacial Indifference Italics"/>
                <a:cs typeface="Glacial Indifference Italics"/>
                <a:sym typeface="Glacial Indifference Italics"/>
              </a:rPr>
              <a:t>Remove invalid ages</a:t>
            </a:r>
          </a:p>
          <a:p>
            <a:pPr algn="ctr">
              <a:lnSpc>
                <a:spcPts val="5319"/>
              </a:lnSpc>
            </a:pPr>
          </a:p>
        </p:txBody>
      </p:sp>
      <p:sp>
        <p:nvSpPr>
          <p:cNvPr name="TextBox 13" id="13"/>
          <p:cNvSpPr txBox="true"/>
          <p:nvPr/>
        </p:nvSpPr>
        <p:spPr>
          <a:xfrm rot="0">
            <a:off x="1816480" y="3419881"/>
            <a:ext cx="14526210" cy="1637500"/>
          </a:xfrm>
          <a:prstGeom prst="rect">
            <a:avLst/>
          </a:prstGeom>
        </p:spPr>
        <p:txBody>
          <a:bodyPr anchor="t" rtlCol="false" tIns="0" lIns="0" bIns="0" rIns="0">
            <a:spAutoFit/>
          </a:bodyPr>
          <a:lstStyle/>
          <a:p>
            <a:pPr algn="ctr">
              <a:lnSpc>
                <a:spcPts val="4800"/>
              </a:lnSpc>
            </a:pPr>
            <a:r>
              <a:rPr lang="en-US" sz="3428" i="true">
                <a:solidFill>
                  <a:srgbClr val="545454"/>
                </a:solidFill>
                <a:latin typeface="Glacial Indifference Italics"/>
                <a:ea typeface="Glacial Indifference Italics"/>
                <a:cs typeface="Glacial Indifference Italics"/>
                <a:sym typeface="Glacial Indifference Italics"/>
              </a:rPr>
              <a:t>Fill missing critical fields/Apply default acuity value/Apply placeholder IDs.</a:t>
            </a:r>
          </a:p>
          <a:p>
            <a:pPr algn="ctr">
              <a:lnSpc>
                <a:spcPts val="4863"/>
              </a:lnSpc>
            </a:pPr>
          </a:p>
          <a:p>
            <a:pPr algn="ctr">
              <a:lnSpc>
                <a:spcPts val="740"/>
              </a:lnSpc>
            </a:pPr>
          </a:p>
          <a:p>
            <a:pPr algn="ctr">
              <a:lnSpc>
                <a:spcPts val="803"/>
              </a:lnSpc>
            </a:pPr>
          </a:p>
          <a:p>
            <a:pPr algn="ctr">
              <a:lnSpc>
                <a:spcPts val="803"/>
              </a:lnSpc>
            </a:pPr>
          </a:p>
          <a:p>
            <a:pPr algn="ctr">
              <a:lnSpc>
                <a:spcPts val="803"/>
              </a:lnSpc>
            </a:pPr>
          </a:p>
        </p:txBody>
      </p:sp>
      <p:sp>
        <p:nvSpPr>
          <p:cNvPr name="TextBox 14" id="14"/>
          <p:cNvSpPr txBox="true"/>
          <p:nvPr/>
        </p:nvSpPr>
        <p:spPr>
          <a:xfrm rot="0">
            <a:off x="2521011" y="5448664"/>
            <a:ext cx="10883922" cy="2646680"/>
          </a:xfrm>
          <a:prstGeom prst="rect">
            <a:avLst/>
          </a:prstGeom>
        </p:spPr>
        <p:txBody>
          <a:bodyPr anchor="t" rtlCol="false" tIns="0" lIns="0" bIns="0" rIns="0">
            <a:spAutoFit/>
          </a:bodyPr>
          <a:lstStyle/>
          <a:p>
            <a:pPr algn="ctr">
              <a:lnSpc>
                <a:spcPts val="5319"/>
              </a:lnSpc>
            </a:pPr>
            <a:r>
              <a:rPr lang="en-US" sz="3799" i="true">
                <a:solidFill>
                  <a:srgbClr val="545454"/>
                </a:solidFill>
                <a:latin typeface="Glacial Indifference Italics"/>
                <a:ea typeface="Glacial Indifference Italics"/>
                <a:cs typeface="Glacial Indifference Italics"/>
                <a:sym typeface="Glacial Indifference Italics"/>
              </a:rPr>
              <a:t>Cap extreme boarding times</a:t>
            </a:r>
          </a:p>
          <a:p>
            <a:pPr algn="ctr">
              <a:lnSpc>
                <a:spcPts val="5319"/>
              </a:lnSpc>
            </a:pPr>
          </a:p>
          <a:p>
            <a:pPr algn="ctr">
              <a:lnSpc>
                <a:spcPts val="5319"/>
              </a:lnSpc>
            </a:pPr>
          </a:p>
          <a:p>
            <a:pPr algn="ctr">
              <a:lnSpc>
                <a:spcPts val="5319"/>
              </a:lnSpc>
            </a:pPr>
          </a:p>
        </p:txBody>
      </p:sp>
      <p:sp>
        <p:nvSpPr>
          <p:cNvPr name="TextBox 15" id="15"/>
          <p:cNvSpPr txBox="true"/>
          <p:nvPr/>
        </p:nvSpPr>
        <p:spPr>
          <a:xfrm rot="0">
            <a:off x="2733809" y="7141031"/>
            <a:ext cx="10883922" cy="2646680"/>
          </a:xfrm>
          <a:prstGeom prst="rect">
            <a:avLst/>
          </a:prstGeom>
        </p:spPr>
        <p:txBody>
          <a:bodyPr anchor="t" rtlCol="false" tIns="0" lIns="0" bIns="0" rIns="0">
            <a:spAutoFit/>
          </a:bodyPr>
          <a:lstStyle/>
          <a:p>
            <a:pPr algn="ctr">
              <a:lnSpc>
                <a:spcPts val="5319"/>
              </a:lnSpc>
            </a:pPr>
            <a:r>
              <a:rPr lang="en-US" sz="3799" i="true">
                <a:solidFill>
                  <a:srgbClr val="545454"/>
                </a:solidFill>
                <a:latin typeface="Glacial Indifference Italics"/>
                <a:ea typeface="Glacial Indifference Italics"/>
                <a:cs typeface="Glacial Indifference Italics"/>
                <a:sym typeface="Glacial Indifference Italics"/>
              </a:rPr>
              <a:t>Flag patients not seen</a:t>
            </a:r>
          </a:p>
          <a:p>
            <a:pPr algn="ctr">
              <a:lnSpc>
                <a:spcPts val="5319"/>
              </a:lnSpc>
            </a:pPr>
          </a:p>
          <a:p>
            <a:pPr algn="ctr">
              <a:lnSpc>
                <a:spcPts val="5319"/>
              </a:lnSpc>
            </a:pPr>
          </a:p>
          <a:p>
            <a:pPr algn="ctr">
              <a:lnSpc>
                <a:spcPts val="5319"/>
              </a:lnSpc>
            </a:pPr>
          </a:p>
        </p:txBody>
      </p:sp>
      <p:sp>
        <p:nvSpPr>
          <p:cNvPr name="Freeform 16" id="16"/>
          <p:cNvSpPr/>
          <p:nvPr/>
        </p:nvSpPr>
        <p:spPr>
          <a:xfrm flipH="false" flipV="false" rot="5400000">
            <a:off x="14267577" y="7029695"/>
            <a:ext cx="7315200" cy="247973"/>
          </a:xfrm>
          <a:custGeom>
            <a:avLst/>
            <a:gdLst/>
            <a:ahLst/>
            <a:cxnLst/>
            <a:rect r="r" b="b" t="t" l="l"/>
            <a:pathLst>
              <a:path h="247973" w="7315200">
                <a:moveTo>
                  <a:pt x="0" y="0"/>
                </a:moveTo>
                <a:lnTo>
                  <a:pt x="7315200" y="0"/>
                </a:lnTo>
                <a:lnTo>
                  <a:pt x="7315200" y="247972"/>
                </a:lnTo>
                <a:lnTo>
                  <a:pt x="0" y="24797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17" id="17"/>
          <p:cNvSpPr/>
          <p:nvPr/>
        </p:nvSpPr>
        <p:spPr>
          <a:xfrm flipV="true">
            <a:off x="13136195" y="437043"/>
            <a:ext cx="1515543" cy="0"/>
          </a:xfrm>
          <a:prstGeom prst="line">
            <a:avLst/>
          </a:prstGeom>
          <a:ln cap="flat" w="114300">
            <a:solidFill>
              <a:srgbClr val="E1C4B4"/>
            </a:solidFill>
            <a:prstDash val="solid"/>
            <a:headEnd type="none" len="sm" w="sm"/>
            <a:tailEnd type="none" len="sm" w="sm"/>
          </a:ln>
        </p:spPr>
      </p:sp>
      <p:grpSp>
        <p:nvGrpSpPr>
          <p:cNvPr name="Group 18" id="18"/>
          <p:cNvGrpSpPr/>
          <p:nvPr/>
        </p:nvGrpSpPr>
        <p:grpSpPr>
          <a:xfrm rot="0">
            <a:off x="14466494" y="131082"/>
            <a:ext cx="587867" cy="58786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1C4B4"/>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3573827" y="170819"/>
            <a:ext cx="587867" cy="587867"/>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C0D12"/>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2621968" y="170819"/>
            <a:ext cx="587867" cy="587867"/>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1C4B4"/>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grpSp>
        <p:nvGrpSpPr>
          <p:cNvPr name="Group 2" id="2"/>
          <p:cNvGrpSpPr/>
          <p:nvPr/>
        </p:nvGrpSpPr>
        <p:grpSpPr>
          <a:xfrm rot="-10800000">
            <a:off x="8175770" y="9787711"/>
            <a:ext cx="10817079" cy="518339"/>
            <a:chOff x="0" y="0"/>
            <a:chExt cx="2848943" cy="136517"/>
          </a:xfrm>
        </p:grpSpPr>
        <p:sp>
          <p:nvSpPr>
            <p:cNvPr name="Freeform 3" id="3"/>
            <p:cNvSpPr/>
            <p:nvPr/>
          </p:nvSpPr>
          <p:spPr>
            <a:xfrm flipH="false" flipV="false" rot="0">
              <a:off x="0" y="0"/>
              <a:ext cx="2848943" cy="136517"/>
            </a:xfrm>
            <a:custGeom>
              <a:avLst/>
              <a:gdLst/>
              <a:ahLst/>
              <a:cxnLst/>
              <a:rect r="r" b="b" t="t" l="l"/>
              <a:pathLst>
                <a:path h="136517" w="2848943">
                  <a:moveTo>
                    <a:pt x="68259" y="0"/>
                  </a:moveTo>
                  <a:lnTo>
                    <a:pt x="2780684" y="0"/>
                  </a:lnTo>
                  <a:cubicBezTo>
                    <a:pt x="2798787" y="0"/>
                    <a:pt x="2816149" y="7192"/>
                    <a:pt x="2828950" y="19992"/>
                  </a:cubicBezTo>
                  <a:cubicBezTo>
                    <a:pt x="2841751" y="32793"/>
                    <a:pt x="2848943" y="50155"/>
                    <a:pt x="2848943" y="68259"/>
                  </a:cubicBezTo>
                  <a:lnTo>
                    <a:pt x="2848943" y="68259"/>
                  </a:lnTo>
                  <a:cubicBezTo>
                    <a:pt x="2848943" y="86362"/>
                    <a:pt x="2841751" y="103724"/>
                    <a:pt x="2828950" y="116525"/>
                  </a:cubicBezTo>
                  <a:cubicBezTo>
                    <a:pt x="2816149" y="129326"/>
                    <a:pt x="2798787" y="136517"/>
                    <a:pt x="2780684" y="136517"/>
                  </a:cubicBezTo>
                  <a:lnTo>
                    <a:pt x="68259" y="136517"/>
                  </a:lnTo>
                  <a:cubicBezTo>
                    <a:pt x="50155" y="136517"/>
                    <a:pt x="32793" y="129326"/>
                    <a:pt x="19992" y="116525"/>
                  </a:cubicBezTo>
                  <a:cubicBezTo>
                    <a:pt x="7192" y="103724"/>
                    <a:pt x="0" y="86362"/>
                    <a:pt x="0" y="68259"/>
                  </a:cubicBezTo>
                  <a:lnTo>
                    <a:pt x="0" y="68259"/>
                  </a:lnTo>
                  <a:cubicBezTo>
                    <a:pt x="0" y="50155"/>
                    <a:pt x="7192" y="32793"/>
                    <a:pt x="19992" y="19992"/>
                  </a:cubicBezTo>
                  <a:cubicBezTo>
                    <a:pt x="32793" y="7192"/>
                    <a:pt x="50155" y="0"/>
                    <a:pt x="68259" y="0"/>
                  </a:cubicBezTo>
                  <a:close/>
                </a:path>
              </a:pathLst>
            </a:custGeom>
            <a:gradFill rotWithShape="true">
              <a:gsLst>
                <a:gs pos="0">
                  <a:srgbClr val="731919">
                    <a:alpha val="70000"/>
                  </a:srgbClr>
                </a:gs>
                <a:gs pos="100000">
                  <a:srgbClr val="E52B2B">
                    <a:alpha val="70000"/>
                  </a:srgbClr>
                </a:gs>
              </a:gsLst>
              <a:lin ang="5400000"/>
            </a:gradFill>
          </p:spPr>
        </p:sp>
        <p:sp>
          <p:nvSpPr>
            <p:cNvPr name="TextBox 4" id="4"/>
            <p:cNvSpPr txBox="true"/>
            <p:nvPr/>
          </p:nvSpPr>
          <p:spPr>
            <a:xfrm>
              <a:off x="0" y="-38100"/>
              <a:ext cx="2848943" cy="174617"/>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10800000">
            <a:off x="-1871343" y="-9525"/>
            <a:ext cx="8505674" cy="518339"/>
            <a:chOff x="0" y="0"/>
            <a:chExt cx="2240178" cy="136517"/>
          </a:xfrm>
        </p:grpSpPr>
        <p:sp>
          <p:nvSpPr>
            <p:cNvPr name="Freeform 6" id="6"/>
            <p:cNvSpPr/>
            <p:nvPr/>
          </p:nvSpPr>
          <p:spPr>
            <a:xfrm flipH="false" flipV="false" rot="0">
              <a:off x="0" y="0"/>
              <a:ext cx="2240178" cy="136517"/>
            </a:xfrm>
            <a:custGeom>
              <a:avLst/>
              <a:gdLst/>
              <a:ahLst/>
              <a:cxnLst/>
              <a:rect r="r" b="b" t="t" l="l"/>
              <a:pathLst>
                <a:path h="136517" w="2240178">
                  <a:moveTo>
                    <a:pt x="68259" y="0"/>
                  </a:moveTo>
                  <a:lnTo>
                    <a:pt x="2171919" y="0"/>
                  </a:lnTo>
                  <a:cubicBezTo>
                    <a:pt x="2190022" y="0"/>
                    <a:pt x="2207384" y="7192"/>
                    <a:pt x="2220185" y="19992"/>
                  </a:cubicBezTo>
                  <a:cubicBezTo>
                    <a:pt x="2232986" y="32793"/>
                    <a:pt x="2240178" y="50155"/>
                    <a:pt x="2240178" y="68259"/>
                  </a:cubicBezTo>
                  <a:lnTo>
                    <a:pt x="2240178" y="68259"/>
                  </a:lnTo>
                  <a:cubicBezTo>
                    <a:pt x="2240178" y="86362"/>
                    <a:pt x="2232986" y="103724"/>
                    <a:pt x="2220185" y="116525"/>
                  </a:cubicBezTo>
                  <a:cubicBezTo>
                    <a:pt x="2207384" y="129326"/>
                    <a:pt x="2190022" y="136517"/>
                    <a:pt x="2171919" y="136517"/>
                  </a:cubicBezTo>
                  <a:lnTo>
                    <a:pt x="68259" y="136517"/>
                  </a:lnTo>
                  <a:cubicBezTo>
                    <a:pt x="50155" y="136517"/>
                    <a:pt x="32793" y="129326"/>
                    <a:pt x="19992" y="116525"/>
                  </a:cubicBezTo>
                  <a:cubicBezTo>
                    <a:pt x="7192" y="103724"/>
                    <a:pt x="0" y="86362"/>
                    <a:pt x="0" y="68259"/>
                  </a:cubicBezTo>
                  <a:lnTo>
                    <a:pt x="0" y="68259"/>
                  </a:lnTo>
                  <a:cubicBezTo>
                    <a:pt x="0" y="50155"/>
                    <a:pt x="7192" y="32793"/>
                    <a:pt x="19992" y="19992"/>
                  </a:cubicBezTo>
                  <a:cubicBezTo>
                    <a:pt x="32793" y="7192"/>
                    <a:pt x="50155" y="0"/>
                    <a:pt x="68259" y="0"/>
                  </a:cubicBezTo>
                  <a:close/>
                </a:path>
              </a:pathLst>
            </a:custGeom>
            <a:gradFill rotWithShape="true">
              <a:gsLst>
                <a:gs pos="0">
                  <a:srgbClr val="731919">
                    <a:alpha val="70000"/>
                  </a:srgbClr>
                </a:gs>
                <a:gs pos="100000">
                  <a:srgbClr val="E52B2B">
                    <a:alpha val="70000"/>
                  </a:srgbClr>
                </a:gs>
              </a:gsLst>
              <a:lin ang="5400000"/>
            </a:gradFill>
          </p:spPr>
        </p:sp>
        <p:sp>
          <p:nvSpPr>
            <p:cNvPr name="TextBox 7" id="7"/>
            <p:cNvSpPr txBox="true"/>
            <p:nvPr/>
          </p:nvSpPr>
          <p:spPr>
            <a:xfrm>
              <a:off x="0" y="-38100"/>
              <a:ext cx="2240178" cy="174617"/>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3472914" y="1138338"/>
            <a:ext cx="11489142" cy="2228215"/>
          </a:xfrm>
          <a:prstGeom prst="rect">
            <a:avLst/>
          </a:prstGeom>
        </p:spPr>
        <p:txBody>
          <a:bodyPr anchor="t" rtlCol="false" tIns="0" lIns="0" bIns="0" rIns="0">
            <a:spAutoFit/>
          </a:bodyPr>
          <a:lstStyle/>
          <a:p>
            <a:pPr algn="l" marL="0" indent="0" lvl="0">
              <a:lnSpc>
                <a:spcPts val="8959"/>
              </a:lnSpc>
              <a:spcBef>
                <a:spcPct val="0"/>
              </a:spcBef>
            </a:pPr>
            <a:r>
              <a:rPr lang="en-US" b="true" sz="6399">
                <a:solidFill>
                  <a:srgbClr val="501934"/>
                </a:solidFill>
                <a:latin typeface="Aileron Bold"/>
                <a:ea typeface="Aileron Bold"/>
                <a:cs typeface="Aileron Bold"/>
                <a:sym typeface="Aileron Bold"/>
              </a:rPr>
              <a:t>A SNAPSHOT AT THE </a:t>
            </a:r>
            <a:r>
              <a:rPr lang="en-US" b="true" sz="6399">
                <a:solidFill>
                  <a:srgbClr val="501934"/>
                </a:solidFill>
                <a:latin typeface="Aileron Bold"/>
                <a:ea typeface="Aileron Bold"/>
                <a:cs typeface="Aileron Bold"/>
                <a:sym typeface="Aileron Bold"/>
              </a:rPr>
              <a:t>CLEANED DATA</a:t>
            </a:r>
          </a:p>
        </p:txBody>
      </p:sp>
      <p:sp>
        <p:nvSpPr>
          <p:cNvPr name="Freeform 9" id="9"/>
          <p:cNvSpPr/>
          <p:nvPr/>
        </p:nvSpPr>
        <p:spPr>
          <a:xfrm flipH="false" flipV="false" rot="0">
            <a:off x="0" y="3969402"/>
            <a:ext cx="18288000" cy="3779478"/>
          </a:xfrm>
          <a:custGeom>
            <a:avLst/>
            <a:gdLst/>
            <a:ahLst/>
            <a:cxnLst/>
            <a:rect r="r" b="b" t="t" l="l"/>
            <a:pathLst>
              <a:path h="3779478" w="18288000">
                <a:moveTo>
                  <a:pt x="0" y="0"/>
                </a:moveTo>
                <a:lnTo>
                  <a:pt x="18288000" y="0"/>
                </a:lnTo>
                <a:lnTo>
                  <a:pt x="18288000" y="3779478"/>
                </a:lnTo>
                <a:lnTo>
                  <a:pt x="0" y="3779478"/>
                </a:lnTo>
                <a:lnTo>
                  <a:pt x="0" y="0"/>
                </a:lnTo>
                <a:close/>
              </a:path>
            </a:pathLst>
          </a:custGeom>
          <a:blipFill>
            <a:blip r:embed="rId2"/>
            <a:stretch>
              <a:fillRect l="0" t="-220" r="0" b="-1393"/>
            </a:stretch>
          </a:blipFill>
        </p:spPr>
      </p:sp>
      <p:sp>
        <p:nvSpPr>
          <p:cNvPr name="Freeform 10" id="10"/>
          <p:cNvSpPr/>
          <p:nvPr/>
        </p:nvSpPr>
        <p:spPr>
          <a:xfrm flipH="false" flipV="false" rot="0">
            <a:off x="1756995" y="1653754"/>
            <a:ext cx="1249000" cy="1170708"/>
          </a:xfrm>
          <a:custGeom>
            <a:avLst/>
            <a:gdLst/>
            <a:ahLst/>
            <a:cxnLst/>
            <a:rect r="r" b="b" t="t" l="l"/>
            <a:pathLst>
              <a:path h="1170708" w="1249000">
                <a:moveTo>
                  <a:pt x="0" y="0"/>
                </a:moveTo>
                <a:lnTo>
                  <a:pt x="1249000" y="0"/>
                </a:lnTo>
                <a:lnTo>
                  <a:pt x="1249000" y="1170708"/>
                </a:lnTo>
                <a:lnTo>
                  <a:pt x="0" y="11707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grpSp>
        <p:nvGrpSpPr>
          <p:cNvPr name="Group 2" id="2"/>
          <p:cNvGrpSpPr/>
          <p:nvPr/>
        </p:nvGrpSpPr>
        <p:grpSpPr>
          <a:xfrm rot="-10800000">
            <a:off x="15324910" y="139442"/>
            <a:ext cx="3045158" cy="205201"/>
            <a:chOff x="0" y="0"/>
            <a:chExt cx="1829122" cy="123257"/>
          </a:xfrm>
        </p:grpSpPr>
        <p:sp>
          <p:nvSpPr>
            <p:cNvPr name="Freeform 3" id="3"/>
            <p:cNvSpPr/>
            <p:nvPr/>
          </p:nvSpPr>
          <p:spPr>
            <a:xfrm flipH="false" flipV="false" rot="0">
              <a:off x="0" y="0"/>
              <a:ext cx="1829122" cy="123257"/>
            </a:xfrm>
            <a:custGeom>
              <a:avLst/>
              <a:gdLst/>
              <a:ahLst/>
              <a:cxnLst/>
              <a:rect r="r" b="b" t="t" l="l"/>
              <a:pathLst>
                <a:path h="123257" w="1829122">
                  <a:moveTo>
                    <a:pt x="61629" y="0"/>
                  </a:moveTo>
                  <a:lnTo>
                    <a:pt x="1767493" y="0"/>
                  </a:lnTo>
                  <a:cubicBezTo>
                    <a:pt x="1801530" y="0"/>
                    <a:pt x="1829122" y="27592"/>
                    <a:pt x="1829122" y="61629"/>
                  </a:cubicBezTo>
                  <a:lnTo>
                    <a:pt x="1829122" y="61629"/>
                  </a:lnTo>
                  <a:cubicBezTo>
                    <a:pt x="1829122" y="77974"/>
                    <a:pt x="1822629" y="93649"/>
                    <a:pt x="1811071" y="105207"/>
                  </a:cubicBezTo>
                  <a:cubicBezTo>
                    <a:pt x="1799513" y="116764"/>
                    <a:pt x="1783838" y="123257"/>
                    <a:pt x="1767493" y="123257"/>
                  </a:cubicBezTo>
                  <a:lnTo>
                    <a:pt x="61629" y="123257"/>
                  </a:lnTo>
                  <a:cubicBezTo>
                    <a:pt x="27592" y="123257"/>
                    <a:pt x="0" y="95665"/>
                    <a:pt x="0" y="61629"/>
                  </a:cubicBezTo>
                  <a:lnTo>
                    <a:pt x="0" y="61629"/>
                  </a:lnTo>
                  <a:cubicBezTo>
                    <a:pt x="0" y="27592"/>
                    <a:pt x="27592" y="0"/>
                    <a:pt x="61629" y="0"/>
                  </a:cubicBezTo>
                  <a:close/>
                </a:path>
              </a:pathLst>
            </a:custGeom>
            <a:solidFill>
              <a:srgbClr val="7A0000"/>
            </a:solidFill>
          </p:spPr>
        </p:sp>
        <p:sp>
          <p:nvSpPr>
            <p:cNvPr name="TextBox 4" id="4"/>
            <p:cNvSpPr txBox="true"/>
            <p:nvPr/>
          </p:nvSpPr>
          <p:spPr>
            <a:xfrm>
              <a:off x="0" y="-38100"/>
              <a:ext cx="1829122" cy="161357"/>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816480" y="580582"/>
            <a:ext cx="502861" cy="496220"/>
          </a:xfrm>
          <a:custGeom>
            <a:avLst/>
            <a:gdLst/>
            <a:ahLst/>
            <a:cxnLst/>
            <a:rect r="r" b="b" t="t" l="l"/>
            <a:pathLst>
              <a:path h="496220" w="502861">
                <a:moveTo>
                  <a:pt x="0" y="0"/>
                </a:moveTo>
                <a:lnTo>
                  <a:pt x="502862" y="0"/>
                </a:lnTo>
                <a:lnTo>
                  <a:pt x="502862" y="496220"/>
                </a:lnTo>
                <a:lnTo>
                  <a:pt x="0" y="496220"/>
                </a:lnTo>
                <a:lnTo>
                  <a:pt x="0" y="0"/>
                </a:lnTo>
                <a:close/>
              </a:path>
            </a:pathLst>
          </a:custGeom>
          <a:blipFill>
            <a:blip r:embed="rId2"/>
            <a:stretch>
              <a:fillRect l="0" t="0" r="0" b="0"/>
            </a:stretch>
          </a:blipFill>
        </p:spPr>
      </p:sp>
      <p:sp>
        <p:nvSpPr>
          <p:cNvPr name="Freeform 6" id="6"/>
          <p:cNvSpPr/>
          <p:nvPr/>
        </p:nvSpPr>
        <p:spPr>
          <a:xfrm flipH="false" flipV="false" rot="0">
            <a:off x="2319342" y="3143774"/>
            <a:ext cx="12796700" cy="5192864"/>
          </a:xfrm>
          <a:custGeom>
            <a:avLst/>
            <a:gdLst/>
            <a:ahLst/>
            <a:cxnLst/>
            <a:rect r="r" b="b" t="t" l="l"/>
            <a:pathLst>
              <a:path h="5192864" w="12796700">
                <a:moveTo>
                  <a:pt x="0" y="0"/>
                </a:moveTo>
                <a:lnTo>
                  <a:pt x="12796700" y="0"/>
                </a:lnTo>
                <a:lnTo>
                  <a:pt x="12796700" y="5192863"/>
                </a:lnTo>
                <a:lnTo>
                  <a:pt x="0" y="5192863"/>
                </a:lnTo>
                <a:lnTo>
                  <a:pt x="0" y="0"/>
                </a:lnTo>
                <a:close/>
              </a:path>
            </a:pathLst>
          </a:custGeom>
          <a:blipFill>
            <a:blip r:embed="rId3"/>
            <a:stretch>
              <a:fillRect l="0" t="0" r="0" b="0"/>
            </a:stretch>
          </a:blipFill>
        </p:spPr>
      </p:sp>
      <p:sp>
        <p:nvSpPr>
          <p:cNvPr name="TextBox 7" id="7"/>
          <p:cNvSpPr txBox="true"/>
          <p:nvPr/>
        </p:nvSpPr>
        <p:spPr>
          <a:xfrm rot="0">
            <a:off x="14047890" y="354168"/>
            <a:ext cx="5930326" cy="404518"/>
          </a:xfrm>
          <a:prstGeom prst="rect">
            <a:avLst/>
          </a:prstGeom>
        </p:spPr>
        <p:txBody>
          <a:bodyPr anchor="t" rtlCol="false" tIns="0" lIns="0" bIns="0" rIns="0">
            <a:spAutoFit/>
          </a:bodyPr>
          <a:lstStyle/>
          <a:p>
            <a:pPr algn="ctr">
              <a:lnSpc>
                <a:spcPts val="3129"/>
              </a:lnSpc>
            </a:pPr>
            <a:r>
              <a:rPr lang="en-US" b="true" sz="2721">
                <a:solidFill>
                  <a:srgbClr val="501934"/>
                </a:solidFill>
                <a:latin typeface="Aileron Bold"/>
                <a:ea typeface="Aileron Bold"/>
                <a:cs typeface="Aileron Bold"/>
                <a:sym typeface="Aileron Bold"/>
              </a:rPr>
              <a:t>ETL PROCESS</a:t>
            </a:r>
          </a:p>
        </p:txBody>
      </p:sp>
      <p:sp>
        <p:nvSpPr>
          <p:cNvPr name="TextBox 8" id="8"/>
          <p:cNvSpPr txBox="true"/>
          <p:nvPr/>
        </p:nvSpPr>
        <p:spPr>
          <a:xfrm rot="0">
            <a:off x="2521011" y="484990"/>
            <a:ext cx="3926532" cy="620730"/>
          </a:xfrm>
          <a:prstGeom prst="rect">
            <a:avLst/>
          </a:prstGeom>
        </p:spPr>
        <p:txBody>
          <a:bodyPr anchor="t" rtlCol="false" tIns="0" lIns="0" bIns="0" rIns="0">
            <a:spAutoFit/>
          </a:bodyPr>
          <a:lstStyle/>
          <a:p>
            <a:pPr algn="ctr">
              <a:lnSpc>
                <a:spcPts val="5161"/>
              </a:lnSpc>
            </a:pPr>
            <a:r>
              <a:rPr lang="en-US" sz="3686" b="true">
                <a:solidFill>
                  <a:srgbClr val="21170D"/>
                </a:solidFill>
                <a:latin typeface="Montserrat Bold"/>
                <a:ea typeface="Montserrat Bold"/>
                <a:cs typeface="Montserrat Bold"/>
                <a:sym typeface="Montserrat Bold"/>
              </a:rPr>
              <a:t> DATA LOADING</a:t>
            </a:r>
          </a:p>
        </p:txBody>
      </p:sp>
      <p:sp>
        <p:nvSpPr>
          <p:cNvPr name="TextBox 9" id="9"/>
          <p:cNvSpPr txBox="true"/>
          <p:nvPr/>
        </p:nvSpPr>
        <p:spPr>
          <a:xfrm rot="0">
            <a:off x="1512972" y="1430543"/>
            <a:ext cx="13603070" cy="1979930"/>
          </a:xfrm>
          <a:prstGeom prst="rect">
            <a:avLst/>
          </a:prstGeom>
        </p:spPr>
        <p:txBody>
          <a:bodyPr anchor="t" rtlCol="false" tIns="0" lIns="0" bIns="0" rIns="0">
            <a:spAutoFit/>
          </a:bodyPr>
          <a:lstStyle/>
          <a:p>
            <a:pPr algn="ctr">
              <a:lnSpc>
                <a:spcPts val="5319"/>
              </a:lnSpc>
            </a:pPr>
            <a:r>
              <a:rPr lang="en-US" sz="3799" i="true">
                <a:solidFill>
                  <a:srgbClr val="545454"/>
                </a:solidFill>
                <a:latin typeface="Glacial Indifference Italics"/>
                <a:ea typeface="Glacial Indifference Italics"/>
                <a:cs typeface="Glacial Indifference Italics"/>
                <a:sym typeface="Glacial Indifference Italics"/>
              </a:rPr>
              <a:t>Export the cleaned dataset to a CSV file for reporting and dashboards.</a:t>
            </a:r>
          </a:p>
          <a:p>
            <a:pPr algn="ctr">
              <a:lnSpc>
                <a:spcPts val="5319"/>
              </a:lnSpc>
            </a:pPr>
          </a:p>
        </p:txBody>
      </p:sp>
      <p:grpSp>
        <p:nvGrpSpPr>
          <p:cNvPr name="Group 10" id="10"/>
          <p:cNvGrpSpPr/>
          <p:nvPr/>
        </p:nvGrpSpPr>
        <p:grpSpPr>
          <a:xfrm rot="0">
            <a:off x="17774712" y="8336637"/>
            <a:ext cx="1190712" cy="119071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731919">
                    <a:alpha val="100000"/>
                  </a:srgbClr>
                </a:gs>
                <a:gs pos="100000">
                  <a:srgbClr val="E52B2B">
                    <a:alpha val="100000"/>
                  </a:srgbClr>
                </a:gs>
              </a:gsLst>
              <a:lin ang="5400000"/>
            </a:gra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13" id="13"/>
          <p:cNvSpPr/>
          <p:nvPr/>
        </p:nvSpPr>
        <p:spPr>
          <a:xfrm flipH="false" flipV="false" rot="0">
            <a:off x="16465691" y="8931993"/>
            <a:ext cx="2618042" cy="4114800"/>
          </a:xfrm>
          <a:custGeom>
            <a:avLst/>
            <a:gdLst/>
            <a:ahLst/>
            <a:cxnLst/>
            <a:rect r="r" b="b" t="t" l="l"/>
            <a:pathLst>
              <a:path h="4114800" w="2618042">
                <a:moveTo>
                  <a:pt x="0" y="0"/>
                </a:moveTo>
                <a:lnTo>
                  <a:pt x="2618042" y="0"/>
                </a:lnTo>
                <a:lnTo>
                  <a:pt x="261804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4" id="14"/>
          <p:cNvSpPr/>
          <p:nvPr/>
        </p:nvSpPr>
        <p:spPr>
          <a:xfrm>
            <a:off x="12711498" y="342766"/>
            <a:ext cx="2143258" cy="0"/>
          </a:xfrm>
          <a:prstGeom prst="line">
            <a:avLst/>
          </a:prstGeom>
          <a:ln cap="flat" w="104775">
            <a:solidFill>
              <a:srgbClr val="E1C4B4"/>
            </a:solidFill>
            <a:prstDash val="solid"/>
            <a:headEnd type="none" len="sm" w="sm"/>
            <a:tailEnd type="none" len="sm" w="sm"/>
          </a:ln>
        </p:spPr>
      </p:sp>
      <p:grpSp>
        <p:nvGrpSpPr>
          <p:cNvPr name="Group 15" id="15"/>
          <p:cNvGrpSpPr/>
          <p:nvPr/>
        </p:nvGrpSpPr>
        <p:grpSpPr>
          <a:xfrm rot="0">
            <a:off x="12583519" y="83357"/>
            <a:ext cx="522572" cy="522572"/>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1C4B4"/>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4593470" y="58010"/>
            <a:ext cx="522572" cy="522572"/>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C0D12"/>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3588494" y="81480"/>
            <a:ext cx="522572" cy="522572"/>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1C4B4"/>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grpSp>
        <p:nvGrpSpPr>
          <p:cNvPr name="Group 2" id="2"/>
          <p:cNvGrpSpPr/>
          <p:nvPr/>
        </p:nvGrpSpPr>
        <p:grpSpPr>
          <a:xfrm rot="0">
            <a:off x="16979895" y="0"/>
            <a:ext cx="1365255" cy="10287000"/>
            <a:chOff x="0" y="0"/>
            <a:chExt cx="359573" cy="2709333"/>
          </a:xfrm>
        </p:grpSpPr>
        <p:sp>
          <p:nvSpPr>
            <p:cNvPr name="Freeform 3" id="3"/>
            <p:cNvSpPr/>
            <p:nvPr/>
          </p:nvSpPr>
          <p:spPr>
            <a:xfrm flipH="false" flipV="false" rot="0">
              <a:off x="0" y="0"/>
              <a:ext cx="359573" cy="2709333"/>
            </a:xfrm>
            <a:custGeom>
              <a:avLst/>
              <a:gdLst/>
              <a:ahLst/>
              <a:cxnLst/>
              <a:rect r="r" b="b" t="t" l="l"/>
              <a:pathLst>
                <a:path h="2709333" w="359573">
                  <a:moveTo>
                    <a:pt x="0" y="0"/>
                  </a:moveTo>
                  <a:lnTo>
                    <a:pt x="359573" y="0"/>
                  </a:lnTo>
                  <a:lnTo>
                    <a:pt x="359573" y="2709333"/>
                  </a:lnTo>
                  <a:lnTo>
                    <a:pt x="0" y="2709333"/>
                  </a:lnTo>
                  <a:close/>
                </a:path>
              </a:pathLst>
            </a:custGeom>
            <a:solidFill>
              <a:srgbClr val="422836"/>
            </a:solidFill>
          </p:spPr>
        </p:sp>
        <p:sp>
          <p:nvSpPr>
            <p:cNvPr name="TextBox 4" id="4"/>
            <p:cNvSpPr txBox="true"/>
            <p:nvPr/>
          </p:nvSpPr>
          <p:spPr>
            <a:xfrm>
              <a:off x="0" y="-57150"/>
              <a:ext cx="359573" cy="2766483"/>
            </a:xfrm>
            <a:prstGeom prst="rect">
              <a:avLst/>
            </a:prstGeom>
          </p:spPr>
          <p:txBody>
            <a:bodyPr anchor="ctr" rtlCol="false" tIns="50800" lIns="50800" bIns="50800" rIns="50800"/>
            <a:lstStyle/>
            <a:p>
              <a:pPr algn="ctr">
                <a:lnSpc>
                  <a:spcPts val="2735"/>
                </a:lnSpc>
              </a:pPr>
            </a:p>
          </p:txBody>
        </p:sp>
      </p:grpSp>
      <p:sp>
        <p:nvSpPr>
          <p:cNvPr name="TextBox 5" id="5"/>
          <p:cNvSpPr txBox="true"/>
          <p:nvPr/>
        </p:nvSpPr>
        <p:spPr>
          <a:xfrm rot="0">
            <a:off x="640632" y="212594"/>
            <a:ext cx="8503368" cy="1868877"/>
          </a:xfrm>
          <a:prstGeom prst="rect">
            <a:avLst/>
          </a:prstGeom>
        </p:spPr>
        <p:txBody>
          <a:bodyPr anchor="t" rtlCol="false" tIns="0" lIns="0" bIns="0" rIns="0">
            <a:spAutoFit/>
          </a:bodyPr>
          <a:lstStyle/>
          <a:p>
            <a:pPr algn="l">
              <a:lnSpc>
                <a:spcPts val="7363"/>
              </a:lnSpc>
            </a:pPr>
            <a:r>
              <a:rPr lang="en-US" sz="6403" b="true">
                <a:solidFill>
                  <a:srgbClr val="501934"/>
                </a:solidFill>
                <a:latin typeface="Aileron Bold"/>
                <a:ea typeface="Aileron Bold"/>
                <a:cs typeface="Aileron Bold"/>
                <a:sym typeface="Aileron Bold"/>
              </a:rPr>
              <a:t>SCHEMA DESIGN</a:t>
            </a:r>
          </a:p>
          <a:p>
            <a:pPr algn="l">
              <a:lnSpc>
                <a:spcPts val="7363"/>
              </a:lnSpc>
            </a:pPr>
          </a:p>
        </p:txBody>
      </p:sp>
      <p:sp>
        <p:nvSpPr>
          <p:cNvPr name="Freeform 6" id="6"/>
          <p:cNvSpPr/>
          <p:nvPr/>
        </p:nvSpPr>
        <p:spPr>
          <a:xfrm flipH="false" flipV="false" rot="-5400000">
            <a:off x="17057377" y="4822637"/>
            <a:ext cx="1191242" cy="641726"/>
          </a:xfrm>
          <a:custGeom>
            <a:avLst/>
            <a:gdLst/>
            <a:ahLst/>
            <a:cxnLst/>
            <a:rect r="r" b="b" t="t" l="l"/>
            <a:pathLst>
              <a:path h="641726" w="1191242">
                <a:moveTo>
                  <a:pt x="0" y="0"/>
                </a:moveTo>
                <a:lnTo>
                  <a:pt x="1191242" y="0"/>
                </a:lnTo>
                <a:lnTo>
                  <a:pt x="1191242" y="641726"/>
                </a:lnTo>
                <a:lnTo>
                  <a:pt x="0" y="641726"/>
                </a:lnTo>
                <a:lnTo>
                  <a:pt x="0" y="0"/>
                </a:lnTo>
                <a:close/>
              </a:path>
            </a:pathLst>
          </a:custGeom>
          <a:blipFill>
            <a:blip r:embed="rId2">
              <a:extLst>
                <a:ext uri="{96DAC541-7B7A-43D3-8B79-37D633B846F1}">
                  <asvg:svgBlip xmlns:asvg="http://schemas.microsoft.com/office/drawing/2016/SVG/main" r:embed="rId3"/>
                </a:ext>
              </a:extLst>
            </a:blip>
            <a:stretch>
              <a:fillRect l="0" t="0" r="0" b="-85630"/>
            </a:stretch>
          </a:blipFill>
        </p:spPr>
      </p:sp>
      <p:grpSp>
        <p:nvGrpSpPr>
          <p:cNvPr name="Group 7" id="7"/>
          <p:cNvGrpSpPr/>
          <p:nvPr/>
        </p:nvGrpSpPr>
        <p:grpSpPr>
          <a:xfrm rot="0">
            <a:off x="2142386" y="184019"/>
            <a:ext cx="4366718" cy="864453"/>
            <a:chOff x="0" y="0"/>
            <a:chExt cx="961389" cy="190320"/>
          </a:xfrm>
        </p:grpSpPr>
        <p:sp>
          <p:nvSpPr>
            <p:cNvPr name="Freeform 8" id="8"/>
            <p:cNvSpPr/>
            <p:nvPr/>
          </p:nvSpPr>
          <p:spPr>
            <a:xfrm flipH="false" flipV="false" rot="0">
              <a:off x="0" y="0"/>
              <a:ext cx="961389" cy="190320"/>
            </a:xfrm>
            <a:custGeom>
              <a:avLst/>
              <a:gdLst/>
              <a:ahLst/>
              <a:cxnLst/>
              <a:rect r="r" b="b" t="t" l="l"/>
              <a:pathLst>
                <a:path h="190320" w="961389">
                  <a:moveTo>
                    <a:pt x="0" y="0"/>
                  </a:moveTo>
                  <a:lnTo>
                    <a:pt x="961389" y="0"/>
                  </a:lnTo>
                  <a:lnTo>
                    <a:pt x="961389" y="190320"/>
                  </a:lnTo>
                  <a:lnTo>
                    <a:pt x="0" y="190320"/>
                  </a:lnTo>
                  <a:close/>
                </a:path>
              </a:pathLst>
            </a:custGeom>
            <a:solidFill>
              <a:srgbClr val="000000">
                <a:alpha val="0"/>
              </a:srgbClr>
            </a:solidFill>
            <a:ln w="19050" cap="sq">
              <a:solidFill>
                <a:srgbClr val="000000"/>
              </a:solidFill>
              <a:prstDash val="dash"/>
              <a:miter/>
            </a:ln>
          </p:spPr>
        </p:sp>
        <p:sp>
          <p:nvSpPr>
            <p:cNvPr name="TextBox 9" id="9"/>
            <p:cNvSpPr txBox="true"/>
            <p:nvPr/>
          </p:nvSpPr>
          <p:spPr>
            <a:xfrm>
              <a:off x="0" y="-38100"/>
              <a:ext cx="961389" cy="228420"/>
            </a:xfrm>
            <a:prstGeom prst="rect">
              <a:avLst/>
            </a:prstGeom>
          </p:spPr>
          <p:txBody>
            <a:bodyPr anchor="ctr" rtlCol="false" tIns="60771" lIns="60771" bIns="60771" rIns="60771"/>
            <a:lstStyle/>
            <a:p>
              <a:pPr algn="ctr">
                <a:lnSpc>
                  <a:spcPts val="2659"/>
                </a:lnSpc>
                <a:spcBef>
                  <a:spcPct val="0"/>
                </a:spcBef>
              </a:pPr>
            </a:p>
          </p:txBody>
        </p:sp>
      </p:grpSp>
      <p:grpSp>
        <p:nvGrpSpPr>
          <p:cNvPr name="Group 10" id="10"/>
          <p:cNvGrpSpPr/>
          <p:nvPr/>
        </p:nvGrpSpPr>
        <p:grpSpPr>
          <a:xfrm rot="-10800000">
            <a:off x="-802842" y="1132745"/>
            <a:ext cx="8254168" cy="496020"/>
            <a:chOff x="0" y="0"/>
            <a:chExt cx="4957995" cy="297942"/>
          </a:xfrm>
        </p:grpSpPr>
        <p:sp>
          <p:nvSpPr>
            <p:cNvPr name="Freeform 11" id="11"/>
            <p:cNvSpPr/>
            <p:nvPr/>
          </p:nvSpPr>
          <p:spPr>
            <a:xfrm flipH="false" flipV="false" rot="0">
              <a:off x="0" y="0"/>
              <a:ext cx="4957995" cy="297942"/>
            </a:xfrm>
            <a:custGeom>
              <a:avLst/>
              <a:gdLst/>
              <a:ahLst/>
              <a:cxnLst/>
              <a:rect r="r" b="b" t="t" l="l"/>
              <a:pathLst>
                <a:path h="297942" w="4957995">
                  <a:moveTo>
                    <a:pt x="93794" y="0"/>
                  </a:moveTo>
                  <a:lnTo>
                    <a:pt x="4864201" y="0"/>
                  </a:lnTo>
                  <a:cubicBezTo>
                    <a:pt x="4916001" y="0"/>
                    <a:pt x="4957995" y="41993"/>
                    <a:pt x="4957995" y="93794"/>
                  </a:cubicBezTo>
                  <a:lnTo>
                    <a:pt x="4957995" y="204148"/>
                  </a:lnTo>
                  <a:cubicBezTo>
                    <a:pt x="4957995" y="229024"/>
                    <a:pt x="4948113" y="252881"/>
                    <a:pt x="4930523" y="270471"/>
                  </a:cubicBezTo>
                  <a:cubicBezTo>
                    <a:pt x="4912933" y="288060"/>
                    <a:pt x="4889076" y="297942"/>
                    <a:pt x="4864201" y="297942"/>
                  </a:cubicBezTo>
                  <a:lnTo>
                    <a:pt x="93794" y="297942"/>
                  </a:lnTo>
                  <a:cubicBezTo>
                    <a:pt x="41993" y="297942"/>
                    <a:pt x="0" y="255949"/>
                    <a:pt x="0" y="204148"/>
                  </a:cubicBezTo>
                  <a:lnTo>
                    <a:pt x="0" y="93794"/>
                  </a:lnTo>
                  <a:cubicBezTo>
                    <a:pt x="0" y="41993"/>
                    <a:pt x="41993" y="0"/>
                    <a:pt x="93794" y="0"/>
                  </a:cubicBezTo>
                  <a:close/>
                </a:path>
              </a:pathLst>
            </a:custGeom>
            <a:solidFill>
              <a:srgbClr val="7A0000"/>
            </a:solidFill>
          </p:spPr>
        </p:sp>
        <p:sp>
          <p:nvSpPr>
            <p:cNvPr name="TextBox 12" id="12"/>
            <p:cNvSpPr txBox="true"/>
            <p:nvPr/>
          </p:nvSpPr>
          <p:spPr>
            <a:xfrm>
              <a:off x="0" y="-38100"/>
              <a:ext cx="4957995" cy="336042"/>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896592" y="1385491"/>
            <a:ext cx="14152193" cy="8901509"/>
          </a:xfrm>
          <a:custGeom>
            <a:avLst/>
            <a:gdLst/>
            <a:ahLst/>
            <a:cxnLst/>
            <a:rect r="r" b="b" t="t" l="l"/>
            <a:pathLst>
              <a:path h="8901509" w="14152193">
                <a:moveTo>
                  <a:pt x="0" y="0"/>
                </a:moveTo>
                <a:lnTo>
                  <a:pt x="14152193" y="0"/>
                </a:lnTo>
                <a:lnTo>
                  <a:pt x="14152193" y="8901509"/>
                </a:lnTo>
                <a:lnTo>
                  <a:pt x="0" y="8901509"/>
                </a:lnTo>
                <a:lnTo>
                  <a:pt x="0" y="0"/>
                </a:lnTo>
                <a:close/>
              </a:path>
            </a:pathLst>
          </a:custGeom>
          <a:blipFill>
            <a:blip r:embed="rId4"/>
            <a:stretch>
              <a:fillRect l="0" t="0" r="-1449"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3032762" cy="10287000"/>
            <a:chOff x="0" y="0"/>
            <a:chExt cx="798752" cy="2709333"/>
          </a:xfrm>
        </p:grpSpPr>
        <p:sp>
          <p:nvSpPr>
            <p:cNvPr name="Freeform 3" id="3"/>
            <p:cNvSpPr/>
            <p:nvPr/>
          </p:nvSpPr>
          <p:spPr>
            <a:xfrm flipH="false" flipV="false" rot="0">
              <a:off x="0" y="0"/>
              <a:ext cx="798752" cy="2709333"/>
            </a:xfrm>
            <a:custGeom>
              <a:avLst/>
              <a:gdLst/>
              <a:ahLst/>
              <a:cxnLst/>
              <a:rect r="r" b="b" t="t" l="l"/>
              <a:pathLst>
                <a:path h="2709333" w="798752">
                  <a:moveTo>
                    <a:pt x="0" y="0"/>
                  </a:moveTo>
                  <a:lnTo>
                    <a:pt x="798752" y="0"/>
                  </a:lnTo>
                  <a:lnTo>
                    <a:pt x="798752" y="2709333"/>
                  </a:lnTo>
                  <a:lnTo>
                    <a:pt x="0" y="2709333"/>
                  </a:lnTo>
                  <a:close/>
                </a:path>
              </a:pathLst>
            </a:custGeom>
            <a:solidFill>
              <a:srgbClr val="501934"/>
            </a:solidFill>
          </p:spPr>
        </p:sp>
        <p:sp>
          <p:nvSpPr>
            <p:cNvPr name="TextBox 4" id="4"/>
            <p:cNvSpPr txBox="true"/>
            <p:nvPr/>
          </p:nvSpPr>
          <p:spPr>
            <a:xfrm>
              <a:off x="0" y="-57150"/>
              <a:ext cx="798752" cy="2766483"/>
            </a:xfrm>
            <a:prstGeom prst="rect">
              <a:avLst/>
            </a:prstGeom>
          </p:spPr>
          <p:txBody>
            <a:bodyPr anchor="ctr" rtlCol="false" tIns="50800" lIns="50800" bIns="50800" rIns="50800"/>
            <a:lstStyle/>
            <a:p>
              <a:pPr algn="ctr">
                <a:lnSpc>
                  <a:spcPts val="2735"/>
                </a:lnSpc>
              </a:pPr>
            </a:p>
          </p:txBody>
        </p:sp>
      </p:grpSp>
      <p:sp>
        <p:nvSpPr>
          <p:cNvPr name="Freeform 5" id="5"/>
          <p:cNvSpPr/>
          <p:nvPr/>
        </p:nvSpPr>
        <p:spPr>
          <a:xfrm flipH="false" flipV="false" rot="0">
            <a:off x="3234225" y="2593141"/>
            <a:ext cx="15053775" cy="7693859"/>
          </a:xfrm>
          <a:custGeom>
            <a:avLst/>
            <a:gdLst/>
            <a:ahLst/>
            <a:cxnLst/>
            <a:rect r="r" b="b" t="t" l="l"/>
            <a:pathLst>
              <a:path h="7693859" w="15053775">
                <a:moveTo>
                  <a:pt x="0" y="0"/>
                </a:moveTo>
                <a:lnTo>
                  <a:pt x="15053775" y="0"/>
                </a:lnTo>
                <a:lnTo>
                  <a:pt x="15053775" y="7693859"/>
                </a:lnTo>
                <a:lnTo>
                  <a:pt x="0" y="7693859"/>
                </a:lnTo>
                <a:lnTo>
                  <a:pt x="0" y="0"/>
                </a:lnTo>
                <a:close/>
              </a:path>
            </a:pathLst>
          </a:custGeom>
          <a:blipFill>
            <a:blip r:embed="rId2"/>
            <a:stretch>
              <a:fillRect l="-57" t="-2980" r="0" b="-2980"/>
            </a:stretch>
          </a:blipFill>
        </p:spPr>
      </p:sp>
      <p:sp>
        <p:nvSpPr>
          <p:cNvPr name="TextBox 6" id="6"/>
          <p:cNvSpPr txBox="true"/>
          <p:nvPr/>
        </p:nvSpPr>
        <p:spPr>
          <a:xfrm rot="0">
            <a:off x="3225537" y="430819"/>
            <a:ext cx="8488095" cy="2162322"/>
          </a:xfrm>
          <a:prstGeom prst="rect">
            <a:avLst/>
          </a:prstGeom>
        </p:spPr>
        <p:txBody>
          <a:bodyPr anchor="t" rtlCol="false" tIns="0" lIns="0" bIns="0" rIns="0">
            <a:spAutoFit/>
          </a:bodyPr>
          <a:lstStyle/>
          <a:p>
            <a:pPr algn="l">
              <a:lnSpc>
                <a:spcPts val="8494"/>
              </a:lnSpc>
            </a:pPr>
            <a:r>
              <a:rPr lang="en-US" sz="7386" b="true">
                <a:solidFill>
                  <a:srgbClr val="501934"/>
                </a:solidFill>
                <a:latin typeface="Roboto Bold"/>
                <a:ea typeface="Roboto Bold"/>
                <a:cs typeface="Roboto Bold"/>
                <a:sym typeface="Roboto Bold"/>
              </a:rPr>
              <a:t>DATA VISUALIZATION</a:t>
            </a:r>
          </a:p>
        </p:txBody>
      </p:sp>
      <p:sp>
        <p:nvSpPr>
          <p:cNvPr name="TextBox 7" id="7"/>
          <p:cNvSpPr txBox="true"/>
          <p:nvPr/>
        </p:nvSpPr>
        <p:spPr>
          <a:xfrm rot="0">
            <a:off x="-201463" y="4402455"/>
            <a:ext cx="3435688" cy="1818639"/>
          </a:xfrm>
          <a:prstGeom prst="rect">
            <a:avLst/>
          </a:prstGeom>
        </p:spPr>
        <p:txBody>
          <a:bodyPr anchor="t" rtlCol="false" tIns="0" lIns="0" bIns="0" rIns="0">
            <a:spAutoFit/>
          </a:bodyPr>
          <a:lstStyle/>
          <a:p>
            <a:pPr algn="ctr">
              <a:lnSpc>
                <a:spcPts val="4760"/>
              </a:lnSpc>
            </a:pPr>
            <a:r>
              <a:rPr lang="en-US" sz="3400">
                <a:solidFill>
                  <a:srgbClr val="E4D5D7"/>
                </a:solidFill>
                <a:latin typeface="Poppins"/>
                <a:ea typeface="Poppins"/>
                <a:cs typeface="Poppins"/>
                <a:sym typeface="Poppins"/>
              </a:rPr>
              <a:t>EXECUTIVE SUMMARY </a:t>
            </a:r>
          </a:p>
          <a:p>
            <a:pPr algn="ctr">
              <a:lnSpc>
                <a:spcPts val="4760"/>
              </a:lnSpc>
            </a:pPr>
            <a:r>
              <a:rPr lang="en-US" sz="3400">
                <a:solidFill>
                  <a:srgbClr val="E4D5D7"/>
                </a:solidFill>
                <a:latin typeface="Poppins"/>
                <a:ea typeface="Poppins"/>
                <a:cs typeface="Poppins"/>
                <a:sym typeface="Poppins"/>
              </a:rPr>
              <a:t>DASHBOARD</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501934"/>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5068265" y="617603"/>
            <a:ext cx="2808638" cy="3630832"/>
          </a:xfrm>
          <a:custGeom>
            <a:avLst/>
            <a:gdLst/>
            <a:ahLst/>
            <a:cxnLst/>
            <a:rect r="r" b="b" t="t" l="l"/>
            <a:pathLst>
              <a:path h="3630832" w="2808638">
                <a:moveTo>
                  <a:pt x="0" y="0"/>
                </a:moveTo>
                <a:lnTo>
                  <a:pt x="2808638" y="0"/>
                </a:lnTo>
                <a:lnTo>
                  <a:pt x="2808638" y="3630832"/>
                </a:lnTo>
                <a:lnTo>
                  <a:pt x="0" y="3630832"/>
                </a:lnTo>
                <a:lnTo>
                  <a:pt x="0" y="0"/>
                </a:lnTo>
                <a:close/>
              </a:path>
            </a:pathLst>
          </a:custGeom>
          <a:blipFill>
            <a:blip r:embed="rId2">
              <a:extLst>
                <a:ext uri="{96DAC541-7B7A-43D3-8B79-37D633B846F1}">
                  <asvg:svgBlip xmlns:asvg="http://schemas.microsoft.com/office/drawing/2016/SVG/main" r:embed="rId3"/>
                </a:ext>
              </a:extLst>
            </a:blip>
            <a:stretch>
              <a:fillRect l="-22854" t="0" r="-22192" b="0"/>
            </a:stretch>
          </a:blipFill>
        </p:spPr>
      </p:sp>
      <p:sp>
        <p:nvSpPr>
          <p:cNvPr name="Freeform 3" id="3"/>
          <p:cNvSpPr/>
          <p:nvPr/>
        </p:nvSpPr>
        <p:spPr>
          <a:xfrm flipH="false" flipV="false" rot="-5400000">
            <a:off x="15068265" y="2412977"/>
            <a:ext cx="2808638" cy="3630832"/>
          </a:xfrm>
          <a:custGeom>
            <a:avLst/>
            <a:gdLst/>
            <a:ahLst/>
            <a:cxnLst/>
            <a:rect r="r" b="b" t="t" l="l"/>
            <a:pathLst>
              <a:path h="3630832" w="2808638">
                <a:moveTo>
                  <a:pt x="0" y="0"/>
                </a:moveTo>
                <a:lnTo>
                  <a:pt x="2808638" y="0"/>
                </a:lnTo>
                <a:lnTo>
                  <a:pt x="2808638" y="3630832"/>
                </a:lnTo>
                <a:lnTo>
                  <a:pt x="0" y="3630832"/>
                </a:lnTo>
                <a:lnTo>
                  <a:pt x="0" y="0"/>
                </a:lnTo>
                <a:close/>
              </a:path>
            </a:pathLst>
          </a:custGeom>
          <a:blipFill>
            <a:blip r:embed="rId2">
              <a:extLst>
                <a:ext uri="{96DAC541-7B7A-43D3-8B79-37D633B846F1}">
                  <asvg:svgBlip xmlns:asvg="http://schemas.microsoft.com/office/drawing/2016/SVG/main" r:embed="rId3"/>
                </a:ext>
              </a:extLst>
            </a:blip>
            <a:stretch>
              <a:fillRect l="-22854" t="0" r="-22192" b="0"/>
            </a:stretch>
          </a:blipFill>
        </p:spPr>
      </p:sp>
      <p:sp>
        <p:nvSpPr>
          <p:cNvPr name="Freeform 4" id="4"/>
          <p:cNvSpPr/>
          <p:nvPr/>
        </p:nvSpPr>
        <p:spPr>
          <a:xfrm flipH="false" flipV="false" rot="-5400000">
            <a:off x="707006" y="3323649"/>
            <a:ext cx="3134651" cy="3197302"/>
          </a:xfrm>
          <a:custGeom>
            <a:avLst/>
            <a:gdLst/>
            <a:ahLst/>
            <a:cxnLst/>
            <a:rect r="r" b="b" t="t" l="l"/>
            <a:pathLst>
              <a:path h="3197302" w="3134651">
                <a:moveTo>
                  <a:pt x="0" y="0"/>
                </a:moveTo>
                <a:lnTo>
                  <a:pt x="3134651" y="0"/>
                </a:lnTo>
                <a:lnTo>
                  <a:pt x="3134651" y="3197303"/>
                </a:lnTo>
                <a:lnTo>
                  <a:pt x="0" y="3197303"/>
                </a:lnTo>
                <a:lnTo>
                  <a:pt x="0" y="0"/>
                </a:lnTo>
                <a:close/>
              </a:path>
            </a:pathLst>
          </a:custGeom>
          <a:blipFill>
            <a:blip r:embed="rId4">
              <a:extLst>
                <a:ext uri="{96DAC541-7B7A-43D3-8B79-37D633B846F1}">
                  <asvg:svgBlip xmlns:asvg="http://schemas.microsoft.com/office/drawing/2016/SVG/main" r:embed="rId5"/>
                </a:ext>
              </a:extLst>
            </a:blip>
            <a:stretch>
              <a:fillRect l="-23863" t="0" r="-22375" b="-27780"/>
            </a:stretch>
          </a:blipFill>
        </p:spPr>
      </p:sp>
      <p:grpSp>
        <p:nvGrpSpPr>
          <p:cNvPr name="Group 5" id="5"/>
          <p:cNvGrpSpPr/>
          <p:nvPr/>
        </p:nvGrpSpPr>
        <p:grpSpPr>
          <a:xfrm rot="0">
            <a:off x="14811529" y="1939035"/>
            <a:ext cx="3201522" cy="666279"/>
            <a:chOff x="0" y="0"/>
            <a:chExt cx="866728" cy="180377"/>
          </a:xfrm>
        </p:grpSpPr>
        <p:sp>
          <p:nvSpPr>
            <p:cNvPr name="Freeform 6" id="6"/>
            <p:cNvSpPr/>
            <p:nvPr/>
          </p:nvSpPr>
          <p:spPr>
            <a:xfrm flipH="false" flipV="false" rot="0">
              <a:off x="0" y="0"/>
              <a:ext cx="866728" cy="180377"/>
            </a:xfrm>
            <a:custGeom>
              <a:avLst/>
              <a:gdLst/>
              <a:ahLst/>
              <a:cxnLst/>
              <a:rect r="r" b="b" t="t" l="l"/>
              <a:pathLst>
                <a:path h="180377" w="866728">
                  <a:moveTo>
                    <a:pt x="45946" y="0"/>
                  </a:moveTo>
                  <a:lnTo>
                    <a:pt x="820782" y="0"/>
                  </a:lnTo>
                  <a:cubicBezTo>
                    <a:pt x="832967" y="0"/>
                    <a:pt x="844654" y="4841"/>
                    <a:pt x="853270" y="13457"/>
                  </a:cubicBezTo>
                  <a:cubicBezTo>
                    <a:pt x="861887" y="22074"/>
                    <a:pt x="866728" y="33760"/>
                    <a:pt x="866728" y="45946"/>
                  </a:cubicBezTo>
                  <a:lnTo>
                    <a:pt x="866728" y="134432"/>
                  </a:lnTo>
                  <a:cubicBezTo>
                    <a:pt x="866728" y="159807"/>
                    <a:pt x="846157" y="180377"/>
                    <a:pt x="820782" y="180377"/>
                  </a:cubicBezTo>
                  <a:lnTo>
                    <a:pt x="45946" y="180377"/>
                  </a:lnTo>
                  <a:cubicBezTo>
                    <a:pt x="20571" y="180377"/>
                    <a:pt x="0" y="159807"/>
                    <a:pt x="0" y="134432"/>
                  </a:cubicBezTo>
                  <a:lnTo>
                    <a:pt x="0" y="45946"/>
                  </a:lnTo>
                  <a:cubicBezTo>
                    <a:pt x="0" y="20571"/>
                    <a:pt x="20571" y="0"/>
                    <a:pt x="45946" y="0"/>
                  </a:cubicBezTo>
                  <a:close/>
                </a:path>
              </a:pathLst>
            </a:custGeom>
            <a:solidFill>
              <a:srgbClr val="2B2B2B"/>
            </a:solidFill>
          </p:spPr>
        </p:sp>
        <p:sp>
          <p:nvSpPr>
            <p:cNvPr name="TextBox 7" id="7"/>
            <p:cNvSpPr txBox="true"/>
            <p:nvPr/>
          </p:nvSpPr>
          <p:spPr>
            <a:xfrm>
              <a:off x="0" y="57150"/>
              <a:ext cx="866728" cy="123227"/>
            </a:xfrm>
            <a:prstGeom prst="rect">
              <a:avLst/>
            </a:prstGeom>
          </p:spPr>
          <p:txBody>
            <a:bodyPr anchor="ctr" rtlCol="false" tIns="50800" lIns="50800" bIns="50800" rIns="50800"/>
            <a:lstStyle/>
            <a:p>
              <a:pPr algn="ctr">
                <a:lnSpc>
                  <a:spcPts val="2120"/>
                </a:lnSpc>
              </a:pPr>
            </a:p>
          </p:txBody>
        </p:sp>
      </p:grpSp>
      <p:grpSp>
        <p:nvGrpSpPr>
          <p:cNvPr name="Group 8" id="8"/>
          <p:cNvGrpSpPr/>
          <p:nvPr/>
        </p:nvGrpSpPr>
        <p:grpSpPr>
          <a:xfrm rot="0">
            <a:off x="14893142" y="4064755"/>
            <a:ext cx="2773647" cy="838313"/>
            <a:chOff x="0" y="0"/>
            <a:chExt cx="750892" cy="226951"/>
          </a:xfrm>
        </p:grpSpPr>
        <p:sp>
          <p:nvSpPr>
            <p:cNvPr name="Freeform 9" id="9"/>
            <p:cNvSpPr/>
            <p:nvPr/>
          </p:nvSpPr>
          <p:spPr>
            <a:xfrm flipH="false" flipV="false" rot="0">
              <a:off x="0" y="0"/>
              <a:ext cx="750892" cy="226951"/>
            </a:xfrm>
            <a:custGeom>
              <a:avLst/>
              <a:gdLst/>
              <a:ahLst/>
              <a:cxnLst/>
              <a:rect r="r" b="b" t="t" l="l"/>
              <a:pathLst>
                <a:path h="226951" w="750892">
                  <a:moveTo>
                    <a:pt x="53034" y="0"/>
                  </a:moveTo>
                  <a:lnTo>
                    <a:pt x="697858" y="0"/>
                  </a:lnTo>
                  <a:cubicBezTo>
                    <a:pt x="711924" y="0"/>
                    <a:pt x="725413" y="5587"/>
                    <a:pt x="735359" y="15533"/>
                  </a:cubicBezTo>
                  <a:cubicBezTo>
                    <a:pt x="745304" y="25479"/>
                    <a:pt x="750892" y="38968"/>
                    <a:pt x="750892" y="53034"/>
                  </a:cubicBezTo>
                  <a:lnTo>
                    <a:pt x="750892" y="173918"/>
                  </a:lnTo>
                  <a:cubicBezTo>
                    <a:pt x="750892" y="187983"/>
                    <a:pt x="745304" y="201472"/>
                    <a:pt x="735359" y="211418"/>
                  </a:cubicBezTo>
                  <a:cubicBezTo>
                    <a:pt x="725413" y="221364"/>
                    <a:pt x="711924" y="226951"/>
                    <a:pt x="697858" y="226951"/>
                  </a:cubicBezTo>
                  <a:lnTo>
                    <a:pt x="53034" y="226951"/>
                  </a:lnTo>
                  <a:cubicBezTo>
                    <a:pt x="38968" y="226951"/>
                    <a:pt x="25479" y="221364"/>
                    <a:pt x="15533" y="211418"/>
                  </a:cubicBezTo>
                  <a:cubicBezTo>
                    <a:pt x="5587" y="201472"/>
                    <a:pt x="0" y="187983"/>
                    <a:pt x="0" y="173918"/>
                  </a:cubicBezTo>
                  <a:lnTo>
                    <a:pt x="0" y="53034"/>
                  </a:lnTo>
                  <a:cubicBezTo>
                    <a:pt x="0" y="38968"/>
                    <a:pt x="5587" y="25479"/>
                    <a:pt x="15533" y="15533"/>
                  </a:cubicBezTo>
                  <a:cubicBezTo>
                    <a:pt x="25479" y="5587"/>
                    <a:pt x="38968" y="0"/>
                    <a:pt x="53034" y="0"/>
                  </a:cubicBezTo>
                  <a:close/>
                </a:path>
              </a:pathLst>
            </a:custGeom>
            <a:solidFill>
              <a:srgbClr val="2B2B2B"/>
            </a:solidFill>
          </p:spPr>
        </p:sp>
        <p:sp>
          <p:nvSpPr>
            <p:cNvPr name="TextBox 10" id="10"/>
            <p:cNvSpPr txBox="true"/>
            <p:nvPr/>
          </p:nvSpPr>
          <p:spPr>
            <a:xfrm>
              <a:off x="0" y="57150"/>
              <a:ext cx="750892" cy="169801"/>
            </a:xfrm>
            <a:prstGeom prst="rect">
              <a:avLst/>
            </a:prstGeom>
          </p:spPr>
          <p:txBody>
            <a:bodyPr anchor="ctr" rtlCol="false" tIns="50800" lIns="50800" bIns="50800" rIns="50800"/>
            <a:lstStyle/>
            <a:p>
              <a:pPr algn="ctr">
                <a:lnSpc>
                  <a:spcPts val="2120"/>
                </a:lnSpc>
              </a:pPr>
            </a:p>
          </p:txBody>
        </p:sp>
      </p:grpSp>
      <p:sp>
        <p:nvSpPr>
          <p:cNvPr name="TextBox 11" id="11"/>
          <p:cNvSpPr txBox="true"/>
          <p:nvPr/>
        </p:nvSpPr>
        <p:spPr>
          <a:xfrm rot="0">
            <a:off x="252645" y="290000"/>
            <a:ext cx="10840199" cy="2432535"/>
          </a:xfrm>
          <a:prstGeom prst="rect">
            <a:avLst/>
          </a:prstGeom>
        </p:spPr>
        <p:txBody>
          <a:bodyPr anchor="t" rtlCol="false" tIns="0" lIns="0" bIns="0" rIns="0">
            <a:spAutoFit/>
          </a:bodyPr>
          <a:lstStyle/>
          <a:p>
            <a:pPr algn="l">
              <a:lnSpc>
                <a:spcPts val="6616"/>
              </a:lnSpc>
            </a:pPr>
            <a:r>
              <a:rPr lang="en-US" sz="6820" spc="-559" b="true">
                <a:solidFill>
                  <a:srgbClr val="FFF8EE"/>
                </a:solidFill>
                <a:latin typeface="Gotham Bold"/>
                <a:ea typeface="Gotham Bold"/>
                <a:cs typeface="Gotham Bold"/>
                <a:sym typeface="Gotham Bold"/>
              </a:rPr>
              <a:t>Cor</a:t>
            </a:r>
            <a:r>
              <a:rPr lang="en-US" b="true" sz="6820" spc="-559">
                <a:solidFill>
                  <a:srgbClr val="FFF8EE"/>
                </a:solidFill>
                <a:latin typeface="Gotham Bold"/>
                <a:ea typeface="Gotham Bold"/>
                <a:cs typeface="Gotham Bold"/>
                <a:sym typeface="Gotham Bold"/>
              </a:rPr>
              <a:t>e Performance Metrics: The Waiting Gap</a:t>
            </a:r>
          </a:p>
          <a:p>
            <a:pPr algn="l">
              <a:lnSpc>
                <a:spcPts val="5646"/>
              </a:lnSpc>
            </a:pPr>
          </a:p>
        </p:txBody>
      </p:sp>
      <p:grpSp>
        <p:nvGrpSpPr>
          <p:cNvPr name="Group 12" id="12"/>
          <p:cNvGrpSpPr/>
          <p:nvPr/>
        </p:nvGrpSpPr>
        <p:grpSpPr>
          <a:xfrm rot="0">
            <a:off x="8629718" y="2824074"/>
            <a:ext cx="2237778" cy="2098226"/>
            <a:chOff x="0" y="0"/>
            <a:chExt cx="812800" cy="762112"/>
          </a:xfrm>
        </p:grpSpPr>
        <p:sp>
          <p:nvSpPr>
            <p:cNvPr name="Freeform 13" id="13"/>
            <p:cNvSpPr/>
            <p:nvPr/>
          </p:nvSpPr>
          <p:spPr>
            <a:xfrm flipH="false" flipV="false" rot="0">
              <a:off x="0" y="0"/>
              <a:ext cx="812800" cy="762112"/>
            </a:xfrm>
            <a:custGeom>
              <a:avLst/>
              <a:gdLst/>
              <a:ahLst/>
              <a:cxnLst/>
              <a:rect r="r" b="b" t="t" l="l"/>
              <a:pathLst>
                <a:path h="762112" w="812800">
                  <a:moveTo>
                    <a:pt x="406400" y="0"/>
                  </a:moveTo>
                  <a:cubicBezTo>
                    <a:pt x="181951" y="0"/>
                    <a:pt x="0" y="170605"/>
                    <a:pt x="0" y="381056"/>
                  </a:cubicBezTo>
                  <a:cubicBezTo>
                    <a:pt x="0" y="591508"/>
                    <a:pt x="181951" y="762112"/>
                    <a:pt x="406400" y="762112"/>
                  </a:cubicBezTo>
                  <a:cubicBezTo>
                    <a:pt x="630849" y="762112"/>
                    <a:pt x="812800" y="591508"/>
                    <a:pt x="812800" y="381056"/>
                  </a:cubicBezTo>
                  <a:cubicBezTo>
                    <a:pt x="812800" y="170605"/>
                    <a:pt x="630849" y="0"/>
                    <a:pt x="406400" y="0"/>
                  </a:cubicBezTo>
                  <a:close/>
                </a:path>
              </a:pathLst>
            </a:custGeom>
            <a:solidFill>
              <a:srgbClr val="2B2B2B"/>
            </a:solidFill>
          </p:spPr>
        </p:sp>
        <p:sp>
          <p:nvSpPr>
            <p:cNvPr name="TextBox 14" id="14"/>
            <p:cNvSpPr txBox="true"/>
            <p:nvPr/>
          </p:nvSpPr>
          <p:spPr>
            <a:xfrm>
              <a:off x="76200" y="128598"/>
              <a:ext cx="660400" cy="562066"/>
            </a:xfrm>
            <a:prstGeom prst="rect">
              <a:avLst/>
            </a:prstGeom>
          </p:spPr>
          <p:txBody>
            <a:bodyPr anchor="ctr" rtlCol="false" tIns="50800" lIns="50800" bIns="50800" rIns="50800"/>
            <a:lstStyle/>
            <a:p>
              <a:pPr algn="ctr">
                <a:lnSpc>
                  <a:spcPts val="2120"/>
                </a:lnSpc>
              </a:pPr>
            </a:p>
          </p:txBody>
        </p:sp>
      </p:grpSp>
      <p:grpSp>
        <p:nvGrpSpPr>
          <p:cNvPr name="Group 15" id="15"/>
          <p:cNvGrpSpPr/>
          <p:nvPr/>
        </p:nvGrpSpPr>
        <p:grpSpPr>
          <a:xfrm rot="0">
            <a:off x="4463533" y="2272175"/>
            <a:ext cx="3898312" cy="6005007"/>
            <a:chOff x="0" y="0"/>
            <a:chExt cx="1026716" cy="1581566"/>
          </a:xfrm>
        </p:grpSpPr>
        <p:sp>
          <p:nvSpPr>
            <p:cNvPr name="Freeform 16" id="16"/>
            <p:cNvSpPr/>
            <p:nvPr/>
          </p:nvSpPr>
          <p:spPr>
            <a:xfrm flipH="false" flipV="false" rot="0">
              <a:off x="0" y="0"/>
              <a:ext cx="1026716" cy="1581566"/>
            </a:xfrm>
            <a:custGeom>
              <a:avLst/>
              <a:gdLst/>
              <a:ahLst/>
              <a:cxnLst/>
              <a:rect r="r" b="b" t="t" l="l"/>
              <a:pathLst>
                <a:path h="1581566" w="1026716">
                  <a:moveTo>
                    <a:pt x="59579" y="0"/>
                  </a:moveTo>
                  <a:lnTo>
                    <a:pt x="967137" y="0"/>
                  </a:lnTo>
                  <a:cubicBezTo>
                    <a:pt x="982938" y="0"/>
                    <a:pt x="998092" y="6277"/>
                    <a:pt x="1009266" y="17450"/>
                  </a:cubicBezTo>
                  <a:cubicBezTo>
                    <a:pt x="1020439" y="28624"/>
                    <a:pt x="1026716" y="43778"/>
                    <a:pt x="1026716" y="59579"/>
                  </a:cubicBezTo>
                  <a:lnTo>
                    <a:pt x="1026716" y="1521987"/>
                  </a:lnTo>
                  <a:cubicBezTo>
                    <a:pt x="1026716" y="1554891"/>
                    <a:pt x="1000041" y="1581566"/>
                    <a:pt x="967137" y="1581566"/>
                  </a:cubicBezTo>
                  <a:lnTo>
                    <a:pt x="59579" y="1581566"/>
                  </a:lnTo>
                  <a:cubicBezTo>
                    <a:pt x="43778" y="1581566"/>
                    <a:pt x="28624" y="1575289"/>
                    <a:pt x="17450" y="1564115"/>
                  </a:cubicBezTo>
                  <a:cubicBezTo>
                    <a:pt x="6277" y="1552942"/>
                    <a:pt x="0" y="1537788"/>
                    <a:pt x="0" y="1521987"/>
                  </a:cubicBezTo>
                  <a:lnTo>
                    <a:pt x="0" y="59579"/>
                  </a:lnTo>
                  <a:cubicBezTo>
                    <a:pt x="0" y="26674"/>
                    <a:pt x="26674" y="0"/>
                    <a:pt x="59579" y="0"/>
                  </a:cubicBezTo>
                  <a:close/>
                </a:path>
              </a:pathLst>
            </a:custGeom>
            <a:solidFill>
              <a:srgbClr val="6CE5E8"/>
            </a:solidFill>
          </p:spPr>
        </p:sp>
        <p:sp>
          <p:nvSpPr>
            <p:cNvPr name="TextBox 17" id="17"/>
            <p:cNvSpPr txBox="true"/>
            <p:nvPr/>
          </p:nvSpPr>
          <p:spPr>
            <a:xfrm>
              <a:off x="0" y="-57150"/>
              <a:ext cx="1026716" cy="1638716"/>
            </a:xfrm>
            <a:prstGeom prst="rect">
              <a:avLst/>
            </a:prstGeom>
          </p:spPr>
          <p:txBody>
            <a:bodyPr anchor="ctr" rtlCol="false" tIns="50800" lIns="50800" bIns="50800" rIns="50800"/>
            <a:lstStyle/>
            <a:p>
              <a:pPr algn="ctr">
                <a:lnSpc>
                  <a:spcPts val="2735"/>
                </a:lnSpc>
              </a:pPr>
            </a:p>
          </p:txBody>
        </p:sp>
      </p:grpSp>
      <p:sp>
        <p:nvSpPr>
          <p:cNvPr name="Freeform 18" id="18"/>
          <p:cNvSpPr/>
          <p:nvPr/>
        </p:nvSpPr>
        <p:spPr>
          <a:xfrm flipH="false" flipV="false" rot="-5400000">
            <a:off x="5234675" y="2377934"/>
            <a:ext cx="2356027" cy="3045725"/>
          </a:xfrm>
          <a:custGeom>
            <a:avLst/>
            <a:gdLst/>
            <a:ahLst/>
            <a:cxnLst/>
            <a:rect r="r" b="b" t="t" l="l"/>
            <a:pathLst>
              <a:path h="3045725" w="2356027">
                <a:moveTo>
                  <a:pt x="0" y="0"/>
                </a:moveTo>
                <a:lnTo>
                  <a:pt x="2356027" y="0"/>
                </a:lnTo>
                <a:lnTo>
                  <a:pt x="2356027" y="3045724"/>
                </a:lnTo>
                <a:lnTo>
                  <a:pt x="0" y="3045724"/>
                </a:lnTo>
                <a:lnTo>
                  <a:pt x="0" y="0"/>
                </a:lnTo>
                <a:close/>
              </a:path>
            </a:pathLst>
          </a:custGeom>
          <a:blipFill>
            <a:blip r:embed="rId6">
              <a:extLst>
                <a:ext uri="{96DAC541-7B7A-43D3-8B79-37D633B846F1}">
                  <asvg:svgBlip xmlns:asvg="http://schemas.microsoft.com/office/drawing/2016/SVG/main" r:embed="rId7"/>
                </a:ext>
              </a:extLst>
            </a:blip>
            <a:stretch>
              <a:fillRect l="-22854" t="0" r="-22192" b="0"/>
            </a:stretch>
          </a:blipFill>
        </p:spPr>
      </p:sp>
      <p:sp>
        <p:nvSpPr>
          <p:cNvPr name="Freeform 19" id="19"/>
          <p:cNvSpPr/>
          <p:nvPr/>
        </p:nvSpPr>
        <p:spPr>
          <a:xfrm flipH="false" flipV="false" rot="-5400000">
            <a:off x="5234675" y="5083627"/>
            <a:ext cx="2356027" cy="3045725"/>
          </a:xfrm>
          <a:custGeom>
            <a:avLst/>
            <a:gdLst/>
            <a:ahLst/>
            <a:cxnLst/>
            <a:rect r="r" b="b" t="t" l="l"/>
            <a:pathLst>
              <a:path h="3045725" w="2356027">
                <a:moveTo>
                  <a:pt x="0" y="0"/>
                </a:moveTo>
                <a:lnTo>
                  <a:pt x="2356027" y="0"/>
                </a:lnTo>
                <a:lnTo>
                  <a:pt x="2356027" y="3045725"/>
                </a:lnTo>
                <a:lnTo>
                  <a:pt x="0" y="3045725"/>
                </a:lnTo>
                <a:lnTo>
                  <a:pt x="0" y="0"/>
                </a:lnTo>
                <a:close/>
              </a:path>
            </a:pathLst>
          </a:custGeom>
          <a:blipFill>
            <a:blip r:embed="rId6">
              <a:extLst>
                <a:ext uri="{96DAC541-7B7A-43D3-8B79-37D633B846F1}">
                  <asvg:svgBlip xmlns:asvg="http://schemas.microsoft.com/office/drawing/2016/SVG/main" r:embed="rId7"/>
                </a:ext>
              </a:extLst>
            </a:blip>
            <a:stretch>
              <a:fillRect l="-22854" t="0" r="-22192" b="0"/>
            </a:stretch>
          </a:blipFill>
        </p:spPr>
      </p:sp>
      <p:sp>
        <p:nvSpPr>
          <p:cNvPr name="Freeform 20" id="20"/>
          <p:cNvSpPr/>
          <p:nvPr/>
        </p:nvSpPr>
        <p:spPr>
          <a:xfrm flipH="false" flipV="false" rot="0">
            <a:off x="966733" y="4069808"/>
            <a:ext cx="2669431" cy="1704984"/>
          </a:xfrm>
          <a:custGeom>
            <a:avLst/>
            <a:gdLst/>
            <a:ahLst/>
            <a:cxnLst/>
            <a:rect r="r" b="b" t="t" l="l"/>
            <a:pathLst>
              <a:path h="1704984" w="2669431">
                <a:moveTo>
                  <a:pt x="0" y="0"/>
                </a:moveTo>
                <a:lnTo>
                  <a:pt x="2669431" y="0"/>
                </a:lnTo>
                <a:lnTo>
                  <a:pt x="2669431" y="1704984"/>
                </a:lnTo>
                <a:lnTo>
                  <a:pt x="0" y="1704984"/>
                </a:lnTo>
                <a:lnTo>
                  <a:pt x="0" y="0"/>
                </a:lnTo>
                <a:close/>
              </a:path>
            </a:pathLst>
          </a:custGeom>
          <a:blipFill>
            <a:blip r:embed="rId8"/>
            <a:stretch>
              <a:fillRect l="-7027" t="0" r="-7027" b="0"/>
            </a:stretch>
          </a:blipFill>
        </p:spPr>
      </p:sp>
      <p:sp>
        <p:nvSpPr>
          <p:cNvPr name="Freeform 21" id="21"/>
          <p:cNvSpPr/>
          <p:nvPr/>
        </p:nvSpPr>
        <p:spPr>
          <a:xfrm flipH="false" flipV="false" rot="0">
            <a:off x="4889826" y="3177671"/>
            <a:ext cx="3045725" cy="1446250"/>
          </a:xfrm>
          <a:custGeom>
            <a:avLst/>
            <a:gdLst/>
            <a:ahLst/>
            <a:cxnLst/>
            <a:rect r="r" b="b" t="t" l="l"/>
            <a:pathLst>
              <a:path h="1446250" w="3045725">
                <a:moveTo>
                  <a:pt x="0" y="0"/>
                </a:moveTo>
                <a:lnTo>
                  <a:pt x="3045725" y="0"/>
                </a:lnTo>
                <a:lnTo>
                  <a:pt x="3045725" y="1446250"/>
                </a:lnTo>
                <a:lnTo>
                  <a:pt x="0" y="1446250"/>
                </a:lnTo>
                <a:lnTo>
                  <a:pt x="0" y="0"/>
                </a:lnTo>
                <a:close/>
              </a:path>
            </a:pathLst>
          </a:custGeom>
          <a:blipFill>
            <a:blip r:embed="rId9"/>
            <a:stretch>
              <a:fillRect l="-4901" t="0" r="-4156" b="0"/>
            </a:stretch>
          </a:blipFill>
        </p:spPr>
      </p:sp>
      <p:sp>
        <p:nvSpPr>
          <p:cNvPr name="Freeform 22" id="22"/>
          <p:cNvSpPr/>
          <p:nvPr/>
        </p:nvSpPr>
        <p:spPr>
          <a:xfrm flipH="false" flipV="false" rot="0">
            <a:off x="5222565" y="5902433"/>
            <a:ext cx="2380247" cy="1368642"/>
          </a:xfrm>
          <a:custGeom>
            <a:avLst/>
            <a:gdLst/>
            <a:ahLst/>
            <a:cxnLst/>
            <a:rect r="r" b="b" t="t" l="l"/>
            <a:pathLst>
              <a:path h="1368642" w="2380247">
                <a:moveTo>
                  <a:pt x="0" y="0"/>
                </a:moveTo>
                <a:lnTo>
                  <a:pt x="2380247" y="0"/>
                </a:lnTo>
                <a:lnTo>
                  <a:pt x="2380247" y="1368643"/>
                </a:lnTo>
                <a:lnTo>
                  <a:pt x="0" y="1368643"/>
                </a:lnTo>
                <a:lnTo>
                  <a:pt x="0" y="0"/>
                </a:lnTo>
                <a:close/>
              </a:path>
            </a:pathLst>
          </a:custGeom>
          <a:blipFill>
            <a:blip r:embed="rId10"/>
            <a:stretch>
              <a:fillRect l="0" t="0" r="0" b="0"/>
            </a:stretch>
          </a:blipFill>
        </p:spPr>
      </p:sp>
      <p:sp>
        <p:nvSpPr>
          <p:cNvPr name="Freeform 23" id="23"/>
          <p:cNvSpPr/>
          <p:nvPr/>
        </p:nvSpPr>
        <p:spPr>
          <a:xfrm flipH="false" flipV="false" rot="0">
            <a:off x="14824883" y="3158599"/>
            <a:ext cx="3174814" cy="658468"/>
          </a:xfrm>
          <a:custGeom>
            <a:avLst/>
            <a:gdLst/>
            <a:ahLst/>
            <a:cxnLst/>
            <a:rect r="r" b="b" t="t" l="l"/>
            <a:pathLst>
              <a:path h="658468" w="3174814">
                <a:moveTo>
                  <a:pt x="0" y="0"/>
                </a:moveTo>
                <a:lnTo>
                  <a:pt x="3174813" y="0"/>
                </a:lnTo>
                <a:lnTo>
                  <a:pt x="3174813" y="658467"/>
                </a:lnTo>
                <a:lnTo>
                  <a:pt x="0" y="658467"/>
                </a:lnTo>
                <a:lnTo>
                  <a:pt x="0" y="0"/>
                </a:lnTo>
                <a:close/>
              </a:path>
            </a:pathLst>
          </a:custGeom>
          <a:blipFill>
            <a:blip r:embed="rId11"/>
            <a:stretch>
              <a:fillRect l="0" t="-13654" r="0" b="-13654"/>
            </a:stretch>
          </a:blipFill>
        </p:spPr>
      </p:sp>
      <p:sp>
        <p:nvSpPr>
          <p:cNvPr name="Freeform 24" id="24"/>
          <p:cNvSpPr/>
          <p:nvPr/>
        </p:nvSpPr>
        <p:spPr>
          <a:xfrm flipH="false" flipV="false" rot="0">
            <a:off x="8798723" y="3766775"/>
            <a:ext cx="1899767" cy="659400"/>
          </a:xfrm>
          <a:custGeom>
            <a:avLst/>
            <a:gdLst/>
            <a:ahLst/>
            <a:cxnLst/>
            <a:rect r="r" b="b" t="t" l="l"/>
            <a:pathLst>
              <a:path h="659400" w="1899767">
                <a:moveTo>
                  <a:pt x="0" y="0"/>
                </a:moveTo>
                <a:lnTo>
                  <a:pt x="1899767" y="0"/>
                </a:lnTo>
                <a:lnTo>
                  <a:pt x="1899767" y="659400"/>
                </a:lnTo>
                <a:lnTo>
                  <a:pt x="0" y="659400"/>
                </a:lnTo>
                <a:lnTo>
                  <a:pt x="0" y="0"/>
                </a:lnTo>
                <a:close/>
              </a:path>
            </a:pathLst>
          </a:custGeom>
          <a:blipFill>
            <a:blip r:embed="rId12"/>
            <a:stretch>
              <a:fillRect l="0" t="-13836" r="0" b="-78869"/>
            </a:stretch>
          </a:blipFill>
        </p:spPr>
      </p:sp>
      <p:sp>
        <p:nvSpPr>
          <p:cNvPr name="TextBox 25" id="25"/>
          <p:cNvSpPr txBox="true"/>
          <p:nvPr/>
        </p:nvSpPr>
        <p:spPr>
          <a:xfrm rot="0">
            <a:off x="8955507" y="3409603"/>
            <a:ext cx="3823976" cy="320846"/>
          </a:xfrm>
          <a:prstGeom prst="rect">
            <a:avLst/>
          </a:prstGeom>
        </p:spPr>
        <p:txBody>
          <a:bodyPr anchor="t" rtlCol="false" tIns="0" lIns="0" bIns="0" rIns="0">
            <a:spAutoFit/>
          </a:bodyPr>
          <a:lstStyle/>
          <a:p>
            <a:pPr algn="l">
              <a:lnSpc>
                <a:spcPts val="2386"/>
              </a:lnSpc>
            </a:pPr>
            <a:r>
              <a:rPr lang="en-US" sz="2594" spc="-267" b="true">
                <a:solidFill>
                  <a:srgbClr val="FFFFFF"/>
                </a:solidFill>
                <a:latin typeface="Gotham Bold"/>
                <a:ea typeface="Gotham Bold"/>
                <a:cs typeface="Gotham Bold"/>
                <a:sym typeface="Gotham Bold"/>
              </a:rPr>
              <a:t>LWBS Rate</a:t>
            </a:r>
          </a:p>
        </p:txBody>
      </p:sp>
      <p:sp>
        <p:nvSpPr>
          <p:cNvPr name="TextBox 26" id="26"/>
          <p:cNvSpPr txBox="true"/>
          <p:nvPr/>
        </p:nvSpPr>
        <p:spPr>
          <a:xfrm rot="0">
            <a:off x="14959092" y="1295117"/>
            <a:ext cx="2773647" cy="608659"/>
          </a:xfrm>
          <a:prstGeom prst="rect">
            <a:avLst/>
          </a:prstGeom>
        </p:spPr>
        <p:txBody>
          <a:bodyPr anchor="t" rtlCol="false" tIns="0" lIns="0" bIns="0" rIns="0">
            <a:spAutoFit/>
          </a:bodyPr>
          <a:lstStyle/>
          <a:p>
            <a:pPr algn="l">
              <a:lnSpc>
                <a:spcPts val="4519"/>
              </a:lnSpc>
            </a:pPr>
            <a:r>
              <a:rPr lang="en-US" sz="4912" spc="-505" b="true">
                <a:solidFill>
                  <a:srgbClr val="2B2B2B"/>
                </a:solidFill>
                <a:latin typeface="Gotham Bold"/>
                <a:ea typeface="Gotham Bold"/>
                <a:cs typeface="Gotham Bold"/>
                <a:sym typeface="Gotham Bold"/>
              </a:rPr>
              <a:t>Slicers</a:t>
            </a:r>
          </a:p>
        </p:txBody>
      </p:sp>
      <p:sp>
        <p:nvSpPr>
          <p:cNvPr name="TextBox 27" id="27"/>
          <p:cNvSpPr txBox="true"/>
          <p:nvPr/>
        </p:nvSpPr>
        <p:spPr>
          <a:xfrm rot="0">
            <a:off x="14811529" y="2848051"/>
            <a:ext cx="2197982" cy="310547"/>
          </a:xfrm>
          <a:prstGeom prst="rect">
            <a:avLst/>
          </a:prstGeom>
        </p:spPr>
        <p:txBody>
          <a:bodyPr anchor="t" rtlCol="false" tIns="0" lIns="0" bIns="0" rIns="0">
            <a:spAutoFit/>
          </a:bodyPr>
          <a:lstStyle/>
          <a:p>
            <a:pPr algn="l">
              <a:lnSpc>
                <a:spcPts val="2327"/>
              </a:lnSpc>
            </a:pPr>
            <a:r>
              <a:rPr lang="en-US" sz="2529" spc="-260" b="true">
                <a:solidFill>
                  <a:srgbClr val="2B2B2B"/>
                </a:solidFill>
                <a:latin typeface="Gotham Bold"/>
                <a:ea typeface="Gotham Bold"/>
                <a:cs typeface="Gotham Bold"/>
                <a:sym typeface="Gotham Bold"/>
              </a:rPr>
              <a:t>Period</a:t>
            </a:r>
          </a:p>
        </p:txBody>
      </p:sp>
      <p:sp>
        <p:nvSpPr>
          <p:cNvPr name="TextBox 28" id="28"/>
          <p:cNvSpPr txBox="true"/>
          <p:nvPr/>
        </p:nvSpPr>
        <p:spPr>
          <a:xfrm rot="0">
            <a:off x="14959092" y="2150239"/>
            <a:ext cx="2877749" cy="310547"/>
          </a:xfrm>
          <a:prstGeom prst="rect">
            <a:avLst/>
          </a:prstGeom>
        </p:spPr>
        <p:txBody>
          <a:bodyPr anchor="t" rtlCol="false" tIns="0" lIns="0" bIns="0" rIns="0">
            <a:spAutoFit/>
          </a:bodyPr>
          <a:lstStyle/>
          <a:p>
            <a:pPr algn="ctr">
              <a:lnSpc>
                <a:spcPts val="2327"/>
              </a:lnSpc>
            </a:pPr>
            <a:r>
              <a:rPr lang="en-US" b="true" sz="2529" spc="-260">
                <a:solidFill>
                  <a:srgbClr val="FFFFFF"/>
                </a:solidFill>
                <a:latin typeface="Gotham Bold"/>
                <a:ea typeface="Gotham Bold"/>
                <a:cs typeface="Gotham Bold"/>
                <a:sym typeface="Gotham Bold"/>
              </a:rPr>
              <a:t>Diagnosis Code     </a:t>
            </a:r>
            <a:r>
              <a:rPr lang="en-US" sz="2529" spc="-260">
                <a:solidFill>
                  <a:srgbClr val="FFFFFF"/>
                </a:solidFill>
                <a:latin typeface="Gotham"/>
                <a:ea typeface="Gotham"/>
                <a:cs typeface="Gotham"/>
                <a:sym typeface="Gotham"/>
              </a:rPr>
              <a:t>All</a:t>
            </a:r>
          </a:p>
        </p:txBody>
      </p:sp>
      <p:sp>
        <p:nvSpPr>
          <p:cNvPr name="TextBox 29" id="29"/>
          <p:cNvSpPr txBox="true"/>
          <p:nvPr/>
        </p:nvSpPr>
        <p:spPr>
          <a:xfrm rot="0">
            <a:off x="14959092" y="4247388"/>
            <a:ext cx="2905548" cy="459655"/>
          </a:xfrm>
          <a:prstGeom prst="rect">
            <a:avLst/>
          </a:prstGeom>
        </p:spPr>
        <p:txBody>
          <a:bodyPr anchor="t" rtlCol="false" tIns="0" lIns="0" bIns="0" rIns="0">
            <a:spAutoFit/>
          </a:bodyPr>
          <a:lstStyle/>
          <a:p>
            <a:pPr algn="l">
              <a:lnSpc>
                <a:spcPts val="3321"/>
              </a:lnSpc>
            </a:pPr>
            <a:r>
              <a:rPr lang="en-US" sz="3610" spc="-371" b="true">
                <a:solidFill>
                  <a:srgbClr val="FFFFFF"/>
                </a:solidFill>
                <a:latin typeface="Gotham Bold"/>
                <a:ea typeface="Gotham Bold"/>
                <a:cs typeface="Gotham Bold"/>
                <a:sym typeface="Gotham Bold"/>
              </a:rPr>
              <a:t>Shift        </a:t>
            </a:r>
            <a:r>
              <a:rPr lang="en-US" sz="3610" spc="-371">
                <a:solidFill>
                  <a:srgbClr val="FFFFFF"/>
                </a:solidFill>
                <a:latin typeface="Gotham"/>
                <a:ea typeface="Gotham"/>
                <a:cs typeface="Gotham"/>
                <a:sym typeface="Gotham"/>
              </a:rPr>
              <a:t>Day</a:t>
            </a:r>
          </a:p>
        </p:txBody>
      </p:sp>
      <p:sp>
        <p:nvSpPr>
          <p:cNvPr name="TextBox 30" id="30"/>
          <p:cNvSpPr txBox="true"/>
          <p:nvPr/>
        </p:nvSpPr>
        <p:spPr>
          <a:xfrm rot="0">
            <a:off x="0" y="9923613"/>
            <a:ext cx="3006454" cy="363387"/>
          </a:xfrm>
          <a:prstGeom prst="rect">
            <a:avLst/>
          </a:prstGeom>
        </p:spPr>
        <p:txBody>
          <a:bodyPr anchor="t" rtlCol="false" tIns="0" lIns="0" bIns="0" rIns="0">
            <a:spAutoFit/>
          </a:bodyPr>
          <a:lstStyle/>
          <a:p>
            <a:pPr algn="l">
              <a:lnSpc>
                <a:spcPts val="2683"/>
              </a:lnSpc>
            </a:pPr>
            <a:r>
              <a:rPr lang="en-US" sz="2766" spc="-284" b="true">
                <a:solidFill>
                  <a:srgbClr val="FFF8EE"/>
                </a:solidFill>
                <a:latin typeface="Gotham Bold"/>
                <a:ea typeface="Gotham Bold"/>
                <a:cs typeface="Gotham Bold"/>
                <a:sym typeface="Gotham Bold"/>
              </a:rPr>
              <a:t>Ex</a:t>
            </a:r>
            <a:r>
              <a:rPr lang="en-US" b="true" sz="2766" spc="-284">
                <a:solidFill>
                  <a:srgbClr val="FFF8EE"/>
                </a:solidFill>
                <a:latin typeface="Gotham Bold"/>
                <a:ea typeface="Gotham Bold"/>
                <a:cs typeface="Gotham Bold"/>
                <a:sym typeface="Gotham Bold"/>
              </a:rPr>
              <a:t>ecutive Summary</a:t>
            </a:r>
          </a:p>
        </p:txBody>
      </p:sp>
      <p:grpSp>
        <p:nvGrpSpPr>
          <p:cNvPr name="Group 31" id="31"/>
          <p:cNvGrpSpPr/>
          <p:nvPr/>
        </p:nvGrpSpPr>
        <p:grpSpPr>
          <a:xfrm rot="0">
            <a:off x="9613706" y="5799453"/>
            <a:ext cx="8843177" cy="5049230"/>
            <a:chOff x="0" y="0"/>
            <a:chExt cx="2329067" cy="1329838"/>
          </a:xfrm>
        </p:grpSpPr>
        <p:sp>
          <p:nvSpPr>
            <p:cNvPr name="Freeform 32" id="32"/>
            <p:cNvSpPr/>
            <p:nvPr/>
          </p:nvSpPr>
          <p:spPr>
            <a:xfrm flipH="false" flipV="false" rot="0">
              <a:off x="0" y="0"/>
              <a:ext cx="2329067" cy="1329838"/>
            </a:xfrm>
            <a:custGeom>
              <a:avLst/>
              <a:gdLst/>
              <a:ahLst/>
              <a:cxnLst/>
              <a:rect r="r" b="b" t="t" l="l"/>
              <a:pathLst>
                <a:path h="1329838" w="2329067">
                  <a:moveTo>
                    <a:pt x="26264" y="0"/>
                  </a:moveTo>
                  <a:lnTo>
                    <a:pt x="2302803" y="0"/>
                  </a:lnTo>
                  <a:cubicBezTo>
                    <a:pt x="2317309" y="0"/>
                    <a:pt x="2329067" y="11759"/>
                    <a:pt x="2329067" y="26264"/>
                  </a:cubicBezTo>
                  <a:lnTo>
                    <a:pt x="2329067" y="1303574"/>
                  </a:lnTo>
                  <a:cubicBezTo>
                    <a:pt x="2329067" y="1318080"/>
                    <a:pt x="2317309" y="1329838"/>
                    <a:pt x="2302803" y="1329838"/>
                  </a:cubicBezTo>
                  <a:lnTo>
                    <a:pt x="26264" y="1329838"/>
                  </a:lnTo>
                  <a:cubicBezTo>
                    <a:pt x="11759" y="1329838"/>
                    <a:pt x="0" y="1318080"/>
                    <a:pt x="0" y="1303574"/>
                  </a:cubicBezTo>
                  <a:lnTo>
                    <a:pt x="0" y="26264"/>
                  </a:lnTo>
                  <a:cubicBezTo>
                    <a:pt x="0" y="11759"/>
                    <a:pt x="11759" y="0"/>
                    <a:pt x="26264" y="0"/>
                  </a:cubicBezTo>
                  <a:close/>
                </a:path>
              </a:pathLst>
            </a:custGeom>
            <a:solidFill>
              <a:srgbClr val="000000"/>
            </a:solidFill>
          </p:spPr>
        </p:sp>
        <p:sp>
          <p:nvSpPr>
            <p:cNvPr name="TextBox 33" id="33"/>
            <p:cNvSpPr txBox="true"/>
            <p:nvPr/>
          </p:nvSpPr>
          <p:spPr>
            <a:xfrm>
              <a:off x="0" y="-57150"/>
              <a:ext cx="2329067" cy="1386988"/>
            </a:xfrm>
            <a:prstGeom prst="rect">
              <a:avLst/>
            </a:prstGeom>
          </p:spPr>
          <p:txBody>
            <a:bodyPr anchor="ctr" rtlCol="false" tIns="50800" lIns="50800" bIns="50800" rIns="50800"/>
            <a:lstStyle/>
            <a:p>
              <a:pPr algn="ctr">
                <a:lnSpc>
                  <a:spcPts val="2735"/>
                </a:lnSpc>
              </a:pPr>
            </a:p>
          </p:txBody>
        </p:sp>
      </p:grpSp>
      <p:sp>
        <p:nvSpPr>
          <p:cNvPr name="TextBox 34" id="34"/>
          <p:cNvSpPr txBox="true"/>
          <p:nvPr/>
        </p:nvSpPr>
        <p:spPr>
          <a:xfrm rot="0">
            <a:off x="9849387" y="6050252"/>
            <a:ext cx="8264051" cy="4364447"/>
          </a:xfrm>
          <a:prstGeom prst="rect">
            <a:avLst/>
          </a:prstGeom>
        </p:spPr>
        <p:txBody>
          <a:bodyPr anchor="t" rtlCol="false" tIns="0" lIns="0" bIns="0" rIns="0">
            <a:spAutoFit/>
          </a:bodyPr>
          <a:lstStyle/>
          <a:p>
            <a:pPr algn="l">
              <a:lnSpc>
                <a:spcPts val="2637"/>
              </a:lnSpc>
            </a:pPr>
            <a:r>
              <a:rPr lang="en-US" sz="2836" spc="-192">
                <a:solidFill>
                  <a:srgbClr val="FFFFFF"/>
                </a:solidFill>
                <a:latin typeface="Gotham"/>
                <a:ea typeface="Gotham"/>
                <a:cs typeface="Gotham"/>
                <a:sym typeface="Gotham"/>
              </a:rPr>
              <a:t>The facility managed 3,417 total visits with an arrival-to-triage time of 17.54 minutes. While this initial processing time is just slightly above the 15-minute industry standard, it reveals a relatively efficient "front door". The critical failure point is the secondary wait: patients spend an average of 146.59 minutes (nearly 2.5 hours) from arrival until they actually see a doctor. This massive gap between being triaged and being seen by a physician is the primary driver of the 12.00% LWBS rate, indicating that patients are willing to be "checked in" but lose patience during the prolonged wait for clinical intervention.</a:t>
            </a:r>
          </a:p>
          <a:p>
            <a:pPr algn="l">
              <a:lnSpc>
                <a:spcPts val="2637"/>
              </a:lnSpc>
            </a:pPr>
          </a:p>
        </p:txBody>
      </p:sp>
      <p:sp>
        <p:nvSpPr>
          <p:cNvPr name="Freeform 35" id="35"/>
          <p:cNvSpPr/>
          <p:nvPr/>
        </p:nvSpPr>
        <p:spPr>
          <a:xfrm flipH="false" flipV="false" rot="0">
            <a:off x="0" y="9469922"/>
            <a:ext cx="2552594" cy="606809"/>
          </a:xfrm>
          <a:custGeom>
            <a:avLst/>
            <a:gdLst/>
            <a:ahLst/>
            <a:cxnLst/>
            <a:rect r="r" b="b" t="t" l="l"/>
            <a:pathLst>
              <a:path h="606809" w="2552594">
                <a:moveTo>
                  <a:pt x="0" y="0"/>
                </a:moveTo>
                <a:lnTo>
                  <a:pt x="2552594" y="0"/>
                </a:lnTo>
                <a:lnTo>
                  <a:pt x="2552594" y="606809"/>
                </a:lnTo>
                <a:lnTo>
                  <a:pt x="0" y="606809"/>
                </a:lnTo>
                <a:lnTo>
                  <a:pt x="0" y="0"/>
                </a:lnTo>
                <a:close/>
              </a:path>
            </a:pathLst>
          </a:custGeom>
          <a:blipFill>
            <a:blip r:embed="rId13">
              <a:extLst>
                <a:ext uri="{96DAC541-7B7A-43D3-8B79-37D633B846F1}">
                  <asvg:svgBlip xmlns:asvg="http://schemas.microsoft.com/office/drawing/2016/SVG/main" r:embed="rId14"/>
                </a:ext>
              </a:extLst>
            </a:blip>
            <a:stretch>
              <a:fillRect l="-88172" t="-118406" r="0" b="-87335"/>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3811739" y="-1795596"/>
            <a:ext cx="3646464" cy="4713920"/>
          </a:xfrm>
          <a:custGeom>
            <a:avLst/>
            <a:gdLst/>
            <a:ahLst/>
            <a:cxnLst/>
            <a:rect r="r" b="b" t="t" l="l"/>
            <a:pathLst>
              <a:path h="4713920" w="3646464">
                <a:moveTo>
                  <a:pt x="0" y="0"/>
                </a:moveTo>
                <a:lnTo>
                  <a:pt x="3646464" y="0"/>
                </a:lnTo>
                <a:lnTo>
                  <a:pt x="3646464" y="4713920"/>
                </a:lnTo>
                <a:lnTo>
                  <a:pt x="0" y="4713920"/>
                </a:lnTo>
                <a:lnTo>
                  <a:pt x="0" y="0"/>
                </a:lnTo>
                <a:close/>
              </a:path>
            </a:pathLst>
          </a:custGeom>
          <a:blipFill>
            <a:blip r:embed="rId2">
              <a:extLst>
                <a:ext uri="{96DAC541-7B7A-43D3-8B79-37D633B846F1}">
                  <asvg:svgBlip xmlns:asvg="http://schemas.microsoft.com/office/drawing/2016/SVG/main" r:embed="rId3"/>
                </a:ext>
              </a:extLst>
            </a:blip>
            <a:stretch>
              <a:fillRect l="-22854" t="0" r="-22192" b="0"/>
            </a:stretch>
          </a:blipFill>
        </p:spPr>
      </p:sp>
      <p:sp>
        <p:nvSpPr>
          <p:cNvPr name="Freeform 3" id="3"/>
          <p:cNvSpPr/>
          <p:nvPr/>
        </p:nvSpPr>
        <p:spPr>
          <a:xfrm flipH="false" flipV="false" rot="0">
            <a:off x="9011548" y="4726263"/>
            <a:ext cx="9820286" cy="5560737"/>
          </a:xfrm>
          <a:custGeom>
            <a:avLst/>
            <a:gdLst/>
            <a:ahLst/>
            <a:cxnLst/>
            <a:rect r="r" b="b" t="t" l="l"/>
            <a:pathLst>
              <a:path h="5560737" w="9820286">
                <a:moveTo>
                  <a:pt x="0" y="0"/>
                </a:moveTo>
                <a:lnTo>
                  <a:pt x="9820286" y="0"/>
                </a:lnTo>
                <a:lnTo>
                  <a:pt x="9820286" y="5560737"/>
                </a:lnTo>
                <a:lnTo>
                  <a:pt x="0" y="55607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0023630" y="4914640"/>
            <a:ext cx="7820318" cy="4964322"/>
            <a:chOff x="0" y="0"/>
            <a:chExt cx="2291172" cy="1454431"/>
          </a:xfrm>
        </p:grpSpPr>
        <p:sp>
          <p:nvSpPr>
            <p:cNvPr name="Freeform 5" id="5"/>
            <p:cNvSpPr/>
            <p:nvPr/>
          </p:nvSpPr>
          <p:spPr>
            <a:xfrm flipH="false" flipV="false" rot="0">
              <a:off x="0" y="0"/>
              <a:ext cx="2291172" cy="1454431"/>
            </a:xfrm>
            <a:custGeom>
              <a:avLst/>
              <a:gdLst/>
              <a:ahLst/>
              <a:cxnLst/>
              <a:rect r="r" b="b" t="t" l="l"/>
              <a:pathLst>
                <a:path h="1454431" w="2291172">
                  <a:moveTo>
                    <a:pt x="9900" y="0"/>
                  </a:moveTo>
                  <a:lnTo>
                    <a:pt x="2281272" y="0"/>
                  </a:lnTo>
                  <a:cubicBezTo>
                    <a:pt x="2283898" y="0"/>
                    <a:pt x="2286416" y="1043"/>
                    <a:pt x="2288272" y="2900"/>
                  </a:cubicBezTo>
                  <a:cubicBezTo>
                    <a:pt x="2290129" y="4756"/>
                    <a:pt x="2291172" y="7274"/>
                    <a:pt x="2291172" y="9900"/>
                  </a:cubicBezTo>
                  <a:lnTo>
                    <a:pt x="2291172" y="1444531"/>
                  </a:lnTo>
                  <a:cubicBezTo>
                    <a:pt x="2291172" y="1447157"/>
                    <a:pt x="2290129" y="1449675"/>
                    <a:pt x="2288272" y="1451532"/>
                  </a:cubicBezTo>
                  <a:cubicBezTo>
                    <a:pt x="2286416" y="1453388"/>
                    <a:pt x="2283898" y="1454431"/>
                    <a:pt x="2281272" y="1454431"/>
                  </a:cubicBezTo>
                  <a:lnTo>
                    <a:pt x="9900" y="1454431"/>
                  </a:lnTo>
                  <a:cubicBezTo>
                    <a:pt x="7274" y="1454431"/>
                    <a:pt x="4756" y="1453388"/>
                    <a:pt x="2900" y="1451532"/>
                  </a:cubicBezTo>
                  <a:cubicBezTo>
                    <a:pt x="1043" y="1449675"/>
                    <a:pt x="0" y="1447157"/>
                    <a:pt x="0" y="1444531"/>
                  </a:cubicBezTo>
                  <a:lnTo>
                    <a:pt x="0" y="9900"/>
                  </a:lnTo>
                  <a:cubicBezTo>
                    <a:pt x="0" y="7274"/>
                    <a:pt x="1043" y="4756"/>
                    <a:pt x="2900" y="2900"/>
                  </a:cubicBezTo>
                  <a:cubicBezTo>
                    <a:pt x="4756" y="1043"/>
                    <a:pt x="7274" y="0"/>
                    <a:pt x="9900" y="0"/>
                  </a:cubicBezTo>
                  <a:close/>
                </a:path>
              </a:pathLst>
            </a:custGeom>
            <a:gradFill rotWithShape="true">
              <a:gsLst>
                <a:gs pos="0">
                  <a:srgbClr val="501934">
                    <a:alpha val="100000"/>
                  </a:srgbClr>
                </a:gs>
                <a:gs pos="100000">
                  <a:srgbClr val="690B41">
                    <a:alpha val="100000"/>
                  </a:srgbClr>
                </a:gs>
              </a:gsLst>
              <a:lin ang="0"/>
            </a:gradFill>
          </p:spPr>
        </p:sp>
        <p:sp>
          <p:nvSpPr>
            <p:cNvPr name="TextBox 6" id="6"/>
            <p:cNvSpPr txBox="true"/>
            <p:nvPr/>
          </p:nvSpPr>
          <p:spPr>
            <a:xfrm>
              <a:off x="0" y="57150"/>
              <a:ext cx="2291172" cy="1397281"/>
            </a:xfrm>
            <a:prstGeom prst="rect">
              <a:avLst/>
            </a:prstGeom>
          </p:spPr>
          <p:txBody>
            <a:bodyPr anchor="ctr" rtlCol="false" tIns="50800" lIns="50800" bIns="50800" rIns="50800"/>
            <a:lstStyle/>
            <a:p>
              <a:pPr algn="ctr">
                <a:lnSpc>
                  <a:spcPts val="2120"/>
                </a:lnSpc>
              </a:pPr>
            </a:p>
          </p:txBody>
        </p:sp>
      </p:grpSp>
      <p:sp>
        <p:nvSpPr>
          <p:cNvPr name="Freeform 7" id="7"/>
          <p:cNvSpPr/>
          <p:nvPr/>
        </p:nvSpPr>
        <p:spPr>
          <a:xfrm flipH="false" flipV="false" rot="0">
            <a:off x="0" y="9331540"/>
            <a:ext cx="2552594" cy="606809"/>
          </a:xfrm>
          <a:custGeom>
            <a:avLst/>
            <a:gdLst/>
            <a:ahLst/>
            <a:cxnLst/>
            <a:rect r="r" b="b" t="t" l="l"/>
            <a:pathLst>
              <a:path h="606809" w="2552594">
                <a:moveTo>
                  <a:pt x="0" y="0"/>
                </a:moveTo>
                <a:lnTo>
                  <a:pt x="2552594" y="0"/>
                </a:lnTo>
                <a:lnTo>
                  <a:pt x="2552594" y="606809"/>
                </a:lnTo>
                <a:lnTo>
                  <a:pt x="0" y="606809"/>
                </a:lnTo>
                <a:lnTo>
                  <a:pt x="0" y="0"/>
                </a:lnTo>
                <a:close/>
              </a:path>
            </a:pathLst>
          </a:custGeom>
          <a:blipFill>
            <a:blip r:embed="rId6">
              <a:extLst>
                <a:ext uri="{96DAC541-7B7A-43D3-8B79-37D633B846F1}">
                  <asvg:svgBlip xmlns:asvg="http://schemas.microsoft.com/office/drawing/2016/SVG/main" r:embed="rId7"/>
                </a:ext>
              </a:extLst>
            </a:blip>
            <a:stretch>
              <a:fillRect l="-88172" t="-118406" r="0" b="-87335"/>
            </a:stretch>
          </a:blipFill>
        </p:spPr>
      </p:sp>
      <p:sp>
        <p:nvSpPr>
          <p:cNvPr name="Freeform 8" id="8"/>
          <p:cNvSpPr/>
          <p:nvPr/>
        </p:nvSpPr>
        <p:spPr>
          <a:xfrm flipH="false" flipV="false" rot="0">
            <a:off x="0" y="2688874"/>
            <a:ext cx="6310199" cy="3319651"/>
          </a:xfrm>
          <a:custGeom>
            <a:avLst/>
            <a:gdLst/>
            <a:ahLst/>
            <a:cxnLst/>
            <a:rect r="r" b="b" t="t" l="l"/>
            <a:pathLst>
              <a:path h="3319651" w="6310199">
                <a:moveTo>
                  <a:pt x="0" y="0"/>
                </a:moveTo>
                <a:lnTo>
                  <a:pt x="6310199" y="0"/>
                </a:lnTo>
                <a:lnTo>
                  <a:pt x="6310199" y="3319651"/>
                </a:lnTo>
                <a:lnTo>
                  <a:pt x="0" y="3319651"/>
                </a:lnTo>
                <a:lnTo>
                  <a:pt x="0" y="0"/>
                </a:lnTo>
                <a:close/>
              </a:path>
            </a:pathLst>
          </a:custGeom>
          <a:blipFill>
            <a:blip r:embed="rId8"/>
            <a:stretch>
              <a:fillRect l="0" t="0" r="0" b="0"/>
            </a:stretch>
          </a:blipFill>
        </p:spPr>
      </p:sp>
      <p:sp>
        <p:nvSpPr>
          <p:cNvPr name="Freeform 9" id="9"/>
          <p:cNvSpPr/>
          <p:nvPr/>
        </p:nvSpPr>
        <p:spPr>
          <a:xfrm flipH="false" flipV="false" rot="0">
            <a:off x="2713593" y="6008525"/>
            <a:ext cx="5757518" cy="4034680"/>
          </a:xfrm>
          <a:custGeom>
            <a:avLst/>
            <a:gdLst/>
            <a:ahLst/>
            <a:cxnLst/>
            <a:rect r="r" b="b" t="t" l="l"/>
            <a:pathLst>
              <a:path h="4034680" w="5757518">
                <a:moveTo>
                  <a:pt x="0" y="0"/>
                </a:moveTo>
                <a:lnTo>
                  <a:pt x="5757519" y="0"/>
                </a:lnTo>
                <a:lnTo>
                  <a:pt x="5757519" y="4034681"/>
                </a:lnTo>
                <a:lnTo>
                  <a:pt x="0" y="4034681"/>
                </a:lnTo>
                <a:lnTo>
                  <a:pt x="0" y="0"/>
                </a:lnTo>
                <a:close/>
              </a:path>
            </a:pathLst>
          </a:custGeom>
          <a:blipFill>
            <a:blip r:embed="rId9"/>
            <a:stretch>
              <a:fillRect l="0" t="0" r="0" b="0"/>
            </a:stretch>
          </a:blipFill>
        </p:spPr>
      </p:sp>
      <p:sp>
        <p:nvSpPr>
          <p:cNvPr name="TextBox 10" id="10"/>
          <p:cNvSpPr txBox="true"/>
          <p:nvPr/>
        </p:nvSpPr>
        <p:spPr>
          <a:xfrm rot="0">
            <a:off x="513546" y="326574"/>
            <a:ext cx="10157612" cy="2519131"/>
          </a:xfrm>
          <a:prstGeom prst="rect">
            <a:avLst/>
          </a:prstGeom>
        </p:spPr>
        <p:txBody>
          <a:bodyPr anchor="t" rtlCol="false" tIns="0" lIns="0" bIns="0" rIns="0">
            <a:spAutoFit/>
          </a:bodyPr>
          <a:lstStyle/>
          <a:p>
            <a:pPr algn="l">
              <a:lnSpc>
                <a:spcPts val="6636"/>
              </a:lnSpc>
            </a:pPr>
            <a:r>
              <a:rPr lang="en-US" sz="5770" spc="-242" b="true">
                <a:solidFill>
                  <a:srgbClr val="501934"/>
                </a:solidFill>
                <a:latin typeface="Gotham Bold"/>
                <a:ea typeface="Gotham Bold"/>
                <a:cs typeface="Gotham Bold"/>
                <a:sym typeface="Gotham Bold"/>
              </a:rPr>
              <a:t>Volume Trends: The Mid-Week and Weekend Pressure</a:t>
            </a:r>
          </a:p>
          <a:p>
            <a:pPr algn="l">
              <a:lnSpc>
                <a:spcPts val="6636"/>
              </a:lnSpc>
            </a:pPr>
          </a:p>
        </p:txBody>
      </p:sp>
      <p:sp>
        <p:nvSpPr>
          <p:cNvPr name="TextBox 11" id="11"/>
          <p:cNvSpPr txBox="true"/>
          <p:nvPr/>
        </p:nvSpPr>
        <p:spPr>
          <a:xfrm rot="0">
            <a:off x="0" y="9821173"/>
            <a:ext cx="2863339" cy="291501"/>
          </a:xfrm>
          <a:prstGeom prst="rect">
            <a:avLst/>
          </a:prstGeom>
        </p:spPr>
        <p:txBody>
          <a:bodyPr anchor="t" rtlCol="false" tIns="0" lIns="0" bIns="0" rIns="0">
            <a:spAutoFit/>
          </a:bodyPr>
          <a:lstStyle/>
          <a:p>
            <a:pPr algn="l">
              <a:lnSpc>
                <a:spcPts val="2120"/>
              </a:lnSpc>
            </a:pPr>
            <a:r>
              <a:rPr lang="en-US" sz="2304" spc="-237" b="true">
                <a:solidFill>
                  <a:srgbClr val="501934"/>
                </a:solidFill>
                <a:latin typeface="Gotham Bold"/>
                <a:ea typeface="Gotham Bold"/>
                <a:cs typeface="Gotham Bold"/>
                <a:sym typeface="Gotham Bold"/>
              </a:rPr>
              <a:t>Executive Summary</a:t>
            </a:r>
          </a:p>
        </p:txBody>
      </p:sp>
      <p:sp>
        <p:nvSpPr>
          <p:cNvPr name="TextBox 12" id="12"/>
          <p:cNvSpPr txBox="true"/>
          <p:nvPr/>
        </p:nvSpPr>
        <p:spPr>
          <a:xfrm rot="0">
            <a:off x="10370530" y="5044733"/>
            <a:ext cx="7126518" cy="4933322"/>
          </a:xfrm>
          <a:prstGeom prst="rect">
            <a:avLst/>
          </a:prstGeom>
        </p:spPr>
        <p:txBody>
          <a:bodyPr anchor="t" rtlCol="false" tIns="0" lIns="0" bIns="0" rIns="0">
            <a:spAutoFit/>
          </a:bodyPr>
          <a:lstStyle/>
          <a:p>
            <a:pPr algn="l">
              <a:lnSpc>
                <a:spcPts val="3572"/>
              </a:lnSpc>
            </a:pPr>
            <a:r>
              <a:rPr lang="en-US" sz="3106" spc="-130">
                <a:solidFill>
                  <a:srgbClr val="FFF8EE"/>
                </a:solidFill>
                <a:latin typeface="Gotham"/>
                <a:ea typeface="Gotham"/>
                <a:cs typeface="Gotham"/>
                <a:sym typeface="Gotham"/>
              </a:rPr>
              <a:t>Temporal analysis shows that the Day shift faces its heaviest pressure on Wednesdays (mercredi), where volume peaks at over 500 visits, followed closely by Saturday and Sunday. Monthly trends demonstrate a sustained "high-volume" season from November 2024 through August 2024, where monthly visits consistently exceed 300</a:t>
            </a:r>
          </a:p>
          <a:p>
            <a:pPr algn="l">
              <a:lnSpc>
                <a:spcPts val="3374"/>
              </a:lnSpc>
            </a:pPr>
          </a:p>
        </p:txBody>
      </p:sp>
      <p:sp>
        <p:nvSpPr>
          <p:cNvPr name="Freeform 13" id="13"/>
          <p:cNvSpPr/>
          <p:nvPr/>
        </p:nvSpPr>
        <p:spPr>
          <a:xfrm flipH="false" flipV="false" rot="0">
            <a:off x="16300845" y="1866393"/>
            <a:ext cx="1379656" cy="528289"/>
          </a:xfrm>
          <a:custGeom>
            <a:avLst/>
            <a:gdLst/>
            <a:ahLst/>
            <a:cxnLst/>
            <a:rect r="r" b="b" t="t" l="l"/>
            <a:pathLst>
              <a:path h="528289" w="1379656">
                <a:moveTo>
                  <a:pt x="0" y="0"/>
                </a:moveTo>
                <a:lnTo>
                  <a:pt x="1379656" y="0"/>
                </a:lnTo>
                <a:lnTo>
                  <a:pt x="1379656" y="528289"/>
                </a:lnTo>
                <a:lnTo>
                  <a:pt x="0" y="528289"/>
                </a:lnTo>
                <a:lnTo>
                  <a:pt x="0" y="0"/>
                </a:lnTo>
                <a:close/>
              </a:path>
            </a:pathLst>
          </a:custGeom>
          <a:blipFill>
            <a:blip r:embed="rId10">
              <a:extLst>
                <a:ext uri="{96DAC541-7B7A-43D3-8B79-37D633B846F1}">
                  <asvg:svgBlip xmlns:asvg="http://schemas.microsoft.com/office/drawing/2016/SVG/main" r:embed="rId11"/>
                </a:ext>
              </a:extLst>
            </a:blip>
            <a:stretch>
              <a:fillRect l="0" t="0" r="-168711" b="0"/>
            </a:stretch>
          </a:blipFill>
        </p:spPr>
      </p:sp>
      <p:sp>
        <p:nvSpPr>
          <p:cNvPr name="Freeform 14" id="14"/>
          <p:cNvSpPr/>
          <p:nvPr/>
        </p:nvSpPr>
        <p:spPr>
          <a:xfrm flipH="false" flipV="false" rot="0">
            <a:off x="16300845" y="1258429"/>
            <a:ext cx="632015" cy="528289"/>
          </a:xfrm>
          <a:custGeom>
            <a:avLst/>
            <a:gdLst/>
            <a:ahLst/>
            <a:cxnLst/>
            <a:rect r="r" b="b" t="t" l="l"/>
            <a:pathLst>
              <a:path h="528289" w="632015">
                <a:moveTo>
                  <a:pt x="0" y="0"/>
                </a:moveTo>
                <a:lnTo>
                  <a:pt x="632015" y="0"/>
                </a:lnTo>
                <a:lnTo>
                  <a:pt x="632015" y="528289"/>
                </a:lnTo>
                <a:lnTo>
                  <a:pt x="0" y="528289"/>
                </a:lnTo>
                <a:lnTo>
                  <a:pt x="0" y="0"/>
                </a:lnTo>
                <a:close/>
              </a:path>
            </a:pathLst>
          </a:custGeom>
          <a:blipFill>
            <a:blip r:embed="rId10">
              <a:extLst>
                <a:ext uri="{96DAC541-7B7A-43D3-8B79-37D633B846F1}">
                  <asvg:svgBlip xmlns:asvg="http://schemas.microsoft.com/office/drawing/2016/SVG/main" r:embed="rId11"/>
                </a:ext>
              </a:extLst>
            </a:blip>
            <a:stretch>
              <a:fillRect l="0" t="0" r="-486582" b="0"/>
            </a:stretch>
          </a:blipFill>
        </p:spPr>
      </p:sp>
      <p:sp>
        <p:nvSpPr>
          <p:cNvPr name="Freeform 15" id="15"/>
          <p:cNvSpPr/>
          <p:nvPr/>
        </p:nvSpPr>
        <p:spPr>
          <a:xfrm flipH="true" flipV="false" rot="0">
            <a:off x="16825210" y="1258429"/>
            <a:ext cx="632015" cy="528289"/>
          </a:xfrm>
          <a:custGeom>
            <a:avLst/>
            <a:gdLst/>
            <a:ahLst/>
            <a:cxnLst/>
            <a:rect r="r" b="b" t="t" l="l"/>
            <a:pathLst>
              <a:path h="528289" w="632015">
                <a:moveTo>
                  <a:pt x="632016" y="0"/>
                </a:moveTo>
                <a:lnTo>
                  <a:pt x="0" y="0"/>
                </a:lnTo>
                <a:lnTo>
                  <a:pt x="0" y="528289"/>
                </a:lnTo>
                <a:lnTo>
                  <a:pt x="632016" y="528289"/>
                </a:lnTo>
                <a:lnTo>
                  <a:pt x="632016" y="0"/>
                </a:lnTo>
                <a:close/>
              </a:path>
            </a:pathLst>
          </a:custGeom>
          <a:blipFill>
            <a:blip r:embed="rId10">
              <a:extLst>
                <a:ext uri="{96DAC541-7B7A-43D3-8B79-37D633B846F1}">
                  <asvg:svgBlip xmlns:asvg="http://schemas.microsoft.com/office/drawing/2016/SVG/main" r:embed="rId11"/>
                </a:ext>
              </a:extLst>
            </a:blip>
            <a:stretch>
              <a:fillRect l="0" t="0" r="-486582" b="0"/>
            </a:stretch>
          </a:blipFill>
        </p:spPr>
      </p:sp>
      <p:sp>
        <p:nvSpPr>
          <p:cNvPr name="Freeform 16" id="16"/>
          <p:cNvSpPr/>
          <p:nvPr/>
        </p:nvSpPr>
        <p:spPr>
          <a:xfrm flipH="true" flipV="false" rot="0">
            <a:off x="16983802" y="1866393"/>
            <a:ext cx="1379656" cy="528289"/>
          </a:xfrm>
          <a:custGeom>
            <a:avLst/>
            <a:gdLst/>
            <a:ahLst/>
            <a:cxnLst/>
            <a:rect r="r" b="b" t="t" l="l"/>
            <a:pathLst>
              <a:path h="528289" w="1379656">
                <a:moveTo>
                  <a:pt x="1379656" y="0"/>
                </a:moveTo>
                <a:lnTo>
                  <a:pt x="0" y="0"/>
                </a:lnTo>
                <a:lnTo>
                  <a:pt x="0" y="528289"/>
                </a:lnTo>
                <a:lnTo>
                  <a:pt x="1379656" y="528289"/>
                </a:lnTo>
                <a:lnTo>
                  <a:pt x="1379656" y="0"/>
                </a:lnTo>
                <a:close/>
              </a:path>
            </a:pathLst>
          </a:custGeom>
          <a:blipFill>
            <a:blip r:embed="rId10">
              <a:extLst>
                <a:ext uri="{96DAC541-7B7A-43D3-8B79-37D633B846F1}">
                  <asvg:svgBlip xmlns:asvg="http://schemas.microsoft.com/office/drawing/2016/SVG/main" r:embed="rId11"/>
                </a:ext>
              </a:extLst>
            </a:blip>
            <a:stretch>
              <a:fillRect l="0" t="0" r="-168711" b="0"/>
            </a:stretch>
          </a:blipFill>
        </p:spPr>
      </p:sp>
      <p:grpSp>
        <p:nvGrpSpPr>
          <p:cNvPr name="Group 17" id="17"/>
          <p:cNvGrpSpPr/>
          <p:nvPr/>
        </p:nvGrpSpPr>
        <p:grpSpPr>
          <a:xfrm rot="0">
            <a:off x="17683337" y="2825775"/>
            <a:ext cx="528289" cy="52828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9" id="19"/>
            <p:cNvSpPr txBox="true"/>
            <p:nvPr/>
          </p:nvSpPr>
          <p:spPr>
            <a:xfrm>
              <a:off x="76200" y="133350"/>
              <a:ext cx="660400" cy="603250"/>
            </a:xfrm>
            <a:prstGeom prst="rect">
              <a:avLst/>
            </a:prstGeom>
          </p:spPr>
          <p:txBody>
            <a:bodyPr anchor="ctr" rtlCol="false" tIns="50800" lIns="50800" bIns="50800" rIns="50800"/>
            <a:lstStyle/>
            <a:p>
              <a:pPr algn="ctr">
                <a:lnSpc>
                  <a:spcPts val="2120"/>
                </a:lnSpc>
              </a:pPr>
            </a:p>
          </p:txBody>
        </p:sp>
      </p:grpSp>
      <p:sp>
        <p:nvSpPr>
          <p:cNvPr name="TextBox 20" id="20"/>
          <p:cNvSpPr txBox="true"/>
          <p:nvPr/>
        </p:nvSpPr>
        <p:spPr>
          <a:xfrm rot="0">
            <a:off x="16500540" y="2001947"/>
            <a:ext cx="1616434" cy="287998"/>
          </a:xfrm>
          <a:prstGeom prst="rect">
            <a:avLst/>
          </a:prstGeom>
        </p:spPr>
        <p:txBody>
          <a:bodyPr anchor="t" rtlCol="false" tIns="0" lIns="0" bIns="0" rIns="0">
            <a:spAutoFit/>
          </a:bodyPr>
          <a:lstStyle/>
          <a:p>
            <a:pPr algn="ctr">
              <a:lnSpc>
                <a:spcPts val="2098"/>
              </a:lnSpc>
            </a:pPr>
            <a:r>
              <a:rPr lang="en-US" b="true" sz="2280" spc="-234">
                <a:solidFill>
                  <a:srgbClr val="2B2B2B"/>
                </a:solidFill>
                <a:latin typeface="Gotham Bold"/>
                <a:ea typeface="Gotham Bold"/>
                <a:cs typeface="Gotham Bold"/>
                <a:sym typeface="Gotham Bold"/>
              </a:rPr>
              <a:t>Presentation</a:t>
            </a:r>
          </a:p>
        </p:txBody>
      </p:sp>
      <p:sp>
        <p:nvSpPr>
          <p:cNvPr name="TextBox 21" id="21"/>
          <p:cNvSpPr txBox="true"/>
          <p:nvPr/>
        </p:nvSpPr>
        <p:spPr>
          <a:xfrm rot="0">
            <a:off x="16509967" y="1393983"/>
            <a:ext cx="743614" cy="287998"/>
          </a:xfrm>
          <a:prstGeom prst="rect">
            <a:avLst/>
          </a:prstGeom>
        </p:spPr>
        <p:txBody>
          <a:bodyPr anchor="t" rtlCol="false" tIns="0" lIns="0" bIns="0" rIns="0">
            <a:spAutoFit/>
          </a:bodyPr>
          <a:lstStyle/>
          <a:p>
            <a:pPr algn="ctr">
              <a:lnSpc>
                <a:spcPts val="2098"/>
              </a:lnSpc>
            </a:pPr>
            <a:r>
              <a:rPr lang="en-US" b="true" sz="2280" spc="-234">
                <a:solidFill>
                  <a:srgbClr val="2B2B2B"/>
                </a:solidFill>
                <a:latin typeface="Gotham Bold"/>
                <a:ea typeface="Gotham Bold"/>
                <a:cs typeface="Gotham Bold"/>
                <a:sym typeface="Gotham Bold"/>
              </a:rPr>
              <a:t>2025</a:t>
            </a:r>
          </a:p>
        </p:txBody>
      </p:sp>
      <p:sp>
        <p:nvSpPr>
          <p:cNvPr name="Freeform 22" id="22"/>
          <p:cNvSpPr/>
          <p:nvPr/>
        </p:nvSpPr>
        <p:spPr>
          <a:xfrm flipH="false" flipV="false" rot="-5400000">
            <a:off x="15708564" y="-332801"/>
            <a:ext cx="2383034" cy="3080638"/>
          </a:xfrm>
          <a:custGeom>
            <a:avLst/>
            <a:gdLst/>
            <a:ahLst/>
            <a:cxnLst/>
            <a:rect r="r" b="b" t="t" l="l"/>
            <a:pathLst>
              <a:path h="3080638" w="2383034">
                <a:moveTo>
                  <a:pt x="0" y="0"/>
                </a:moveTo>
                <a:lnTo>
                  <a:pt x="2383034" y="0"/>
                </a:lnTo>
                <a:lnTo>
                  <a:pt x="2383034" y="3080638"/>
                </a:lnTo>
                <a:lnTo>
                  <a:pt x="0" y="3080638"/>
                </a:lnTo>
                <a:lnTo>
                  <a:pt x="0" y="0"/>
                </a:lnTo>
                <a:close/>
              </a:path>
            </a:pathLst>
          </a:custGeom>
          <a:blipFill>
            <a:blip r:embed="rId12">
              <a:extLst>
                <a:ext uri="{96DAC541-7B7A-43D3-8B79-37D633B846F1}">
                  <asvg:svgBlip xmlns:asvg="http://schemas.microsoft.com/office/drawing/2016/SVG/main" r:embed="rId13"/>
                </a:ext>
              </a:extLst>
            </a:blip>
            <a:stretch>
              <a:fillRect l="-22854" t="0" r="-22192" b="0"/>
            </a:stretch>
          </a:blipFill>
        </p:spPr>
      </p:sp>
      <p:sp>
        <p:nvSpPr>
          <p:cNvPr name="Freeform 23" id="23"/>
          <p:cNvSpPr/>
          <p:nvPr/>
        </p:nvSpPr>
        <p:spPr>
          <a:xfrm flipH="false" flipV="false" rot="-5400000">
            <a:off x="15708564" y="1190513"/>
            <a:ext cx="2383034" cy="3080638"/>
          </a:xfrm>
          <a:custGeom>
            <a:avLst/>
            <a:gdLst/>
            <a:ahLst/>
            <a:cxnLst/>
            <a:rect r="r" b="b" t="t" l="l"/>
            <a:pathLst>
              <a:path h="3080638" w="2383034">
                <a:moveTo>
                  <a:pt x="0" y="0"/>
                </a:moveTo>
                <a:lnTo>
                  <a:pt x="2383034" y="0"/>
                </a:lnTo>
                <a:lnTo>
                  <a:pt x="2383034" y="3080638"/>
                </a:lnTo>
                <a:lnTo>
                  <a:pt x="0" y="3080638"/>
                </a:lnTo>
                <a:lnTo>
                  <a:pt x="0" y="0"/>
                </a:lnTo>
                <a:close/>
              </a:path>
            </a:pathLst>
          </a:custGeom>
          <a:blipFill>
            <a:blip r:embed="rId12">
              <a:extLst>
                <a:ext uri="{96DAC541-7B7A-43D3-8B79-37D633B846F1}">
                  <asvg:svgBlip xmlns:asvg="http://schemas.microsoft.com/office/drawing/2016/SVG/main" r:embed="rId13"/>
                </a:ext>
              </a:extLst>
            </a:blip>
            <a:stretch>
              <a:fillRect l="-22854" t="0" r="-22192" b="0"/>
            </a:stretch>
          </a:blipFill>
        </p:spPr>
      </p:sp>
      <p:grpSp>
        <p:nvGrpSpPr>
          <p:cNvPr name="Group 24" id="24"/>
          <p:cNvGrpSpPr/>
          <p:nvPr/>
        </p:nvGrpSpPr>
        <p:grpSpPr>
          <a:xfrm rot="0">
            <a:off x="15490732" y="788389"/>
            <a:ext cx="2716383" cy="565315"/>
            <a:chOff x="0" y="0"/>
            <a:chExt cx="866728" cy="180377"/>
          </a:xfrm>
        </p:grpSpPr>
        <p:sp>
          <p:nvSpPr>
            <p:cNvPr name="Freeform 25" id="25"/>
            <p:cNvSpPr/>
            <p:nvPr/>
          </p:nvSpPr>
          <p:spPr>
            <a:xfrm flipH="false" flipV="false" rot="0">
              <a:off x="0" y="0"/>
              <a:ext cx="866728" cy="180377"/>
            </a:xfrm>
            <a:custGeom>
              <a:avLst/>
              <a:gdLst/>
              <a:ahLst/>
              <a:cxnLst/>
              <a:rect r="r" b="b" t="t" l="l"/>
              <a:pathLst>
                <a:path h="180377" w="866728">
                  <a:moveTo>
                    <a:pt x="54152" y="0"/>
                  </a:moveTo>
                  <a:lnTo>
                    <a:pt x="812576" y="0"/>
                  </a:lnTo>
                  <a:cubicBezTo>
                    <a:pt x="826938" y="0"/>
                    <a:pt x="840711" y="5705"/>
                    <a:pt x="850867" y="15861"/>
                  </a:cubicBezTo>
                  <a:cubicBezTo>
                    <a:pt x="861022" y="26016"/>
                    <a:pt x="866728" y="39790"/>
                    <a:pt x="866728" y="54152"/>
                  </a:cubicBezTo>
                  <a:lnTo>
                    <a:pt x="866728" y="126226"/>
                  </a:lnTo>
                  <a:cubicBezTo>
                    <a:pt x="866728" y="156133"/>
                    <a:pt x="842483" y="180377"/>
                    <a:pt x="812576" y="180377"/>
                  </a:cubicBezTo>
                  <a:lnTo>
                    <a:pt x="54152" y="180377"/>
                  </a:lnTo>
                  <a:cubicBezTo>
                    <a:pt x="24244" y="180377"/>
                    <a:pt x="0" y="156133"/>
                    <a:pt x="0" y="126226"/>
                  </a:cubicBezTo>
                  <a:lnTo>
                    <a:pt x="0" y="54152"/>
                  </a:lnTo>
                  <a:cubicBezTo>
                    <a:pt x="0" y="24244"/>
                    <a:pt x="24244" y="0"/>
                    <a:pt x="54152" y="0"/>
                  </a:cubicBezTo>
                  <a:close/>
                </a:path>
              </a:pathLst>
            </a:custGeom>
            <a:solidFill>
              <a:srgbClr val="2B2B2B"/>
            </a:solidFill>
          </p:spPr>
        </p:sp>
        <p:sp>
          <p:nvSpPr>
            <p:cNvPr name="TextBox 26" id="26"/>
            <p:cNvSpPr txBox="true"/>
            <p:nvPr/>
          </p:nvSpPr>
          <p:spPr>
            <a:xfrm>
              <a:off x="0" y="57150"/>
              <a:ext cx="866728" cy="123227"/>
            </a:xfrm>
            <a:prstGeom prst="rect">
              <a:avLst/>
            </a:prstGeom>
          </p:spPr>
          <p:txBody>
            <a:bodyPr anchor="ctr" rtlCol="false" tIns="50800" lIns="50800" bIns="50800" rIns="50800"/>
            <a:lstStyle/>
            <a:p>
              <a:pPr algn="ctr">
                <a:lnSpc>
                  <a:spcPts val="2120"/>
                </a:lnSpc>
              </a:pPr>
            </a:p>
          </p:txBody>
        </p:sp>
      </p:grpSp>
      <p:grpSp>
        <p:nvGrpSpPr>
          <p:cNvPr name="Group 27" id="27"/>
          <p:cNvGrpSpPr/>
          <p:nvPr/>
        </p:nvGrpSpPr>
        <p:grpSpPr>
          <a:xfrm rot="0">
            <a:off x="15559978" y="2591990"/>
            <a:ext cx="2353346" cy="711280"/>
            <a:chOff x="0" y="0"/>
            <a:chExt cx="750892" cy="226951"/>
          </a:xfrm>
        </p:grpSpPr>
        <p:sp>
          <p:nvSpPr>
            <p:cNvPr name="Freeform 28" id="28"/>
            <p:cNvSpPr/>
            <p:nvPr/>
          </p:nvSpPr>
          <p:spPr>
            <a:xfrm flipH="false" flipV="false" rot="0">
              <a:off x="0" y="0"/>
              <a:ext cx="750892" cy="226951"/>
            </a:xfrm>
            <a:custGeom>
              <a:avLst/>
              <a:gdLst/>
              <a:ahLst/>
              <a:cxnLst/>
              <a:rect r="r" b="b" t="t" l="l"/>
              <a:pathLst>
                <a:path h="226951" w="750892">
                  <a:moveTo>
                    <a:pt x="62505" y="0"/>
                  </a:moveTo>
                  <a:lnTo>
                    <a:pt x="688387" y="0"/>
                  </a:lnTo>
                  <a:cubicBezTo>
                    <a:pt x="722907" y="0"/>
                    <a:pt x="750892" y="27985"/>
                    <a:pt x="750892" y="62505"/>
                  </a:cubicBezTo>
                  <a:lnTo>
                    <a:pt x="750892" y="164446"/>
                  </a:lnTo>
                  <a:cubicBezTo>
                    <a:pt x="750892" y="198967"/>
                    <a:pt x="722907" y="226951"/>
                    <a:pt x="688387" y="226951"/>
                  </a:cubicBezTo>
                  <a:lnTo>
                    <a:pt x="62505" y="226951"/>
                  </a:lnTo>
                  <a:cubicBezTo>
                    <a:pt x="27985" y="226951"/>
                    <a:pt x="0" y="198967"/>
                    <a:pt x="0" y="164446"/>
                  </a:cubicBezTo>
                  <a:lnTo>
                    <a:pt x="0" y="62505"/>
                  </a:lnTo>
                  <a:cubicBezTo>
                    <a:pt x="0" y="27985"/>
                    <a:pt x="27985" y="0"/>
                    <a:pt x="62505" y="0"/>
                  </a:cubicBezTo>
                  <a:close/>
                </a:path>
              </a:pathLst>
            </a:custGeom>
            <a:solidFill>
              <a:srgbClr val="2B2B2B"/>
            </a:solidFill>
          </p:spPr>
        </p:sp>
        <p:sp>
          <p:nvSpPr>
            <p:cNvPr name="TextBox 29" id="29"/>
            <p:cNvSpPr txBox="true"/>
            <p:nvPr/>
          </p:nvSpPr>
          <p:spPr>
            <a:xfrm>
              <a:off x="0" y="57150"/>
              <a:ext cx="750892" cy="169801"/>
            </a:xfrm>
            <a:prstGeom prst="rect">
              <a:avLst/>
            </a:prstGeom>
          </p:spPr>
          <p:txBody>
            <a:bodyPr anchor="ctr" rtlCol="false" tIns="50800" lIns="50800" bIns="50800" rIns="50800"/>
            <a:lstStyle/>
            <a:p>
              <a:pPr algn="ctr">
                <a:lnSpc>
                  <a:spcPts val="2120"/>
                </a:lnSpc>
              </a:pPr>
            </a:p>
          </p:txBody>
        </p:sp>
      </p:grpSp>
      <p:sp>
        <p:nvSpPr>
          <p:cNvPr name="Freeform 30" id="30"/>
          <p:cNvSpPr/>
          <p:nvPr/>
        </p:nvSpPr>
        <p:spPr>
          <a:xfrm flipH="false" flipV="false" rot="0">
            <a:off x="15502063" y="1823147"/>
            <a:ext cx="2693722" cy="558687"/>
          </a:xfrm>
          <a:custGeom>
            <a:avLst/>
            <a:gdLst/>
            <a:ahLst/>
            <a:cxnLst/>
            <a:rect r="r" b="b" t="t" l="l"/>
            <a:pathLst>
              <a:path h="558687" w="2693722">
                <a:moveTo>
                  <a:pt x="0" y="0"/>
                </a:moveTo>
                <a:lnTo>
                  <a:pt x="2693721" y="0"/>
                </a:lnTo>
                <a:lnTo>
                  <a:pt x="2693721" y="558688"/>
                </a:lnTo>
                <a:lnTo>
                  <a:pt x="0" y="558688"/>
                </a:lnTo>
                <a:lnTo>
                  <a:pt x="0" y="0"/>
                </a:lnTo>
                <a:close/>
              </a:path>
            </a:pathLst>
          </a:custGeom>
          <a:blipFill>
            <a:blip r:embed="rId14"/>
            <a:stretch>
              <a:fillRect l="0" t="-13654" r="0" b="-13654"/>
            </a:stretch>
          </a:blipFill>
        </p:spPr>
      </p:sp>
      <p:sp>
        <p:nvSpPr>
          <p:cNvPr name="TextBox 31" id="31"/>
          <p:cNvSpPr txBox="true"/>
          <p:nvPr/>
        </p:nvSpPr>
        <p:spPr>
          <a:xfrm rot="0">
            <a:off x="15615934" y="251285"/>
            <a:ext cx="2353346" cy="507188"/>
          </a:xfrm>
          <a:prstGeom prst="rect">
            <a:avLst/>
          </a:prstGeom>
        </p:spPr>
        <p:txBody>
          <a:bodyPr anchor="t" rtlCol="false" tIns="0" lIns="0" bIns="0" rIns="0">
            <a:spAutoFit/>
          </a:bodyPr>
          <a:lstStyle/>
          <a:p>
            <a:pPr algn="l">
              <a:lnSpc>
                <a:spcPts val="3834"/>
              </a:lnSpc>
            </a:pPr>
            <a:r>
              <a:rPr lang="en-US" sz="4168" spc="-429" b="true">
                <a:solidFill>
                  <a:srgbClr val="2B2B2B"/>
                </a:solidFill>
                <a:latin typeface="Gotham Bold"/>
                <a:ea typeface="Gotham Bold"/>
                <a:cs typeface="Gotham Bold"/>
                <a:sym typeface="Gotham Bold"/>
              </a:rPr>
              <a:t>Slicers</a:t>
            </a:r>
          </a:p>
        </p:txBody>
      </p:sp>
      <p:sp>
        <p:nvSpPr>
          <p:cNvPr name="TextBox 32" id="32"/>
          <p:cNvSpPr txBox="true"/>
          <p:nvPr/>
        </p:nvSpPr>
        <p:spPr>
          <a:xfrm rot="0">
            <a:off x="15490732" y="1560237"/>
            <a:ext cx="1864913" cy="262910"/>
          </a:xfrm>
          <a:prstGeom prst="rect">
            <a:avLst/>
          </a:prstGeom>
        </p:spPr>
        <p:txBody>
          <a:bodyPr anchor="t" rtlCol="false" tIns="0" lIns="0" bIns="0" rIns="0">
            <a:spAutoFit/>
          </a:bodyPr>
          <a:lstStyle/>
          <a:p>
            <a:pPr algn="l">
              <a:lnSpc>
                <a:spcPts val="1974"/>
              </a:lnSpc>
            </a:pPr>
            <a:r>
              <a:rPr lang="en-US" sz="2146" spc="-221" b="true">
                <a:solidFill>
                  <a:srgbClr val="2B2B2B"/>
                </a:solidFill>
                <a:latin typeface="Gotham Bold"/>
                <a:ea typeface="Gotham Bold"/>
                <a:cs typeface="Gotham Bold"/>
                <a:sym typeface="Gotham Bold"/>
              </a:rPr>
              <a:t>Period</a:t>
            </a:r>
          </a:p>
        </p:txBody>
      </p:sp>
      <p:sp>
        <p:nvSpPr>
          <p:cNvPr name="TextBox 33" id="33"/>
          <p:cNvSpPr txBox="true"/>
          <p:nvPr/>
        </p:nvSpPr>
        <p:spPr>
          <a:xfrm rot="0">
            <a:off x="15615934" y="968166"/>
            <a:ext cx="2441672" cy="262910"/>
          </a:xfrm>
          <a:prstGeom prst="rect">
            <a:avLst/>
          </a:prstGeom>
        </p:spPr>
        <p:txBody>
          <a:bodyPr anchor="t" rtlCol="false" tIns="0" lIns="0" bIns="0" rIns="0">
            <a:spAutoFit/>
          </a:bodyPr>
          <a:lstStyle/>
          <a:p>
            <a:pPr algn="ctr">
              <a:lnSpc>
                <a:spcPts val="1974"/>
              </a:lnSpc>
            </a:pPr>
            <a:r>
              <a:rPr lang="en-US" b="true" sz="2146" spc="-221">
                <a:solidFill>
                  <a:srgbClr val="FFFFFF"/>
                </a:solidFill>
                <a:latin typeface="Gotham Bold"/>
                <a:ea typeface="Gotham Bold"/>
                <a:cs typeface="Gotham Bold"/>
                <a:sym typeface="Gotham Bold"/>
              </a:rPr>
              <a:t>Diagnosis Code     </a:t>
            </a:r>
            <a:r>
              <a:rPr lang="en-US" sz="2146" spc="-221">
                <a:solidFill>
                  <a:srgbClr val="FFFFFF"/>
                </a:solidFill>
                <a:latin typeface="Gotham"/>
                <a:ea typeface="Gotham"/>
                <a:cs typeface="Gotham"/>
                <a:sym typeface="Gotham"/>
              </a:rPr>
              <a:t>All</a:t>
            </a:r>
          </a:p>
        </p:txBody>
      </p:sp>
      <p:sp>
        <p:nvSpPr>
          <p:cNvPr name="TextBox 34" id="34"/>
          <p:cNvSpPr txBox="true"/>
          <p:nvPr/>
        </p:nvSpPr>
        <p:spPr>
          <a:xfrm rot="0">
            <a:off x="15615934" y="2750414"/>
            <a:ext cx="2465259" cy="386536"/>
          </a:xfrm>
          <a:prstGeom prst="rect">
            <a:avLst/>
          </a:prstGeom>
        </p:spPr>
        <p:txBody>
          <a:bodyPr anchor="t" rtlCol="false" tIns="0" lIns="0" bIns="0" rIns="0">
            <a:spAutoFit/>
          </a:bodyPr>
          <a:lstStyle/>
          <a:p>
            <a:pPr algn="l">
              <a:lnSpc>
                <a:spcPts val="2818"/>
              </a:lnSpc>
            </a:pPr>
            <a:r>
              <a:rPr lang="en-US" sz="3063" spc="-315" b="true">
                <a:solidFill>
                  <a:srgbClr val="FFFFFF"/>
                </a:solidFill>
                <a:latin typeface="Gotham Bold"/>
                <a:ea typeface="Gotham Bold"/>
                <a:cs typeface="Gotham Bold"/>
                <a:sym typeface="Gotham Bold"/>
              </a:rPr>
              <a:t>Shift        </a:t>
            </a:r>
            <a:r>
              <a:rPr lang="en-US" sz="3063" spc="-315">
                <a:solidFill>
                  <a:srgbClr val="FFFFFF"/>
                </a:solidFill>
                <a:latin typeface="Gotham"/>
                <a:ea typeface="Gotham"/>
                <a:cs typeface="Gotham"/>
                <a:sym typeface="Gotham"/>
              </a:rPr>
              <a:t>Day</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sp>
        <p:nvSpPr>
          <p:cNvPr name="Freeform 2" id="2"/>
          <p:cNvSpPr/>
          <p:nvPr/>
        </p:nvSpPr>
        <p:spPr>
          <a:xfrm flipH="false" flipV="false" rot="0">
            <a:off x="16148445" y="1713993"/>
            <a:ext cx="1379656" cy="528289"/>
          </a:xfrm>
          <a:custGeom>
            <a:avLst/>
            <a:gdLst/>
            <a:ahLst/>
            <a:cxnLst/>
            <a:rect r="r" b="b" t="t" l="l"/>
            <a:pathLst>
              <a:path h="528289" w="1379656">
                <a:moveTo>
                  <a:pt x="0" y="0"/>
                </a:moveTo>
                <a:lnTo>
                  <a:pt x="1379656" y="0"/>
                </a:lnTo>
                <a:lnTo>
                  <a:pt x="1379656" y="528289"/>
                </a:lnTo>
                <a:lnTo>
                  <a:pt x="0" y="528289"/>
                </a:lnTo>
                <a:lnTo>
                  <a:pt x="0" y="0"/>
                </a:lnTo>
                <a:close/>
              </a:path>
            </a:pathLst>
          </a:custGeom>
          <a:blipFill>
            <a:blip r:embed="rId2">
              <a:extLst>
                <a:ext uri="{96DAC541-7B7A-43D3-8B79-37D633B846F1}">
                  <asvg:svgBlip xmlns:asvg="http://schemas.microsoft.com/office/drawing/2016/SVG/main" r:embed="rId3"/>
                </a:ext>
              </a:extLst>
            </a:blip>
            <a:stretch>
              <a:fillRect l="0" t="0" r="-168711" b="0"/>
            </a:stretch>
          </a:blipFill>
        </p:spPr>
      </p:sp>
      <p:sp>
        <p:nvSpPr>
          <p:cNvPr name="Freeform 3" id="3"/>
          <p:cNvSpPr/>
          <p:nvPr/>
        </p:nvSpPr>
        <p:spPr>
          <a:xfrm flipH="false" flipV="false" rot="0">
            <a:off x="16148445" y="1106029"/>
            <a:ext cx="632015" cy="528289"/>
          </a:xfrm>
          <a:custGeom>
            <a:avLst/>
            <a:gdLst/>
            <a:ahLst/>
            <a:cxnLst/>
            <a:rect r="r" b="b" t="t" l="l"/>
            <a:pathLst>
              <a:path h="528289" w="632015">
                <a:moveTo>
                  <a:pt x="0" y="0"/>
                </a:moveTo>
                <a:lnTo>
                  <a:pt x="632015" y="0"/>
                </a:lnTo>
                <a:lnTo>
                  <a:pt x="632015" y="528289"/>
                </a:lnTo>
                <a:lnTo>
                  <a:pt x="0" y="528289"/>
                </a:lnTo>
                <a:lnTo>
                  <a:pt x="0" y="0"/>
                </a:lnTo>
                <a:close/>
              </a:path>
            </a:pathLst>
          </a:custGeom>
          <a:blipFill>
            <a:blip r:embed="rId2">
              <a:extLst>
                <a:ext uri="{96DAC541-7B7A-43D3-8B79-37D633B846F1}">
                  <asvg:svgBlip xmlns:asvg="http://schemas.microsoft.com/office/drawing/2016/SVG/main" r:embed="rId3"/>
                </a:ext>
              </a:extLst>
            </a:blip>
            <a:stretch>
              <a:fillRect l="0" t="0" r="-486582" b="0"/>
            </a:stretch>
          </a:blipFill>
        </p:spPr>
      </p:sp>
      <p:sp>
        <p:nvSpPr>
          <p:cNvPr name="Freeform 4" id="4"/>
          <p:cNvSpPr/>
          <p:nvPr/>
        </p:nvSpPr>
        <p:spPr>
          <a:xfrm flipH="true" flipV="false" rot="0">
            <a:off x="16672810" y="1106029"/>
            <a:ext cx="632015" cy="528289"/>
          </a:xfrm>
          <a:custGeom>
            <a:avLst/>
            <a:gdLst/>
            <a:ahLst/>
            <a:cxnLst/>
            <a:rect r="r" b="b" t="t" l="l"/>
            <a:pathLst>
              <a:path h="528289" w="632015">
                <a:moveTo>
                  <a:pt x="632016" y="0"/>
                </a:moveTo>
                <a:lnTo>
                  <a:pt x="0" y="0"/>
                </a:lnTo>
                <a:lnTo>
                  <a:pt x="0" y="528289"/>
                </a:lnTo>
                <a:lnTo>
                  <a:pt x="632016" y="528289"/>
                </a:lnTo>
                <a:lnTo>
                  <a:pt x="632016" y="0"/>
                </a:lnTo>
                <a:close/>
              </a:path>
            </a:pathLst>
          </a:custGeom>
          <a:blipFill>
            <a:blip r:embed="rId2">
              <a:extLst>
                <a:ext uri="{96DAC541-7B7A-43D3-8B79-37D633B846F1}">
                  <asvg:svgBlip xmlns:asvg="http://schemas.microsoft.com/office/drawing/2016/SVG/main" r:embed="rId3"/>
                </a:ext>
              </a:extLst>
            </a:blip>
            <a:stretch>
              <a:fillRect l="0" t="0" r="-486582" b="0"/>
            </a:stretch>
          </a:blipFill>
        </p:spPr>
      </p:sp>
      <p:sp>
        <p:nvSpPr>
          <p:cNvPr name="Freeform 5" id="5"/>
          <p:cNvSpPr/>
          <p:nvPr/>
        </p:nvSpPr>
        <p:spPr>
          <a:xfrm flipH="true" flipV="false" rot="0">
            <a:off x="16831402" y="1713993"/>
            <a:ext cx="1379656" cy="528289"/>
          </a:xfrm>
          <a:custGeom>
            <a:avLst/>
            <a:gdLst/>
            <a:ahLst/>
            <a:cxnLst/>
            <a:rect r="r" b="b" t="t" l="l"/>
            <a:pathLst>
              <a:path h="528289" w="1379656">
                <a:moveTo>
                  <a:pt x="1379656" y="0"/>
                </a:moveTo>
                <a:lnTo>
                  <a:pt x="0" y="0"/>
                </a:lnTo>
                <a:lnTo>
                  <a:pt x="0" y="528289"/>
                </a:lnTo>
                <a:lnTo>
                  <a:pt x="1379656" y="528289"/>
                </a:lnTo>
                <a:lnTo>
                  <a:pt x="1379656" y="0"/>
                </a:lnTo>
                <a:close/>
              </a:path>
            </a:pathLst>
          </a:custGeom>
          <a:blipFill>
            <a:blip r:embed="rId2">
              <a:extLst>
                <a:ext uri="{96DAC541-7B7A-43D3-8B79-37D633B846F1}">
                  <asvg:svgBlip xmlns:asvg="http://schemas.microsoft.com/office/drawing/2016/SVG/main" r:embed="rId3"/>
                </a:ext>
              </a:extLst>
            </a:blip>
            <a:stretch>
              <a:fillRect l="0" t="0" r="-168711" b="0"/>
            </a:stretch>
          </a:blipFill>
        </p:spPr>
      </p:sp>
      <p:grpSp>
        <p:nvGrpSpPr>
          <p:cNvPr name="Group 6" id="6"/>
          <p:cNvGrpSpPr/>
          <p:nvPr/>
        </p:nvGrpSpPr>
        <p:grpSpPr>
          <a:xfrm rot="0">
            <a:off x="17530937" y="2673375"/>
            <a:ext cx="528289" cy="52828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133350"/>
              <a:ext cx="660400" cy="603250"/>
            </a:xfrm>
            <a:prstGeom prst="rect">
              <a:avLst/>
            </a:prstGeom>
          </p:spPr>
          <p:txBody>
            <a:bodyPr anchor="ctr" rtlCol="false" tIns="50800" lIns="50800" bIns="50800" rIns="50800"/>
            <a:lstStyle/>
            <a:p>
              <a:pPr algn="ctr">
                <a:lnSpc>
                  <a:spcPts val="2120"/>
                </a:lnSpc>
              </a:pPr>
            </a:p>
          </p:txBody>
        </p:sp>
      </p:grpSp>
      <p:sp>
        <p:nvSpPr>
          <p:cNvPr name="Freeform 9" id="9"/>
          <p:cNvSpPr/>
          <p:nvPr/>
        </p:nvSpPr>
        <p:spPr>
          <a:xfrm flipH="false" flipV="false" rot="0">
            <a:off x="0" y="9505865"/>
            <a:ext cx="2552594" cy="606809"/>
          </a:xfrm>
          <a:custGeom>
            <a:avLst/>
            <a:gdLst/>
            <a:ahLst/>
            <a:cxnLst/>
            <a:rect r="r" b="b" t="t" l="l"/>
            <a:pathLst>
              <a:path h="606809" w="2552594">
                <a:moveTo>
                  <a:pt x="0" y="0"/>
                </a:moveTo>
                <a:lnTo>
                  <a:pt x="2552594" y="0"/>
                </a:lnTo>
                <a:lnTo>
                  <a:pt x="2552594" y="606809"/>
                </a:lnTo>
                <a:lnTo>
                  <a:pt x="0" y="606809"/>
                </a:lnTo>
                <a:lnTo>
                  <a:pt x="0" y="0"/>
                </a:lnTo>
                <a:close/>
              </a:path>
            </a:pathLst>
          </a:custGeom>
          <a:blipFill>
            <a:blip r:embed="rId4">
              <a:extLst>
                <a:ext uri="{96DAC541-7B7A-43D3-8B79-37D633B846F1}">
                  <asvg:svgBlip xmlns:asvg="http://schemas.microsoft.com/office/drawing/2016/SVG/main" r:embed="rId5"/>
                </a:ext>
              </a:extLst>
            </a:blip>
            <a:stretch>
              <a:fillRect l="-88172" t="-118406" r="0" b="-87335"/>
            </a:stretch>
          </a:blipFill>
        </p:spPr>
      </p:sp>
      <p:sp>
        <p:nvSpPr>
          <p:cNvPr name="Freeform 10" id="10"/>
          <p:cNvSpPr/>
          <p:nvPr/>
        </p:nvSpPr>
        <p:spPr>
          <a:xfrm flipH="false" flipV="false" rot="0">
            <a:off x="0" y="2511845"/>
            <a:ext cx="8711103" cy="5883919"/>
          </a:xfrm>
          <a:custGeom>
            <a:avLst/>
            <a:gdLst/>
            <a:ahLst/>
            <a:cxnLst/>
            <a:rect r="r" b="b" t="t" l="l"/>
            <a:pathLst>
              <a:path h="5883919" w="8711103">
                <a:moveTo>
                  <a:pt x="0" y="0"/>
                </a:moveTo>
                <a:lnTo>
                  <a:pt x="8711103" y="0"/>
                </a:lnTo>
                <a:lnTo>
                  <a:pt x="8711103" y="5883919"/>
                </a:lnTo>
                <a:lnTo>
                  <a:pt x="0" y="5883919"/>
                </a:lnTo>
                <a:lnTo>
                  <a:pt x="0" y="0"/>
                </a:lnTo>
                <a:close/>
              </a:path>
            </a:pathLst>
          </a:custGeom>
          <a:blipFill>
            <a:blip r:embed="rId6"/>
            <a:stretch>
              <a:fillRect l="0" t="0" r="-1833" b="0"/>
            </a:stretch>
          </a:blipFill>
        </p:spPr>
      </p:sp>
      <p:sp>
        <p:nvSpPr>
          <p:cNvPr name="TextBox 11" id="11"/>
          <p:cNvSpPr txBox="true"/>
          <p:nvPr/>
        </p:nvSpPr>
        <p:spPr>
          <a:xfrm rot="0">
            <a:off x="16348140" y="1849547"/>
            <a:ext cx="1616434" cy="287998"/>
          </a:xfrm>
          <a:prstGeom prst="rect">
            <a:avLst/>
          </a:prstGeom>
        </p:spPr>
        <p:txBody>
          <a:bodyPr anchor="t" rtlCol="false" tIns="0" lIns="0" bIns="0" rIns="0">
            <a:spAutoFit/>
          </a:bodyPr>
          <a:lstStyle/>
          <a:p>
            <a:pPr algn="ctr">
              <a:lnSpc>
                <a:spcPts val="2098"/>
              </a:lnSpc>
            </a:pPr>
            <a:r>
              <a:rPr lang="en-US" b="true" sz="2280" spc="-234">
                <a:solidFill>
                  <a:srgbClr val="2B2B2B"/>
                </a:solidFill>
                <a:latin typeface="Gotham Bold"/>
                <a:ea typeface="Gotham Bold"/>
                <a:cs typeface="Gotham Bold"/>
                <a:sym typeface="Gotham Bold"/>
              </a:rPr>
              <a:t>Presentation</a:t>
            </a:r>
          </a:p>
        </p:txBody>
      </p:sp>
      <p:sp>
        <p:nvSpPr>
          <p:cNvPr name="TextBox 12" id="12"/>
          <p:cNvSpPr txBox="true"/>
          <p:nvPr/>
        </p:nvSpPr>
        <p:spPr>
          <a:xfrm rot="0">
            <a:off x="16357567" y="1241583"/>
            <a:ext cx="743614" cy="287998"/>
          </a:xfrm>
          <a:prstGeom prst="rect">
            <a:avLst/>
          </a:prstGeom>
        </p:spPr>
        <p:txBody>
          <a:bodyPr anchor="t" rtlCol="false" tIns="0" lIns="0" bIns="0" rIns="0">
            <a:spAutoFit/>
          </a:bodyPr>
          <a:lstStyle/>
          <a:p>
            <a:pPr algn="ctr">
              <a:lnSpc>
                <a:spcPts val="2098"/>
              </a:lnSpc>
            </a:pPr>
            <a:r>
              <a:rPr lang="en-US" b="true" sz="2280" spc="-234">
                <a:solidFill>
                  <a:srgbClr val="2B2B2B"/>
                </a:solidFill>
                <a:latin typeface="Gotham Bold"/>
                <a:ea typeface="Gotham Bold"/>
                <a:cs typeface="Gotham Bold"/>
                <a:sym typeface="Gotham Bold"/>
              </a:rPr>
              <a:t>2025</a:t>
            </a:r>
          </a:p>
        </p:txBody>
      </p:sp>
      <p:sp>
        <p:nvSpPr>
          <p:cNvPr name="Freeform 13" id="13"/>
          <p:cNvSpPr/>
          <p:nvPr/>
        </p:nvSpPr>
        <p:spPr>
          <a:xfrm flipH="false" flipV="false" rot="-5400000">
            <a:off x="15556164" y="-485201"/>
            <a:ext cx="2383034" cy="3080638"/>
          </a:xfrm>
          <a:custGeom>
            <a:avLst/>
            <a:gdLst/>
            <a:ahLst/>
            <a:cxnLst/>
            <a:rect r="r" b="b" t="t" l="l"/>
            <a:pathLst>
              <a:path h="3080638" w="2383034">
                <a:moveTo>
                  <a:pt x="0" y="0"/>
                </a:moveTo>
                <a:lnTo>
                  <a:pt x="2383034" y="0"/>
                </a:lnTo>
                <a:lnTo>
                  <a:pt x="2383034" y="3080638"/>
                </a:lnTo>
                <a:lnTo>
                  <a:pt x="0" y="3080638"/>
                </a:lnTo>
                <a:lnTo>
                  <a:pt x="0" y="0"/>
                </a:lnTo>
                <a:close/>
              </a:path>
            </a:pathLst>
          </a:custGeom>
          <a:blipFill>
            <a:blip r:embed="rId7">
              <a:extLst>
                <a:ext uri="{96DAC541-7B7A-43D3-8B79-37D633B846F1}">
                  <asvg:svgBlip xmlns:asvg="http://schemas.microsoft.com/office/drawing/2016/SVG/main" r:embed="rId8"/>
                </a:ext>
              </a:extLst>
            </a:blip>
            <a:stretch>
              <a:fillRect l="-22854" t="0" r="-22192" b="0"/>
            </a:stretch>
          </a:blipFill>
        </p:spPr>
      </p:sp>
      <p:sp>
        <p:nvSpPr>
          <p:cNvPr name="Freeform 14" id="14"/>
          <p:cNvSpPr/>
          <p:nvPr/>
        </p:nvSpPr>
        <p:spPr>
          <a:xfrm flipH="false" flipV="false" rot="-5400000">
            <a:off x="15556164" y="1038113"/>
            <a:ext cx="2383034" cy="3080638"/>
          </a:xfrm>
          <a:custGeom>
            <a:avLst/>
            <a:gdLst/>
            <a:ahLst/>
            <a:cxnLst/>
            <a:rect r="r" b="b" t="t" l="l"/>
            <a:pathLst>
              <a:path h="3080638" w="2383034">
                <a:moveTo>
                  <a:pt x="0" y="0"/>
                </a:moveTo>
                <a:lnTo>
                  <a:pt x="2383034" y="0"/>
                </a:lnTo>
                <a:lnTo>
                  <a:pt x="2383034" y="3080638"/>
                </a:lnTo>
                <a:lnTo>
                  <a:pt x="0" y="3080638"/>
                </a:lnTo>
                <a:lnTo>
                  <a:pt x="0" y="0"/>
                </a:lnTo>
                <a:close/>
              </a:path>
            </a:pathLst>
          </a:custGeom>
          <a:blipFill>
            <a:blip r:embed="rId7">
              <a:extLst>
                <a:ext uri="{96DAC541-7B7A-43D3-8B79-37D633B846F1}">
                  <asvg:svgBlip xmlns:asvg="http://schemas.microsoft.com/office/drawing/2016/SVG/main" r:embed="rId8"/>
                </a:ext>
              </a:extLst>
            </a:blip>
            <a:stretch>
              <a:fillRect l="-22854" t="0" r="-22192" b="0"/>
            </a:stretch>
          </a:blipFill>
        </p:spPr>
      </p:sp>
      <p:grpSp>
        <p:nvGrpSpPr>
          <p:cNvPr name="Group 15" id="15"/>
          <p:cNvGrpSpPr/>
          <p:nvPr/>
        </p:nvGrpSpPr>
        <p:grpSpPr>
          <a:xfrm rot="0">
            <a:off x="15338332" y="635989"/>
            <a:ext cx="2716383" cy="565315"/>
            <a:chOff x="0" y="0"/>
            <a:chExt cx="866728" cy="180377"/>
          </a:xfrm>
        </p:grpSpPr>
        <p:sp>
          <p:nvSpPr>
            <p:cNvPr name="Freeform 16" id="16"/>
            <p:cNvSpPr/>
            <p:nvPr/>
          </p:nvSpPr>
          <p:spPr>
            <a:xfrm flipH="false" flipV="false" rot="0">
              <a:off x="0" y="0"/>
              <a:ext cx="866728" cy="180377"/>
            </a:xfrm>
            <a:custGeom>
              <a:avLst/>
              <a:gdLst/>
              <a:ahLst/>
              <a:cxnLst/>
              <a:rect r="r" b="b" t="t" l="l"/>
              <a:pathLst>
                <a:path h="180377" w="866728">
                  <a:moveTo>
                    <a:pt x="54152" y="0"/>
                  </a:moveTo>
                  <a:lnTo>
                    <a:pt x="812576" y="0"/>
                  </a:lnTo>
                  <a:cubicBezTo>
                    <a:pt x="826938" y="0"/>
                    <a:pt x="840711" y="5705"/>
                    <a:pt x="850867" y="15861"/>
                  </a:cubicBezTo>
                  <a:cubicBezTo>
                    <a:pt x="861022" y="26016"/>
                    <a:pt x="866728" y="39790"/>
                    <a:pt x="866728" y="54152"/>
                  </a:cubicBezTo>
                  <a:lnTo>
                    <a:pt x="866728" y="126226"/>
                  </a:lnTo>
                  <a:cubicBezTo>
                    <a:pt x="866728" y="156133"/>
                    <a:pt x="842483" y="180377"/>
                    <a:pt x="812576" y="180377"/>
                  </a:cubicBezTo>
                  <a:lnTo>
                    <a:pt x="54152" y="180377"/>
                  </a:lnTo>
                  <a:cubicBezTo>
                    <a:pt x="24244" y="180377"/>
                    <a:pt x="0" y="156133"/>
                    <a:pt x="0" y="126226"/>
                  </a:cubicBezTo>
                  <a:lnTo>
                    <a:pt x="0" y="54152"/>
                  </a:lnTo>
                  <a:cubicBezTo>
                    <a:pt x="0" y="24244"/>
                    <a:pt x="24244" y="0"/>
                    <a:pt x="54152" y="0"/>
                  </a:cubicBezTo>
                  <a:close/>
                </a:path>
              </a:pathLst>
            </a:custGeom>
            <a:solidFill>
              <a:srgbClr val="2B2B2B"/>
            </a:solidFill>
          </p:spPr>
        </p:sp>
        <p:sp>
          <p:nvSpPr>
            <p:cNvPr name="TextBox 17" id="17"/>
            <p:cNvSpPr txBox="true"/>
            <p:nvPr/>
          </p:nvSpPr>
          <p:spPr>
            <a:xfrm>
              <a:off x="0" y="57150"/>
              <a:ext cx="866728" cy="123227"/>
            </a:xfrm>
            <a:prstGeom prst="rect">
              <a:avLst/>
            </a:prstGeom>
          </p:spPr>
          <p:txBody>
            <a:bodyPr anchor="ctr" rtlCol="false" tIns="50800" lIns="50800" bIns="50800" rIns="50800"/>
            <a:lstStyle/>
            <a:p>
              <a:pPr algn="ctr">
                <a:lnSpc>
                  <a:spcPts val="2120"/>
                </a:lnSpc>
              </a:pPr>
            </a:p>
          </p:txBody>
        </p:sp>
      </p:grpSp>
      <p:grpSp>
        <p:nvGrpSpPr>
          <p:cNvPr name="Group 18" id="18"/>
          <p:cNvGrpSpPr/>
          <p:nvPr/>
        </p:nvGrpSpPr>
        <p:grpSpPr>
          <a:xfrm rot="0">
            <a:off x="15407578" y="2439590"/>
            <a:ext cx="2353346" cy="711280"/>
            <a:chOff x="0" y="0"/>
            <a:chExt cx="750892" cy="226951"/>
          </a:xfrm>
        </p:grpSpPr>
        <p:sp>
          <p:nvSpPr>
            <p:cNvPr name="Freeform 19" id="19"/>
            <p:cNvSpPr/>
            <p:nvPr/>
          </p:nvSpPr>
          <p:spPr>
            <a:xfrm flipH="false" flipV="false" rot="0">
              <a:off x="0" y="0"/>
              <a:ext cx="750892" cy="226951"/>
            </a:xfrm>
            <a:custGeom>
              <a:avLst/>
              <a:gdLst/>
              <a:ahLst/>
              <a:cxnLst/>
              <a:rect r="r" b="b" t="t" l="l"/>
              <a:pathLst>
                <a:path h="226951" w="750892">
                  <a:moveTo>
                    <a:pt x="62505" y="0"/>
                  </a:moveTo>
                  <a:lnTo>
                    <a:pt x="688387" y="0"/>
                  </a:lnTo>
                  <a:cubicBezTo>
                    <a:pt x="722907" y="0"/>
                    <a:pt x="750892" y="27985"/>
                    <a:pt x="750892" y="62505"/>
                  </a:cubicBezTo>
                  <a:lnTo>
                    <a:pt x="750892" y="164446"/>
                  </a:lnTo>
                  <a:cubicBezTo>
                    <a:pt x="750892" y="198967"/>
                    <a:pt x="722907" y="226951"/>
                    <a:pt x="688387" y="226951"/>
                  </a:cubicBezTo>
                  <a:lnTo>
                    <a:pt x="62505" y="226951"/>
                  </a:lnTo>
                  <a:cubicBezTo>
                    <a:pt x="27985" y="226951"/>
                    <a:pt x="0" y="198967"/>
                    <a:pt x="0" y="164446"/>
                  </a:cubicBezTo>
                  <a:lnTo>
                    <a:pt x="0" y="62505"/>
                  </a:lnTo>
                  <a:cubicBezTo>
                    <a:pt x="0" y="27985"/>
                    <a:pt x="27985" y="0"/>
                    <a:pt x="62505" y="0"/>
                  </a:cubicBezTo>
                  <a:close/>
                </a:path>
              </a:pathLst>
            </a:custGeom>
            <a:solidFill>
              <a:srgbClr val="2B2B2B"/>
            </a:solidFill>
          </p:spPr>
        </p:sp>
        <p:sp>
          <p:nvSpPr>
            <p:cNvPr name="TextBox 20" id="20"/>
            <p:cNvSpPr txBox="true"/>
            <p:nvPr/>
          </p:nvSpPr>
          <p:spPr>
            <a:xfrm>
              <a:off x="0" y="57150"/>
              <a:ext cx="750892" cy="169801"/>
            </a:xfrm>
            <a:prstGeom prst="rect">
              <a:avLst/>
            </a:prstGeom>
          </p:spPr>
          <p:txBody>
            <a:bodyPr anchor="ctr" rtlCol="false" tIns="50800" lIns="50800" bIns="50800" rIns="50800"/>
            <a:lstStyle/>
            <a:p>
              <a:pPr algn="ctr">
                <a:lnSpc>
                  <a:spcPts val="2120"/>
                </a:lnSpc>
              </a:pPr>
            </a:p>
          </p:txBody>
        </p:sp>
      </p:grpSp>
      <p:sp>
        <p:nvSpPr>
          <p:cNvPr name="Freeform 21" id="21"/>
          <p:cNvSpPr/>
          <p:nvPr/>
        </p:nvSpPr>
        <p:spPr>
          <a:xfrm flipH="false" flipV="false" rot="0">
            <a:off x="15349663" y="1670747"/>
            <a:ext cx="2693722" cy="558687"/>
          </a:xfrm>
          <a:custGeom>
            <a:avLst/>
            <a:gdLst/>
            <a:ahLst/>
            <a:cxnLst/>
            <a:rect r="r" b="b" t="t" l="l"/>
            <a:pathLst>
              <a:path h="558687" w="2693722">
                <a:moveTo>
                  <a:pt x="0" y="0"/>
                </a:moveTo>
                <a:lnTo>
                  <a:pt x="2693721" y="0"/>
                </a:lnTo>
                <a:lnTo>
                  <a:pt x="2693721" y="558688"/>
                </a:lnTo>
                <a:lnTo>
                  <a:pt x="0" y="558688"/>
                </a:lnTo>
                <a:lnTo>
                  <a:pt x="0" y="0"/>
                </a:lnTo>
                <a:close/>
              </a:path>
            </a:pathLst>
          </a:custGeom>
          <a:blipFill>
            <a:blip r:embed="rId9"/>
            <a:stretch>
              <a:fillRect l="0" t="-13654" r="0" b="-13654"/>
            </a:stretch>
          </a:blipFill>
        </p:spPr>
      </p:sp>
      <p:sp>
        <p:nvSpPr>
          <p:cNvPr name="Freeform 22" id="22"/>
          <p:cNvSpPr/>
          <p:nvPr/>
        </p:nvSpPr>
        <p:spPr>
          <a:xfrm flipH="false" flipV="false" rot="0">
            <a:off x="9277865" y="3922349"/>
            <a:ext cx="8975089" cy="6016000"/>
          </a:xfrm>
          <a:custGeom>
            <a:avLst/>
            <a:gdLst/>
            <a:ahLst/>
            <a:cxnLst/>
            <a:rect r="r" b="b" t="t" l="l"/>
            <a:pathLst>
              <a:path h="6016000" w="8975089">
                <a:moveTo>
                  <a:pt x="0" y="0"/>
                </a:moveTo>
                <a:lnTo>
                  <a:pt x="8975089" y="0"/>
                </a:lnTo>
                <a:lnTo>
                  <a:pt x="8975089" y="6016000"/>
                </a:lnTo>
                <a:lnTo>
                  <a:pt x="0" y="60160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rnd">
            <a:noFill/>
            <a:prstDash val="solid"/>
            <a:round/>
          </a:ln>
        </p:spPr>
      </p:sp>
      <p:sp>
        <p:nvSpPr>
          <p:cNvPr name="TextBox 23" id="23"/>
          <p:cNvSpPr txBox="true"/>
          <p:nvPr/>
        </p:nvSpPr>
        <p:spPr>
          <a:xfrm rot="0">
            <a:off x="259978" y="228639"/>
            <a:ext cx="9876856" cy="2283206"/>
          </a:xfrm>
          <a:prstGeom prst="rect">
            <a:avLst/>
          </a:prstGeom>
        </p:spPr>
        <p:txBody>
          <a:bodyPr anchor="t" rtlCol="false" tIns="0" lIns="0" bIns="0" rIns="0">
            <a:spAutoFit/>
          </a:bodyPr>
          <a:lstStyle/>
          <a:p>
            <a:pPr algn="l">
              <a:lnSpc>
                <a:spcPts val="5916"/>
              </a:lnSpc>
            </a:pPr>
            <a:r>
              <a:rPr lang="en-US" sz="6099" spc="-628" b="true">
                <a:solidFill>
                  <a:srgbClr val="501934"/>
                </a:solidFill>
                <a:latin typeface="Gotham Bold"/>
                <a:ea typeface="Gotham Bold"/>
                <a:cs typeface="Gotham Bold"/>
                <a:sym typeface="Gotham Bold"/>
              </a:rPr>
              <a:t>Att</a:t>
            </a:r>
            <a:r>
              <a:rPr lang="en-US" b="true" sz="6099" spc="-628">
                <a:solidFill>
                  <a:srgbClr val="501934"/>
                </a:solidFill>
                <a:latin typeface="Gotham Bold"/>
                <a:ea typeface="Gotham Bold"/>
                <a:cs typeface="Gotham Bold"/>
                <a:sym typeface="Gotham Bold"/>
              </a:rPr>
              <a:t>rition Volatility: Capacity Tipping Points</a:t>
            </a:r>
          </a:p>
          <a:p>
            <a:pPr algn="l">
              <a:lnSpc>
                <a:spcPts val="5916"/>
              </a:lnSpc>
            </a:pPr>
          </a:p>
        </p:txBody>
      </p:sp>
      <p:sp>
        <p:nvSpPr>
          <p:cNvPr name="TextBox 24" id="24"/>
          <p:cNvSpPr txBox="true"/>
          <p:nvPr/>
        </p:nvSpPr>
        <p:spPr>
          <a:xfrm rot="0">
            <a:off x="9552669" y="4665299"/>
            <a:ext cx="8425481" cy="4721698"/>
          </a:xfrm>
          <a:prstGeom prst="rect">
            <a:avLst/>
          </a:prstGeom>
        </p:spPr>
        <p:txBody>
          <a:bodyPr anchor="t" rtlCol="false" tIns="0" lIns="0" bIns="0" rIns="0">
            <a:spAutoFit/>
          </a:bodyPr>
          <a:lstStyle/>
          <a:p>
            <a:pPr algn="l">
              <a:lnSpc>
                <a:spcPts val="3133"/>
              </a:lnSpc>
            </a:pPr>
            <a:r>
              <a:rPr lang="en-US" sz="3406" spc="-30">
                <a:solidFill>
                  <a:srgbClr val="501934"/>
                </a:solidFill>
                <a:latin typeface="Gotham"/>
                <a:ea typeface="Gotham"/>
                <a:cs typeface="Gotham"/>
                <a:sym typeface="Gotham"/>
              </a:rPr>
              <a:t>The LWBS Rate exhibits extreme seasonal sensitivity, chara</a:t>
            </a:r>
            <a:r>
              <a:rPr lang="en-US" sz="3406" spc="-30">
                <a:solidFill>
                  <a:srgbClr val="501934"/>
                </a:solidFill>
                <a:latin typeface="Gotham"/>
                <a:ea typeface="Gotham"/>
                <a:cs typeface="Gotham"/>
                <a:sym typeface="Gotham"/>
              </a:rPr>
              <a:t>cterized by a dramatic spike to nearly 16% in September 2024—a sharp reversal from the year's low of 9% in August 2024. This volatility suggests that the Day shift is operating at a precarious capacity threshold where even minor fluctuations in patient volume or staffing can cause a nearly 80% increase in patient attrition.</a:t>
            </a:r>
          </a:p>
          <a:p>
            <a:pPr algn="l">
              <a:lnSpc>
                <a:spcPts val="3133"/>
              </a:lnSpc>
            </a:pPr>
          </a:p>
        </p:txBody>
      </p:sp>
      <p:sp>
        <p:nvSpPr>
          <p:cNvPr name="TextBox 25" id="25"/>
          <p:cNvSpPr txBox="true"/>
          <p:nvPr/>
        </p:nvSpPr>
        <p:spPr>
          <a:xfrm rot="0">
            <a:off x="0" y="9995499"/>
            <a:ext cx="2863339" cy="291501"/>
          </a:xfrm>
          <a:prstGeom prst="rect">
            <a:avLst/>
          </a:prstGeom>
        </p:spPr>
        <p:txBody>
          <a:bodyPr anchor="t" rtlCol="false" tIns="0" lIns="0" bIns="0" rIns="0">
            <a:spAutoFit/>
          </a:bodyPr>
          <a:lstStyle/>
          <a:p>
            <a:pPr algn="l">
              <a:lnSpc>
                <a:spcPts val="2120"/>
              </a:lnSpc>
            </a:pPr>
            <a:r>
              <a:rPr lang="en-US" sz="2304" spc="-237" b="true">
                <a:solidFill>
                  <a:srgbClr val="501934"/>
                </a:solidFill>
                <a:latin typeface="Gotham Bold"/>
                <a:ea typeface="Gotham Bold"/>
                <a:cs typeface="Gotham Bold"/>
                <a:sym typeface="Gotham Bold"/>
              </a:rPr>
              <a:t>Executive Summary</a:t>
            </a:r>
          </a:p>
        </p:txBody>
      </p:sp>
      <p:sp>
        <p:nvSpPr>
          <p:cNvPr name="TextBox 26" id="26"/>
          <p:cNvSpPr txBox="true"/>
          <p:nvPr/>
        </p:nvSpPr>
        <p:spPr>
          <a:xfrm rot="0">
            <a:off x="15463534" y="98885"/>
            <a:ext cx="2353346" cy="507188"/>
          </a:xfrm>
          <a:prstGeom prst="rect">
            <a:avLst/>
          </a:prstGeom>
        </p:spPr>
        <p:txBody>
          <a:bodyPr anchor="t" rtlCol="false" tIns="0" lIns="0" bIns="0" rIns="0">
            <a:spAutoFit/>
          </a:bodyPr>
          <a:lstStyle/>
          <a:p>
            <a:pPr algn="l">
              <a:lnSpc>
                <a:spcPts val="3834"/>
              </a:lnSpc>
            </a:pPr>
            <a:r>
              <a:rPr lang="en-US" sz="4168" spc="-429" b="true">
                <a:solidFill>
                  <a:srgbClr val="2B2B2B"/>
                </a:solidFill>
                <a:latin typeface="Gotham Bold"/>
                <a:ea typeface="Gotham Bold"/>
                <a:cs typeface="Gotham Bold"/>
                <a:sym typeface="Gotham Bold"/>
              </a:rPr>
              <a:t>Slicers</a:t>
            </a:r>
          </a:p>
        </p:txBody>
      </p:sp>
      <p:sp>
        <p:nvSpPr>
          <p:cNvPr name="TextBox 27" id="27"/>
          <p:cNvSpPr txBox="true"/>
          <p:nvPr/>
        </p:nvSpPr>
        <p:spPr>
          <a:xfrm rot="0">
            <a:off x="15338332" y="1407837"/>
            <a:ext cx="1864913" cy="262910"/>
          </a:xfrm>
          <a:prstGeom prst="rect">
            <a:avLst/>
          </a:prstGeom>
        </p:spPr>
        <p:txBody>
          <a:bodyPr anchor="t" rtlCol="false" tIns="0" lIns="0" bIns="0" rIns="0">
            <a:spAutoFit/>
          </a:bodyPr>
          <a:lstStyle/>
          <a:p>
            <a:pPr algn="l">
              <a:lnSpc>
                <a:spcPts val="1974"/>
              </a:lnSpc>
            </a:pPr>
            <a:r>
              <a:rPr lang="en-US" sz="2146" spc="-221" b="true">
                <a:solidFill>
                  <a:srgbClr val="2B2B2B"/>
                </a:solidFill>
                <a:latin typeface="Gotham Bold"/>
                <a:ea typeface="Gotham Bold"/>
                <a:cs typeface="Gotham Bold"/>
                <a:sym typeface="Gotham Bold"/>
              </a:rPr>
              <a:t>Period</a:t>
            </a:r>
          </a:p>
        </p:txBody>
      </p:sp>
      <p:sp>
        <p:nvSpPr>
          <p:cNvPr name="TextBox 28" id="28"/>
          <p:cNvSpPr txBox="true"/>
          <p:nvPr/>
        </p:nvSpPr>
        <p:spPr>
          <a:xfrm rot="0">
            <a:off x="15463534" y="815766"/>
            <a:ext cx="2441672" cy="262910"/>
          </a:xfrm>
          <a:prstGeom prst="rect">
            <a:avLst/>
          </a:prstGeom>
        </p:spPr>
        <p:txBody>
          <a:bodyPr anchor="t" rtlCol="false" tIns="0" lIns="0" bIns="0" rIns="0">
            <a:spAutoFit/>
          </a:bodyPr>
          <a:lstStyle/>
          <a:p>
            <a:pPr algn="ctr">
              <a:lnSpc>
                <a:spcPts val="1974"/>
              </a:lnSpc>
            </a:pPr>
            <a:r>
              <a:rPr lang="en-US" b="true" sz="2146" spc="-221">
                <a:solidFill>
                  <a:srgbClr val="FFFFFF"/>
                </a:solidFill>
                <a:latin typeface="Gotham Bold"/>
                <a:ea typeface="Gotham Bold"/>
                <a:cs typeface="Gotham Bold"/>
                <a:sym typeface="Gotham Bold"/>
              </a:rPr>
              <a:t>Diagnosis Code     </a:t>
            </a:r>
            <a:r>
              <a:rPr lang="en-US" sz="2146" spc="-221">
                <a:solidFill>
                  <a:srgbClr val="FFFFFF"/>
                </a:solidFill>
                <a:latin typeface="Gotham"/>
                <a:ea typeface="Gotham"/>
                <a:cs typeface="Gotham"/>
                <a:sym typeface="Gotham"/>
              </a:rPr>
              <a:t>All</a:t>
            </a:r>
          </a:p>
        </p:txBody>
      </p:sp>
      <p:sp>
        <p:nvSpPr>
          <p:cNvPr name="TextBox 29" id="29"/>
          <p:cNvSpPr txBox="true"/>
          <p:nvPr/>
        </p:nvSpPr>
        <p:spPr>
          <a:xfrm rot="0">
            <a:off x="15463534" y="2598014"/>
            <a:ext cx="2465259" cy="386536"/>
          </a:xfrm>
          <a:prstGeom prst="rect">
            <a:avLst/>
          </a:prstGeom>
        </p:spPr>
        <p:txBody>
          <a:bodyPr anchor="t" rtlCol="false" tIns="0" lIns="0" bIns="0" rIns="0">
            <a:spAutoFit/>
          </a:bodyPr>
          <a:lstStyle/>
          <a:p>
            <a:pPr algn="l">
              <a:lnSpc>
                <a:spcPts val="2818"/>
              </a:lnSpc>
            </a:pPr>
            <a:r>
              <a:rPr lang="en-US" sz="3063" spc="-315" b="true">
                <a:solidFill>
                  <a:srgbClr val="FFFFFF"/>
                </a:solidFill>
                <a:latin typeface="Gotham Bold"/>
                <a:ea typeface="Gotham Bold"/>
                <a:cs typeface="Gotham Bold"/>
                <a:sym typeface="Gotham Bold"/>
              </a:rPr>
              <a:t>Shift        </a:t>
            </a:r>
            <a:r>
              <a:rPr lang="en-US" sz="3063" spc="-315">
                <a:solidFill>
                  <a:srgbClr val="FFFFFF"/>
                </a:solidFill>
                <a:latin typeface="Gotham"/>
                <a:ea typeface="Gotham"/>
                <a:cs typeface="Gotham"/>
                <a:sym typeface="Gotham"/>
              </a:rPr>
              <a:t>Day</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821542" y="1287750"/>
            <a:ext cx="15071072" cy="8458639"/>
          </a:xfrm>
          <a:custGeom>
            <a:avLst/>
            <a:gdLst/>
            <a:ahLst/>
            <a:cxnLst/>
            <a:rect r="r" b="b" t="t" l="l"/>
            <a:pathLst>
              <a:path h="8458639" w="15071072">
                <a:moveTo>
                  <a:pt x="0" y="0"/>
                </a:moveTo>
                <a:lnTo>
                  <a:pt x="15071072" y="0"/>
                </a:lnTo>
                <a:lnTo>
                  <a:pt x="15071072" y="8458639"/>
                </a:lnTo>
                <a:lnTo>
                  <a:pt x="0" y="8458639"/>
                </a:lnTo>
                <a:lnTo>
                  <a:pt x="0" y="0"/>
                </a:lnTo>
                <a:close/>
              </a:path>
            </a:pathLst>
          </a:custGeom>
          <a:blipFill>
            <a:blip r:embed="rId2"/>
            <a:stretch>
              <a:fillRect l="0" t="0" r="0" b="0"/>
            </a:stretch>
          </a:blipFill>
        </p:spPr>
      </p:sp>
      <p:grpSp>
        <p:nvGrpSpPr>
          <p:cNvPr name="Group 3" id="3"/>
          <p:cNvGrpSpPr/>
          <p:nvPr/>
        </p:nvGrpSpPr>
        <p:grpSpPr>
          <a:xfrm rot="0">
            <a:off x="-4309214" y="-1807997"/>
            <a:ext cx="7827529" cy="7189520"/>
            <a:chOff x="0" y="0"/>
            <a:chExt cx="812800" cy="746550"/>
          </a:xfrm>
        </p:grpSpPr>
        <p:sp>
          <p:nvSpPr>
            <p:cNvPr name="Freeform 4" id="4"/>
            <p:cNvSpPr/>
            <p:nvPr/>
          </p:nvSpPr>
          <p:spPr>
            <a:xfrm flipH="false" flipV="false" rot="0">
              <a:off x="0" y="0"/>
              <a:ext cx="812800" cy="746550"/>
            </a:xfrm>
            <a:custGeom>
              <a:avLst/>
              <a:gdLst/>
              <a:ahLst/>
              <a:cxnLst/>
              <a:rect r="r" b="b" t="t" l="l"/>
              <a:pathLst>
                <a:path h="746550" w="812800">
                  <a:moveTo>
                    <a:pt x="406400" y="0"/>
                  </a:moveTo>
                  <a:cubicBezTo>
                    <a:pt x="181951" y="0"/>
                    <a:pt x="0" y="167121"/>
                    <a:pt x="0" y="373275"/>
                  </a:cubicBezTo>
                  <a:cubicBezTo>
                    <a:pt x="0" y="579429"/>
                    <a:pt x="181951" y="746550"/>
                    <a:pt x="406400" y="746550"/>
                  </a:cubicBezTo>
                  <a:cubicBezTo>
                    <a:pt x="630849" y="746550"/>
                    <a:pt x="812800" y="579429"/>
                    <a:pt x="812800" y="373275"/>
                  </a:cubicBezTo>
                  <a:cubicBezTo>
                    <a:pt x="812800" y="167121"/>
                    <a:pt x="630849" y="0"/>
                    <a:pt x="406400" y="0"/>
                  </a:cubicBezTo>
                  <a:close/>
                </a:path>
              </a:pathLst>
            </a:custGeom>
            <a:solidFill>
              <a:srgbClr val="56021F"/>
            </a:solidFill>
          </p:spPr>
        </p:sp>
        <p:sp>
          <p:nvSpPr>
            <p:cNvPr name="TextBox 5" id="5"/>
            <p:cNvSpPr txBox="true"/>
            <p:nvPr/>
          </p:nvSpPr>
          <p:spPr>
            <a:xfrm>
              <a:off x="76200" y="127139"/>
              <a:ext cx="660400" cy="549422"/>
            </a:xfrm>
            <a:prstGeom prst="rect">
              <a:avLst/>
            </a:prstGeom>
          </p:spPr>
          <p:txBody>
            <a:bodyPr anchor="ctr" rtlCol="false" tIns="50800" lIns="50800" bIns="50800" rIns="50800"/>
            <a:lstStyle/>
            <a:p>
              <a:pPr algn="ctr">
                <a:lnSpc>
                  <a:spcPts val="2120"/>
                </a:lnSpc>
              </a:pPr>
            </a:p>
          </p:txBody>
        </p:sp>
      </p:grpSp>
      <p:sp>
        <p:nvSpPr>
          <p:cNvPr name="TextBox 6" id="6"/>
          <p:cNvSpPr txBox="true"/>
          <p:nvPr/>
        </p:nvSpPr>
        <p:spPr>
          <a:xfrm rot="0">
            <a:off x="0" y="486047"/>
            <a:ext cx="3383611" cy="3765200"/>
          </a:xfrm>
          <a:prstGeom prst="rect">
            <a:avLst/>
          </a:prstGeom>
        </p:spPr>
        <p:txBody>
          <a:bodyPr anchor="t" rtlCol="false" tIns="0" lIns="0" bIns="0" rIns="0">
            <a:spAutoFit/>
          </a:bodyPr>
          <a:lstStyle/>
          <a:p>
            <a:pPr algn="ctr">
              <a:lnSpc>
                <a:spcPts val="5011"/>
              </a:lnSpc>
            </a:pPr>
            <a:r>
              <a:rPr lang="en-US" sz="3579" b="true">
                <a:solidFill>
                  <a:srgbClr val="E4D5D7"/>
                </a:solidFill>
                <a:latin typeface="Gotham Bold"/>
                <a:ea typeface="Gotham Bold"/>
                <a:cs typeface="Gotham Bold"/>
                <a:sym typeface="Gotham Bold"/>
              </a:rPr>
              <a:t>Operational</a:t>
            </a:r>
            <a:r>
              <a:rPr lang="en-US" b="true" sz="3579">
                <a:solidFill>
                  <a:srgbClr val="E4D5D7"/>
                </a:solidFill>
                <a:latin typeface="Gotham Bold"/>
                <a:ea typeface="Gotham Bold"/>
                <a:cs typeface="Gotham Bold"/>
                <a:sym typeface="Gotham Bold"/>
              </a:rPr>
              <a:t> Performance &amp; Throughput Intelligence</a:t>
            </a:r>
          </a:p>
          <a:p>
            <a:pPr algn="ctr">
              <a:lnSpc>
                <a:spcPts val="5011"/>
              </a:lnSpc>
            </a:pPr>
            <a:r>
              <a:rPr lang="en-US" b="true" sz="3579">
                <a:solidFill>
                  <a:srgbClr val="E4D5D7"/>
                </a:solidFill>
                <a:latin typeface="Gotham Bold"/>
                <a:ea typeface="Gotham Bold"/>
                <a:cs typeface="Gotham Bold"/>
                <a:sym typeface="Gotham Bold"/>
              </a:rPr>
              <a:t>Dashbaord</a:t>
            </a:r>
          </a:p>
          <a:p>
            <a:pPr algn="ctr">
              <a:lnSpc>
                <a:spcPts val="5011"/>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73297" y="1517333"/>
            <a:ext cx="7416268" cy="9587287"/>
          </a:xfrm>
          <a:custGeom>
            <a:avLst/>
            <a:gdLst/>
            <a:ahLst/>
            <a:cxnLst/>
            <a:rect r="r" b="b" t="t" l="l"/>
            <a:pathLst>
              <a:path h="9587287" w="7416268">
                <a:moveTo>
                  <a:pt x="0" y="0"/>
                </a:moveTo>
                <a:lnTo>
                  <a:pt x="7416268" y="0"/>
                </a:lnTo>
                <a:lnTo>
                  <a:pt x="7416268" y="9587287"/>
                </a:lnTo>
                <a:lnTo>
                  <a:pt x="0" y="9587287"/>
                </a:lnTo>
                <a:lnTo>
                  <a:pt x="0" y="0"/>
                </a:lnTo>
                <a:close/>
              </a:path>
            </a:pathLst>
          </a:custGeom>
          <a:blipFill>
            <a:blip r:embed="rId2">
              <a:extLst>
                <a:ext uri="{96DAC541-7B7A-43D3-8B79-37D633B846F1}">
                  <asvg:svgBlip xmlns:asvg="http://schemas.microsoft.com/office/drawing/2016/SVG/main" r:embed="rId3"/>
                </a:ext>
              </a:extLst>
            </a:blip>
            <a:stretch>
              <a:fillRect l="-22854" t="0" r="-22192" b="0"/>
            </a:stretch>
          </a:blipFill>
        </p:spPr>
      </p:sp>
      <p:sp>
        <p:nvSpPr>
          <p:cNvPr name="AutoShape 3" id="3"/>
          <p:cNvSpPr/>
          <p:nvPr/>
        </p:nvSpPr>
        <p:spPr>
          <a:xfrm>
            <a:off x="10785789" y="9133752"/>
            <a:ext cx="5614981" cy="0"/>
          </a:xfrm>
          <a:prstGeom prst="line">
            <a:avLst/>
          </a:prstGeom>
          <a:ln cap="flat" w="19050">
            <a:solidFill>
              <a:srgbClr val="2B2B2B"/>
            </a:solidFill>
            <a:prstDash val="solid"/>
            <a:headEnd type="none" len="sm" w="sm"/>
            <a:tailEnd type="none" len="sm" w="sm"/>
          </a:ln>
        </p:spPr>
      </p:sp>
      <p:sp>
        <p:nvSpPr>
          <p:cNvPr name="Freeform 4" id="4"/>
          <p:cNvSpPr/>
          <p:nvPr/>
        </p:nvSpPr>
        <p:spPr>
          <a:xfrm flipH="false" flipV="false" rot="0">
            <a:off x="10662484" y="9177691"/>
            <a:ext cx="5593416" cy="1109309"/>
          </a:xfrm>
          <a:custGeom>
            <a:avLst/>
            <a:gdLst/>
            <a:ahLst/>
            <a:cxnLst/>
            <a:rect r="r" b="b" t="t" l="l"/>
            <a:pathLst>
              <a:path h="1109309" w="5593416">
                <a:moveTo>
                  <a:pt x="0" y="0"/>
                </a:moveTo>
                <a:lnTo>
                  <a:pt x="5593417" y="0"/>
                </a:lnTo>
                <a:lnTo>
                  <a:pt x="5593417" y="1109309"/>
                </a:lnTo>
                <a:lnTo>
                  <a:pt x="0" y="1109309"/>
                </a:lnTo>
                <a:lnTo>
                  <a:pt x="0" y="0"/>
                </a:lnTo>
                <a:close/>
              </a:path>
            </a:pathLst>
          </a:custGeom>
          <a:blipFill>
            <a:blip r:embed="rId4"/>
            <a:stretch>
              <a:fillRect l="0" t="0" r="0" b="0"/>
            </a:stretch>
          </a:blipFill>
        </p:spPr>
      </p:sp>
      <p:sp>
        <p:nvSpPr>
          <p:cNvPr name="Freeform 5" id="5"/>
          <p:cNvSpPr/>
          <p:nvPr/>
        </p:nvSpPr>
        <p:spPr>
          <a:xfrm flipH="false" flipV="false" rot="0">
            <a:off x="8948639" y="1605419"/>
            <a:ext cx="9339361" cy="6801070"/>
          </a:xfrm>
          <a:custGeom>
            <a:avLst/>
            <a:gdLst/>
            <a:ahLst/>
            <a:cxnLst/>
            <a:rect r="r" b="b" t="t" l="l"/>
            <a:pathLst>
              <a:path h="6801070" w="9339361">
                <a:moveTo>
                  <a:pt x="0" y="0"/>
                </a:moveTo>
                <a:lnTo>
                  <a:pt x="9339361" y="0"/>
                </a:lnTo>
                <a:lnTo>
                  <a:pt x="9339361" y="6801070"/>
                </a:lnTo>
                <a:lnTo>
                  <a:pt x="0" y="6801070"/>
                </a:lnTo>
                <a:lnTo>
                  <a:pt x="0" y="0"/>
                </a:lnTo>
                <a:close/>
              </a:path>
            </a:pathLst>
          </a:custGeom>
          <a:blipFill>
            <a:blip r:embed="rId5"/>
            <a:stretch>
              <a:fillRect l="0" t="0" r="0" b="0"/>
            </a:stretch>
          </a:blipFill>
        </p:spPr>
      </p:sp>
      <p:sp>
        <p:nvSpPr>
          <p:cNvPr name="TextBox 6" id="6"/>
          <p:cNvSpPr txBox="true"/>
          <p:nvPr/>
        </p:nvSpPr>
        <p:spPr>
          <a:xfrm rot="0">
            <a:off x="511807" y="231070"/>
            <a:ext cx="12828589" cy="2190249"/>
          </a:xfrm>
          <a:prstGeom prst="rect">
            <a:avLst/>
          </a:prstGeom>
        </p:spPr>
        <p:txBody>
          <a:bodyPr anchor="t" rtlCol="false" tIns="0" lIns="0" bIns="0" rIns="0">
            <a:spAutoFit/>
          </a:bodyPr>
          <a:lstStyle/>
          <a:p>
            <a:pPr algn="l">
              <a:lnSpc>
                <a:spcPts val="5833"/>
              </a:lnSpc>
            </a:pPr>
            <a:r>
              <a:rPr lang="en-US" sz="6013" spc="-619" b="true">
                <a:solidFill>
                  <a:srgbClr val="501934"/>
                </a:solidFill>
                <a:latin typeface="Gotham Bold"/>
                <a:ea typeface="Gotham Bold"/>
                <a:cs typeface="Gotham Bold"/>
                <a:sym typeface="Gotham Bold"/>
              </a:rPr>
              <a:t>Pati</a:t>
            </a:r>
            <a:r>
              <a:rPr lang="en-US" b="true" sz="6013" spc="-619">
                <a:solidFill>
                  <a:srgbClr val="501934"/>
                </a:solidFill>
                <a:latin typeface="Gotham Bold"/>
                <a:ea typeface="Gotham Bold"/>
                <a:cs typeface="Gotham Bold"/>
                <a:sym typeface="Gotham Bold"/>
              </a:rPr>
              <a:t>ent Flow &amp; Acuity: High-Stakes Bottlenecks</a:t>
            </a:r>
          </a:p>
          <a:p>
            <a:pPr algn="l">
              <a:lnSpc>
                <a:spcPts val="5364"/>
              </a:lnSpc>
            </a:pPr>
          </a:p>
        </p:txBody>
      </p:sp>
      <p:sp>
        <p:nvSpPr>
          <p:cNvPr name="TextBox 7" id="7"/>
          <p:cNvSpPr txBox="true"/>
          <p:nvPr/>
        </p:nvSpPr>
        <p:spPr>
          <a:xfrm rot="0">
            <a:off x="10785789" y="8587464"/>
            <a:ext cx="4804736" cy="502348"/>
          </a:xfrm>
          <a:prstGeom prst="rect">
            <a:avLst/>
          </a:prstGeom>
        </p:spPr>
        <p:txBody>
          <a:bodyPr anchor="t" rtlCol="false" tIns="0" lIns="0" bIns="0" rIns="0">
            <a:spAutoFit/>
          </a:bodyPr>
          <a:lstStyle/>
          <a:p>
            <a:pPr algn="l">
              <a:lnSpc>
                <a:spcPts val="3632"/>
              </a:lnSpc>
            </a:pPr>
            <a:r>
              <a:rPr lang="en-US" sz="3948" spc="-406" b="true">
                <a:solidFill>
                  <a:srgbClr val="2B2B2B"/>
                </a:solidFill>
                <a:latin typeface="Gotham Bold"/>
                <a:ea typeface="Gotham Bold"/>
                <a:cs typeface="Gotham Bold"/>
                <a:sym typeface="Gotham Bold"/>
              </a:rPr>
              <a:t>PERIOD</a:t>
            </a:r>
          </a:p>
        </p:txBody>
      </p:sp>
      <p:sp>
        <p:nvSpPr>
          <p:cNvPr name="TextBox 8" id="8"/>
          <p:cNvSpPr txBox="true"/>
          <p:nvPr/>
        </p:nvSpPr>
        <p:spPr>
          <a:xfrm rot="0">
            <a:off x="211919" y="3150770"/>
            <a:ext cx="7339023" cy="5640243"/>
          </a:xfrm>
          <a:prstGeom prst="rect">
            <a:avLst/>
          </a:prstGeom>
        </p:spPr>
        <p:txBody>
          <a:bodyPr anchor="t" rtlCol="false" tIns="0" lIns="0" bIns="0" rIns="0">
            <a:spAutoFit/>
          </a:bodyPr>
          <a:lstStyle/>
          <a:p>
            <a:pPr algn="l">
              <a:lnSpc>
                <a:spcPts val="4120"/>
              </a:lnSpc>
            </a:pPr>
            <a:r>
              <a:rPr lang="en-US" sz="2943">
                <a:solidFill>
                  <a:srgbClr val="FFFFFF"/>
                </a:solidFill>
                <a:latin typeface="Canva Sans"/>
                <a:ea typeface="Canva Sans"/>
                <a:cs typeface="Canva Sans"/>
                <a:sym typeface="Canva Sans"/>
              </a:rPr>
              <a:t>A comparative analysis reveals a critical safety paradox: the highest attrition occurs among the most urgent cases. In the High Acuity group, ESI 1 patients exhibit a staggering 16.02% LWBS rate, which is significantly higher than the peak attrition in the Low Acuity group (13.86% for ESI 5). This indicates a severe failure in prioritizing immediate clinical intervention for the most vulnerable arrivals.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928250" y="-662939"/>
            <a:ext cx="13173923" cy="17030423"/>
          </a:xfrm>
          <a:custGeom>
            <a:avLst/>
            <a:gdLst/>
            <a:ahLst/>
            <a:cxnLst/>
            <a:rect r="r" b="b" t="t" l="l"/>
            <a:pathLst>
              <a:path h="17030423" w="13173923">
                <a:moveTo>
                  <a:pt x="0" y="0"/>
                </a:moveTo>
                <a:lnTo>
                  <a:pt x="13173923" y="0"/>
                </a:lnTo>
                <a:lnTo>
                  <a:pt x="13173923" y="17030423"/>
                </a:lnTo>
                <a:lnTo>
                  <a:pt x="0" y="17030423"/>
                </a:lnTo>
                <a:lnTo>
                  <a:pt x="0" y="0"/>
                </a:lnTo>
                <a:close/>
              </a:path>
            </a:pathLst>
          </a:custGeom>
          <a:blipFill>
            <a:blip r:embed="rId2">
              <a:extLst>
                <a:ext uri="{96DAC541-7B7A-43D3-8B79-37D633B846F1}">
                  <asvg:svgBlip xmlns:asvg="http://schemas.microsoft.com/office/drawing/2016/SVG/main" r:embed="rId3"/>
                </a:ext>
              </a:extLst>
            </a:blip>
            <a:stretch>
              <a:fillRect l="-22854" t="0" r="-22192" b="0"/>
            </a:stretch>
          </a:blipFill>
        </p:spPr>
      </p:sp>
      <p:sp>
        <p:nvSpPr>
          <p:cNvPr name="Freeform 3" id="3"/>
          <p:cNvSpPr/>
          <p:nvPr/>
        </p:nvSpPr>
        <p:spPr>
          <a:xfrm flipH="false" flipV="false" rot="0">
            <a:off x="0" y="729562"/>
            <a:ext cx="9359499" cy="6146372"/>
          </a:xfrm>
          <a:custGeom>
            <a:avLst/>
            <a:gdLst/>
            <a:ahLst/>
            <a:cxnLst/>
            <a:rect r="r" b="b" t="t" l="l"/>
            <a:pathLst>
              <a:path h="6146372" w="9359499">
                <a:moveTo>
                  <a:pt x="0" y="0"/>
                </a:moveTo>
                <a:lnTo>
                  <a:pt x="9359499" y="0"/>
                </a:lnTo>
                <a:lnTo>
                  <a:pt x="9359499" y="6146372"/>
                </a:lnTo>
                <a:lnTo>
                  <a:pt x="0" y="6146372"/>
                </a:lnTo>
                <a:lnTo>
                  <a:pt x="0" y="0"/>
                </a:lnTo>
                <a:close/>
              </a:path>
            </a:pathLst>
          </a:custGeom>
          <a:blipFill>
            <a:blip r:embed="rId4"/>
            <a:stretch>
              <a:fillRect l="0" t="-1672" r="0" b="0"/>
            </a:stretch>
          </a:blipFill>
        </p:spPr>
      </p:sp>
      <p:sp>
        <p:nvSpPr>
          <p:cNvPr name="Freeform 4" id="4"/>
          <p:cNvSpPr/>
          <p:nvPr/>
        </p:nvSpPr>
        <p:spPr>
          <a:xfrm flipH="false" flipV="false" rot="0">
            <a:off x="9359499" y="729562"/>
            <a:ext cx="9144000" cy="6146372"/>
          </a:xfrm>
          <a:custGeom>
            <a:avLst/>
            <a:gdLst/>
            <a:ahLst/>
            <a:cxnLst/>
            <a:rect r="r" b="b" t="t" l="l"/>
            <a:pathLst>
              <a:path h="6146372" w="9144000">
                <a:moveTo>
                  <a:pt x="0" y="0"/>
                </a:moveTo>
                <a:lnTo>
                  <a:pt x="9144000" y="0"/>
                </a:lnTo>
                <a:lnTo>
                  <a:pt x="9144000" y="6146372"/>
                </a:lnTo>
                <a:lnTo>
                  <a:pt x="0" y="6146372"/>
                </a:lnTo>
                <a:lnTo>
                  <a:pt x="0" y="0"/>
                </a:lnTo>
                <a:close/>
              </a:path>
            </a:pathLst>
          </a:custGeom>
          <a:blipFill>
            <a:blip r:embed="rId5"/>
            <a:stretch>
              <a:fillRect l="-3274" t="0" r="-3274" b="0"/>
            </a:stretch>
          </a:blipFill>
        </p:spPr>
      </p:sp>
      <p:sp>
        <p:nvSpPr>
          <p:cNvPr name="TextBox 5" id="5"/>
          <p:cNvSpPr txBox="true"/>
          <p:nvPr/>
        </p:nvSpPr>
        <p:spPr>
          <a:xfrm rot="0">
            <a:off x="674582" y="6952134"/>
            <a:ext cx="14164890" cy="3473127"/>
          </a:xfrm>
          <a:prstGeom prst="rect">
            <a:avLst/>
          </a:prstGeom>
        </p:spPr>
        <p:txBody>
          <a:bodyPr anchor="t" rtlCol="false" tIns="0" lIns="0" bIns="0" rIns="0">
            <a:spAutoFit/>
          </a:bodyPr>
          <a:lstStyle/>
          <a:p>
            <a:pPr algn="l">
              <a:lnSpc>
                <a:spcPts val="3120"/>
              </a:lnSpc>
            </a:pPr>
            <a:r>
              <a:rPr lang="en-US" sz="2476" spc="-153">
                <a:solidFill>
                  <a:srgbClr val="FFFFFF"/>
                </a:solidFill>
                <a:latin typeface="Gotham"/>
                <a:ea typeface="Gotham"/>
                <a:cs typeface="Gotham"/>
                <a:sym typeface="Gotham"/>
              </a:rPr>
              <a:t>A comparison of bed occupancy trends reveals a distinct seasonal divergence between patient groups. </a:t>
            </a:r>
            <a:r>
              <a:rPr lang="en-US" sz="2476" spc="-153">
                <a:solidFill>
                  <a:srgbClr val="FFFFFF"/>
                </a:solidFill>
                <a:latin typeface="Gotham"/>
                <a:ea typeface="Gotham"/>
                <a:cs typeface="Gotham"/>
                <a:sym typeface="Gotham"/>
              </a:rPr>
              <a:t>High Acuity occupancy is characterized by a sustained late-year surge, peaking at approximately 0.44 (44%) during November and December 2024. In contrast, Low Acuity occupancy follows a different cycle, reaching its primary peak of 0.43 (43%) much earlier, in June 2024, before hitting a significant low of 0.34 (34%) in January 2025. These divergent peaks suggest that while the facility faces overall capacity pressure, the nature of the demand shifts from minor care needs in the summer to critical clinical requirements during the winter, necessitating a seasonal recalibration of bed allocation and specialized staffing.</a:t>
            </a:r>
          </a:p>
          <a:p>
            <a:pPr algn="l">
              <a:lnSpc>
                <a:spcPts val="2278"/>
              </a:lnSpc>
            </a:pPr>
          </a:p>
        </p:txBody>
      </p:sp>
      <p:sp>
        <p:nvSpPr>
          <p:cNvPr name="Freeform 6" id="6"/>
          <p:cNvSpPr/>
          <p:nvPr/>
        </p:nvSpPr>
        <p:spPr>
          <a:xfrm flipH="false" flipV="false" rot="0">
            <a:off x="3703102" y="106922"/>
            <a:ext cx="1626059" cy="622640"/>
          </a:xfrm>
          <a:custGeom>
            <a:avLst/>
            <a:gdLst/>
            <a:ahLst/>
            <a:cxnLst/>
            <a:rect r="r" b="b" t="t" l="l"/>
            <a:pathLst>
              <a:path h="622640" w="1626059">
                <a:moveTo>
                  <a:pt x="0" y="0"/>
                </a:moveTo>
                <a:lnTo>
                  <a:pt x="1626059" y="0"/>
                </a:lnTo>
                <a:lnTo>
                  <a:pt x="1626059" y="622640"/>
                </a:lnTo>
                <a:lnTo>
                  <a:pt x="0" y="622640"/>
                </a:lnTo>
                <a:lnTo>
                  <a:pt x="0" y="0"/>
                </a:lnTo>
                <a:close/>
              </a:path>
            </a:pathLst>
          </a:custGeom>
          <a:blipFill>
            <a:blip r:embed="rId6">
              <a:extLst>
                <a:ext uri="{96DAC541-7B7A-43D3-8B79-37D633B846F1}">
                  <asvg:svgBlip xmlns:asvg="http://schemas.microsoft.com/office/drawing/2016/SVG/main" r:embed="rId7"/>
                </a:ext>
              </a:extLst>
            </a:blip>
            <a:stretch>
              <a:fillRect l="0" t="0" r="-168711" b="0"/>
            </a:stretch>
          </a:blipFill>
        </p:spPr>
      </p:sp>
      <p:sp>
        <p:nvSpPr>
          <p:cNvPr name="Freeform 7" id="7"/>
          <p:cNvSpPr/>
          <p:nvPr/>
        </p:nvSpPr>
        <p:spPr>
          <a:xfrm flipH="true" flipV="false" rot="0">
            <a:off x="4030338" y="106922"/>
            <a:ext cx="1626059" cy="622640"/>
          </a:xfrm>
          <a:custGeom>
            <a:avLst/>
            <a:gdLst/>
            <a:ahLst/>
            <a:cxnLst/>
            <a:rect r="r" b="b" t="t" l="l"/>
            <a:pathLst>
              <a:path h="622640" w="1626059">
                <a:moveTo>
                  <a:pt x="1626058" y="0"/>
                </a:moveTo>
                <a:lnTo>
                  <a:pt x="0" y="0"/>
                </a:lnTo>
                <a:lnTo>
                  <a:pt x="0" y="622640"/>
                </a:lnTo>
                <a:lnTo>
                  <a:pt x="1626058" y="622640"/>
                </a:lnTo>
                <a:lnTo>
                  <a:pt x="1626058" y="0"/>
                </a:lnTo>
                <a:close/>
              </a:path>
            </a:pathLst>
          </a:custGeom>
          <a:blipFill>
            <a:blip r:embed="rId6">
              <a:extLst>
                <a:ext uri="{96DAC541-7B7A-43D3-8B79-37D633B846F1}">
                  <asvg:svgBlip xmlns:asvg="http://schemas.microsoft.com/office/drawing/2016/SVG/main" r:embed="rId7"/>
                </a:ext>
              </a:extLst>
            </a:blip>
            <a:stretch>
              <a:fillRect l="0" t="0" r="-168711" b="0"/>
            </a:stretch>
          </a:blipFill>
        </p:spPr>
      </p:sp>
      <p:sp>
        <p:nvSpPr>
          <p:cNvPr name="TextBox 8" id="8"/>
          <p:cNvSpPr txBox="true"/>
          <p:nvPr/>
        </p:nvSpPr>
        <p:spPr>
          <a:xfrm rot="0">
            <a:off x="3768960" y="281565"/>
            <a:ext cx="1751616" cy="340029"/>
          </a:xfrm>
          <a:prstGeom prst="rect">
            <a:avLst/>
          </a:prstGeom>
        </p:spPr>
        <p:txBody>
          <a:bodyPr anchor="t" rtlCol="false" tIns="0" lIns="0" bIns="0" rIns="0">
            <a:spAutoFit/>
          </a:bodyPr>
          <a:lstStyle/>
          <a:p>
            <a:pPr algn="ctr">
              <a:lnSpc>
                <a:spcPts val="2473"/>
              </a:lnSpc>
            </a:pPr>
            <a:r>
              <a:rPr lang="en-US" b="true" sz="2688" spc="-276">
                <a:solidFill>
                  <a:srgbClr val="501934"/>
                </a:solidFill>
                <a:latin typeface="Gotham Bold"/>
                <a:ea typeface="Gotham Bold"/>
                <a:cs typeface="Gotham Bold"/>
                <a:sym typeface="Gotham Bold"/>
              </a:rPr>
              <a:t>High Acuity</a:t>
            </a:r>
          </a:p>
        </p:txBody>
      </p:sp>
      <p:sp>
        <p:nvSpPr>
          <p:cNvPr name="Freeform 9" id="9"/>
          <p:cNvSpPr/>
          <p:nvPr/>
        </p:nvSpPr>
        <p:spPr>
          <a:xfrm flipH="false" flipV="false" rot="0">
            <a:off x="11260119" y="2417660"/>
            <a:ext cx="1626059" cy="622640"/>
          </a:xfrm>
          <a:custGeom>
            <a:avLst/>
            <a:gdLst/>
            <a:ahLst/>
            <a:cxnLst/>
            <a:rect r="r" b="b" t="t" l="l"/>
            <a:pathLst>
              <a:path h="622640" w="1626059">
                <a:moveTo>
                  <a:pt x="0" y="0"/>
                </a:moveTo>
                <a:lnTo>
                  <a:pt x="1626059" y="0"/>
                </a:lnTo>
                <a:lnTo>
                  <a:pt x="1626059" y="622640"/>
                </a:lnTo>
                <a:lnTo>
                  <a:pt x="0" y="622640"/>
                </a:lnTo>
                <a:lnTo>
                  <a:pt x="0" y="0"/>
                </a:lnTo>
                <a:close/>
              </a:path>
            </a:pathLst>
          </a:custGeom>
          <a:blipFill>
            <a:blip r:embed="rId6">
              <a:extLst>
                <a:ext uri="{96DAC541-7B7A-43D3-8B79-37D633B846F1}">
                  <asvg:svgBlip xmlns:asvg="http://schemas.microsoft.com/office/drawing/2016/SVG/main" r:embed="rId7"/>
                </a:ext>
              </a:extLst>
            </a:blip>
            <a:stretch>
              <a:fillRect l="0" t="0" r="-168711" b="0"/>
            </a:stretch>
          </a:blipFill>
        </p:spPr>
      </p:sp>
      <p:sp>
        <p:nvSpPr>
          <p:cNvPr name="Freeform 10" id="10"/>
          <p:cNvSpPr/>
          <p:nvPr/>
        </p:nvSpPr>
        <p:spPr>
          <a:xfrm flipH="true" flipV="false" rot="0">
            <a:off x="11587355" y="2417660"/>
            <a:ext cx="1626059" cy="622640"/>
          </a:xfrm>
          <a:custGeom>
            <a:avLst/>
            <a:gdLst/>
            <a:ahLst/>
            <a:cxnLst/>
            <a:rect r="r" b="b" t="t" l="l"/>
            <a:pathLst>
              <a:path h="622640" w="1626059">
                <a:moveTo>
                  <a:pt x="1626058" y="0"/>
                </a:moveTo>
                <a:lnTo>
                  <a:pt x="0" y="0"/>
                </a:lnTo>
                <a:lnTo>
                  <a:pt x="0" y="622640"/>
                </a:lnTo>
                <a:lnTo>
                  <a:pt x="1626058" y="622640"/>
                </a:lnTo>
                <a:lnTo>
                  <a:pt x="1626058" y="0"/>
                </a:lnTo>
                <a:close/>
              </a:path>
            </a:pathLst>
          </a:custGeom>
          <a:blipFill>
            <a:blip r:embed="rId6">
              <a:extLst>
                <a:ext uri="{96DAC541-7B7A-43D3-8B79-37D633B846F1}">
                  <asvg:svgBlip xmlns:asvg="http://schemas.microsoft.com/office/drawing/2016/SVG/main" r:embed="rId7"/>
                </a:ext>
              </a:extLst>
            </a:blip>
            <a:stretch>
              <a:fillRect l="0" t="0" r="-168711" b="0"/>
            </a:stretch>
          </a:blipFill>
        </p:spPr>
      </p:sp>
      <p:sp>
        <p:nvSpPr>
          <p:cNvPr name="Freeform 11" id="11"/>
          <p:cNvSpPr/>
          <p:nvPr/>
        </p:nvSpPr>
        <p:spPr>
          <a:xfrm flipH="false" flipV="false" rot="0">
            <a:off x="12886178" y="106922"/>
            <a:ext cx="1626059" cy="622640"/>
          </a:xfrm>
          <a:custGeom>
            <a:avLst/>
            <a:gdLst/>
            <a:ahLst/>
            <a:cxnLst/>
            <a:rect r="r" b="b" t="t" l="l"/>
            <a:pathLst>
              <a:path h="622640" w="1626059">
                <a:moveTo>
                  <a:pt x="0" y="0"/>
                </a:moveTo>
                <a:lnTo>
                  <a:pt x="1626059" y="0"/>
                </a:lnTo>
                <a:lnTo>
                  <a:pt x="1626059" y="622640"/>
                </a:lnTo>
                <a:lnTo>
                  <a:pt x="0" y="622640"/>
                </a:lnTo>
                <a:lnTo>
                  <a:pt x="0" y="0"/>
                </a:lnTo>
                <a:close/>
              </a:path>
            </a:pathLst>
          </a:custGeom>
          <a:blipFill>
            <a:blip r:embed="rId6">
              <a:extLst>
                <a:ext uri="{96DAC541-7B7A-43D3-8B79-37D633B846F1}">
                  <asvg:svgBlip xmlns:asvg="http://schemas.microsoft.com/office/drawing/2016/SVG/main" r:embed="rId7"/>
                </a:ext>
              </a:extLst>
            </a:blip>
            <a:stretch>
              <a:fillRect l="0" t="0" r="-168711" b="0"/>
            </a:stretch>
          </a:blipFill>
        </p:spPr>
      </p:sp>
      <p:sp>
        <p:nvSpPr>
          <p:cNvPr name="Freeform 12" id="12"/>
          <p:cNvSpPr/>
          <p:nvPr/>
        </p:nvSpPr>
        <p:spPr>
          <a:xfrm flipH="true" flipV="false" rot="0">
            <a:off x="13213413" y="106922"/>
            <a:ext cx="1626059" cy="622640"/>
          </a:xfrm>
          <a:custGeom>
            <a:avLst/>
            <a:gdLst/>
            <a:ahLst/>
            <a:cxnLst/>
            <a:rect r="r" b="b" t="t" l="l"/>
            <a:pathLst>
              <a:path h="622640" w="1626059">
                <a:moveTo>
                  <a:pt x="1626059" y="0"/>
                </a:moveTo>
                <a:lnTo>
                  <a:pt x="0" y="0"/>
                </a:lnTo>
                <a:lnTo>
                  <a:pt x="0" y="622640"/>
                </a:lnTo>
                <a:lnTo>
                  <a:pt x="1626059" y="622640"/>
                </a:lnTo>
                <a:lnTo>
                  <a:pt x="1626059" y="0"/>
                </a:lnTo>
                <a:close/>
              </a:path>
            </a:pathLst>
          </a:custGeom>
          <a:blipFill>
            <a:blip r:embed="rId6">
              <a:extLst>
                <a:ext uri="{96DAC541-7B7A-43D3-8B79-37D633B846F1}">
                  <asvg:svgBlip xmlns:asvg="http://schemas.microsoft.com/office/drawing/2016/SVG/main" r:embed="rId7"/>
                </a:ext>
              </a:extLst>
            </a:blip>
            <a:stretch>
              <a:fillRect l="0" t="0" r="-168711" b="0"/>
            </a:stretch>
          </a:blipFill>
        </p:spPr>
      </p:sp>
      <p:sp>
        <p:nvSpPr>
          <p:cNvPr name="TextBox 13" id="13"/>
          <p:cNvSpPr txBox="true"/>
          <p:nvPr/>
        </p:nvSpPr>
        <p:spPr>
          <a:xfrm rot="0">
            <a:off x="12952036" y="281565"/>
            <a:ext cx="1751616" cy="340029"/>
          </a:xfrm>
          <a:prstGeom prst="rect">
            <a:avLst/>
          </a:prstGeom>
        </p:spPr>
        <p:txBody>
          <a:bodyPr anchor="t" rtlCol="false" tIns="0" lIns="0" bIns="0" rIns="0">
            <a:spAutoFit/>
          </a:bodyPr>
          <a:lstStyle/>
          <a:p>
            <a:pPr algn="ctr">
              <a:lnSpc>
                <a:spcPts val="2473"/>
              </a:lnSpc>
            </a:pPr>
            <a:r>
              <a:rPr lang="en-US" b="true" sz="2688" spc="-276">
                <a:solidFill>
                  <a:srgbClr val="501934"/>
                </a:solidFill>
                <a:latin typeface="Gotham Bold"/>
                <a:ea typeface="Gotham Bold"/>
                <a:cs typeface="Gotham Bold"/>
                <a:sym typeface="Gotham Bold"/>
              </a:rPr>
              <a:t>Low </a:t>
            </a:r>
            <a:r>
              <a:rPr lang="en-US" b="true" sz="2688" spc="-276">
                <a:solidFill>
                  <a:srgbClr val="501934"/>
                </a:solidFill>
                <a:latin typeface="Gotham Bold"/>
                <a:ea typeface="Gotham Bold"/>
                <a:cs typeface="Gotham Bold"/>
                <a:sym typeface="Gotham Bold"/>
              </a:rPr>
              <a:t>Acuity</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7880969" y="4658365"/>
            <a:ext cx="11167772" cy="10249320"/>
          </a:xfrm>
          <a:custGeom>
            <a:avLst/>
            <a:gdLst/>
            <a:ahLst/>
            <a:cxnLst/>
            <a:rect r="r" b="b" t="t" l="l"/>
            <a:pathLst>
              <a:path h="10249320" w="11167772">
                <a:moveTo>
                  <a:pt x="0" y="0"/>
                </a:moveTo>
                <a:lnTo>
                  <a:pt x="11167771" y="0"/>
                </a:lnTo>
                <a:lnTo>
                  <a:pt x="11167771" y="10249320"/>
                </a:lnTo>
                <a:lnTo>
                  <a:pt x="0" y="10249320"/>
                </a:lnTo>
                <a:lnTo>
                  <a:pt x="0" y="0"/>
                </a:lnTo>
                <a:close/>
              </a:path>
            </a:pathLst>
          </a:custGeom>
          <a:blipFill>
            <a:blip r:embed="rId2">
              <a:extLst>
                <a:ext uri="{96DAC541-7B7A-43D3-8B79-37D633B846F1}">
                  <asvg:svgBlip xmlns:asvg="http://schemas.microsoft.com/office/drawing/2016/SVG/main" r:embed="rId3"/>
                </a:ext>
              </a:extLst>
            </a:blip>
            <a:stretch>
              <a:fillRect l="-23224" t="0" r="-22259" b="-41282"/>
            </a:stretch>
          </a:blipFill>
        </p:spPr>
      </p:sp>
      <p:sp>
        <p:nvSpPr>
          <p:cNvPr name="Freeform 3" id="3"/>
          <p:cNvSpPr/>
          <p:nvPr/>
        </p:nvSpPr>
        <p:spPr>
          <a:xfrm flipH="false" flipV="false" rot="0">
            <a:off x="83712" y="224138"/>
            <a:ext cx="7016223" cy="4811632"/>
          </a:xfrm>
          <a:custGeom>
            <a:avLst/>
            <a:gdLst/>
            <a:ahLst/>
            <a:cxnLst/>
            <a:rect r="r" b="b" t="t" l="l"/>
            <a:pathLst>
              <a:path h="4811632" w="7016223">
                <a:moveTo>
                  <a:pt x="0" y="0"/>
                </a:moveTo>
                <a:lnTo>
                  <a:pt x="7016223" y="0"/>
                </a:lnTo>
                <a:lnTo>
                  <a:pt x="7016223" y="4811631"/>
                </a:lnTo>
                <a:lnTo>
                  <a:pt x="0" y="4811631"/>
                </a:lnTo>
                <a:lnTo>
                  <a:pt x="0" y="0"/>
                </a:lnTo>
                <a:close/>
              </a:path>
            </a:pathLst>
          </a:custGeom>
          <a:blipFill>
            <a:blip r:embed="rId4"/>
            <a:stretch>
              <a:fillRect l="-584" t="0" r="-1129" b="0"/>
            </a:stretch>
          </a:blipFill>
        </p:spPr>
      </p:sp>
      <p:sp>
        <p:nvSpPr>
          <p:cNvPr name="Freeform 4" id="4"/>
          <p:cNvSpPr/>
          <p:nvPr/>
        </p:nvSpPr>
        <p:spPr>
          <a:xfrm flipH="false" flipV="false" rot="0">
            <a:off x="-40752" y="5350089"/>
            <a:ext cx="7286220" cy="4583593"/>
          </a:xfrm>
          <a:custGeom>
            <a:avLst/>
            <a:gdLst/>
            <a:ahLst/>
            <a:cxnLst/>
            <a:rect r="r" b="b" t="t" l="l"/>
            <a:pathLst>
              <a:path h="4583593" w="7286220">
                <a:moveTo>
                  <a:pt x="0" y="0"/>
                </a:moveTo>
                <a:lnTo>
                  <a:pt x="7286220" y="0"/>
                </a:lnTo>
                <a:lnTo>
                  <a:pt x="7286220" y="4583594"/>
                </a:lnTo>
                <a:lnTo>
                  <a:pt x="0" y="4583594"/>
                </a:lnTo>
                <a:lnTo>
                  <a:pt x="0" y="0"/>
                </a:lnTo>
                <a:close/>
              </a:path>
            </a:pathLst>
          </a:custGeom>
          <a:blipFill>
            <a:blip r:embed="rId5"/>
            <a:stretch>
              <a:fillRect l="0" t="0" r="-344" b="0"/>
            </a:stretch>
          </a:blipFill>
        </p:spPr>
      </p:sp>
      <p:sp>
        <p:nvSpPr>
          <p:cNvPr name="TextBox 5" id="5"/>
          <p:cNvSpPr txBox="true"/>
          <p:nvPr/>
        </p:nvSpPr>
        <p:spPr>
          <a:xfrm rot="0">
            <a:off x="11137624" y="833696"/>
            <a:ext cx="4437609" cy="475732"/>
          </a:xfrm>
          <a:prstGeom prst="rect">
            <a:avLst/>
          </a:prstGeom>
        </p:spPr>
        <p:txBody>
          <a:bodyPr anchor="t" rtlCol="false" tIns="0" lIns="0" bIns="0" rIns="0">
            <a:spAutoFit/>
          </a:bodyPr>
          <a:lstStyle/>
          <a:p>
            <a:pPr algn="l">
              <a:lnSpc>
                <a:spcPts val="3436"/>
              </a:lnSpc>
            </a:pPr>
            <a:r>
              <a:rPr lang="en-US" sz="3735" spc="-384" b="true">
                <a:solidFill>
                  <a:srgbClr val="501934"/>
                </a:solidFill>
                <a:latin typeface="Gotham Bold"/>
                <a:ea typeface="Gotham Bold"/>
                <a:cs typeface="Gotham Bold"/>
                <a:sym typeface="Gotham Bold"/>
              </a:rPr>
              <a:t>LWBS After Triage</a:t>
            </a:r>
          </a:p>
        </p:txBody>
      </p:sp>
      <p:sp>
        <p:nvSpPr>
          <p:cNvPr name="TextBox 6" id="6"/>
          <p:cNvSpPr txBox="true"/>
          <p:nvPr/>
        </p:nvSpPr>
        <p:spPr>
          <a:xfrm rot="0">
            <a:off x="8639912" y="4425967"/>
            <a:ext cx="9171006" cy="6020328"/>
          </a:xfrm>
          <a:prstGeom prst="rect">
            <a:avLst/>
          </a:prstGeom>
        </p:spPr>
        <p:txBody>
          <a:bodyPr anchor="t" rtlCol="false" tIns="0" lIns="0" bIns="0" rIns="0">
            <a:spAutoFit/>
          </a:bodyPr>
          <a:lstStyle/>
          <a:p>
            <a:pPr algn="l">
              <a:lnSpc>
                <a:spcPts val="3208"/>
              </a:lnSpc>
            </a:pPr>
            <a:r>
              <a:rPr lang="en-US" sz="2864" spc="-289">
                <a:solidFill>
                  <a:srgbClr val="FFFFFF"/>
                </a:solidFill>
                <a:latin typeface="Gotham"/>
                <a:ea typeface="Gotham"/>
                <a:cs typeface="Gotham"/>
                <a:sym typeface="Gotham"/>
              </a:rPr>
              <a:t>The Sankey diagrams reveals that High Acuity and Low Acuity groups contribute almost equally to the facility's total attrition, despite their vast difference in clinical urgency. Out of the 1.06K total LWBS (Left Without Being Seen) patients, the volume is split nearly down the middle:</a:t>
            </a:r>
          </a:p>
          <a:p>
            <a:pPr algn="l">
              <a:lnSpc>
                <a:spcPts val="3208"/>
              </a:lnSpc>
            </a:pPr>
          </a:p>
          <a:p>
            <a:pPr algn="l" marL="618429" indent="-309214" lvl="1">
              <a:lnSpc>
                <a:spcPts val="3208"/>
              </a:lnSpc>
              <a:buFont typeface="Arial"/>
              <a:buChar char="•"/>
            </a:pPr>
            <a:r>
              <a:rPr lang="en-US" sz="2864" spc="-289">
                <a:solidFill>
                  <a:srgbClr val="FFFFFF"/>
                </a:solidFill>
                <a:latin typeface="Gotham"/>
                <a:ea typeface="Gotham"/>
                <a:cs typeface="Gotham"/>
                <a:sym typeface="Gotham"/>
              </a:rPr>
              <a:t>High Acuity Attrition (ESI 1–3): This group accounts for 530 patients who left after triage without medical intervention. Given these patients have higher clinical needs, this represents the highest risk tier for the hospital.</a:t>
            </a:r>
          </a:p>
          <a:p>
            <a:pPr algn="l" marL="618429" indent="-309214" lvl="1">
              <a:lnSpc>
                <a:spcPts val="3208"/>
              </a:lnSpc>
              <a:buFont typeface="Arial"/>
              <a:buChar char="•"/>
            </a:pPr>
            <a:r>
              <a:rPr lang="en-US" sz="2864" spc="-289">
                <a:solidFill>
                  <a:srgbClr val="FFFFFF"/>
                </a:solidFill>
                <a:latin typeface="Gotham"/>
                <a:ea typeface="Gotham"/>
                <a:cs typeface="Gotham"/>
                <a:sym typeface="Gotham"/>
              </a:rPr>
              <a:t>Low Acuity Attrition (ESI 4–5): This group accounts for 527 patients leaving before being seen. While common in ER settings due to long waits for minor issues, this volume matches the high-acuity departures.</a:t>
            </a:r>
          </a:p>
          <a:p>
            <a:pPr algn="l">
              <a:lnSpc>
                <a:spcPts val="3208"/>
              </a:lnSpc>
            </a:pPr>
          </a:p>
        </p:txBody>
      </p:sp>
      <p:grpSp>
        <p:nvGrpSpPr>
          <p:cNvPr name="Group 7" id="7"/>
          <p:cNvGrpSpPr/>
          <p:nvPr/>
        </p:nvGrpSpPr>
        <p:grpSpPr>
          <a:xfrm rot="0">
            <a:off x="8839688" y="1636986"/>
            <a:ext cx="3815695" cy="1013458"/>
            <a:chOff x="0" y="0"/>
            <a:chExt cx="1530106" cy="406400"/>
          </a:xfrm>
        </p:grpSpPr>
        <p:sp>
          <p:nvSpPr>
            <p:cNvPr name="Freeform 8" id="8"/>
            <p:cNvSpPr/>
            <p:nvPr/>
          </p:nvSpPr>
          <p:spPr>
            <a:xfrm flipH="false" flipV="false" rot="0">
              <a:off x="0" y="0"/>
              <a:ext cx="1530106" cy="406400"/>
            </a:xfrm>
            <a:custGeom>
              <a:avLst/>
              <a:gdLst/>
              <a:ahLst/>
              <a:cxnLst/>
              <a:rect r="r" b="b" t="t" l="l"/>
              <a:pathLst>
                <a:path h="406400" w="1530106">
                  <a:moveTo>
                    <a:pt x="1326906" y="0"/>
                  </a:moveTo>
                  <a:cubicBezTo>
                    <a:pt x="1439130" y="0"/>
                    <a:pt x="1530106" y="90976"/>
                    <a:pt x="1530106" y="203200"/>
                  </a:cubicBezTo>
                  <a:cubicBezTo>
                    <a:pt x="1530106" y="315424"/>
                    <a:pt x="1439130" y="406400"/>
                    <a:pt x="1326906" y="406400"/>
                  </a:cubicBezTo>
                  <a:lnTo>
                    <a:pt x="203200" y="406400"/>
                  </a:lnTo>
                  <a:cubicBezTo>
                    <a:pt x="90976" y="406400"/>
                    <a:pt x="0" y="315424"/>
                    <a:pt x="0" y="203200"/>
                  </a:cubicBezTo>
                  <a:cubicBezTo>
                    <a:pt x="0" y="90976"/>
                    <a:pt x="90976" y="0"/>
                    <a:pt x="203200" y="0"/>
                  </a:cubicBezTo>
                  <a:close/>
                </a:path>
              </a:pathLst>
            </a:custGeom>
            <a:solidFill>
              <a:srgbClr val="7B6B16"/>
            </a:solidFill>
          </p:spPr>
        </p:sp>
        <p:sp>
          <p:nvSpPr>
            <p:cNvPr name="TextBox 9" id="9"/>
            <p:cNvSpPr txBox="true"/>
            <p:nvPr/>
          </p:nvSpPr>
          <p:spPr>
            <a:xfrm>
              <a:off x="0" y="57150"/>
              <a:ext cx="1530106" cy="349250"/>
            </a:xfrm>
            <a:prstGeom prst="rect">
              <a:avLst/>
            </a:prstGeom>
          </p:spPr>
          <p:txBody>
            <a:bodyPr anchor="ctr" rtlCol="false" tIns="50800" lIns="50800" bIns="50800" rIns="50800"/>
            <a:lstStyle/>
            <a:p>
              <a:pPr algn="ctr">
                <a:lnSpc>
                  <a:spcPts val="2120"/>
                </a:lnSpc>
              </a:pPr>
            </a:p>
          </p:txBody>
        </p:sp>
      </p:grpSp>
      <p:sp>
        <p:nvSpPr>
          <p:cNvPr name="TextBox 10" id="10"/>
          <p:cNvSpPr txBox="true"/>
          <p:nvPr/>
        </p:nvSpPr>
        <p:spPr>
          <a:xfrm rot="0">
            <a:off x="9079128" y="2033450"/>
            <a:ext cx="2479035" cy="318663"/>
          </a:xfrm>
          <a:prstGeom prst="rect">
            <a:avLst/>
          </a:prstGeom>
        </p:spPr>
        <p:txBody>
          <a:bodyPr anchor="t" rtlCol="false" tIns="0" lIns="0" bIns="0" rIns="0">
            <a:spAutoFit/>
          </a:bodyPr>
          <a:lstStyle/>
          <a:p>
            <a:pPr algn="l">
              <a:lnSpc>
                <a:spcPts val="2298"/>
              </a:lnSpc>
            </a:pPr>
            <a:r>
              <a:rPr lang="en-US" sz="2498" spc="-257" b="true">
                <a:solidFill>
                  <a:srgbClr val="2B2B2B"/>
                </a:solidFill>
                <a:latin typeface="Gotham Bold"/>
                <a:ea typeface="Gotham Bold"/>
                <a:cs typeface="Gotham Bold"/>
                <a:sym typeface="Gotham Bold"/>
              </a:rPr>
              <a:t>High Acuity</a:t>
            </a:r>
          </a:p>
        </p:txBody>
      </p:sp>
      <p:sp>
        <p:nvSpPr>
          <p:cNvPr name="TextBox 11" id="11"/>
          <p:cNvSpPr txBox="true"/>
          <p:nvPr/>
        </p:nvSpPr>
        <p:spPr>
          <a:xfrm rot="0">
            <a:off x="10903176" y="1921766"/>
            <a:ext cx="1738596" cy="608706"/>
          </a:xfrm>
          <a:prstGeom prst="rect">
            <a:avLst/>
          </a:prstGeom>
        </p:spPr>
        <p:txBody>
          <a:bodyPr anchor="t" rtlCol="false" tIns="0" lIns="0" bIns="0" rIns="0">
            <a:spAutoFit/>
          </a:bodyPr>
          <a:lstStyle/>
          <a:p>
            <a:pPr algn="l">
              <a:lnSpc>
                <a:spcPts val="4524"/>
              </a:lnSpc>
            </a:pPr>
            <a:r>
              <a:rPr lang="en-US" sz="4918" spc="-506" b="true">
                <a:solidFill>
                  <a:srgbClr val="2B2B2B"/>
                </a:solidFill>
                <a:latin typeface="Gotham Bold"/>
                <a:ea typeface="Gotham Bold"/>
                <a:cs typeface="Gotham Bold"/>
                <a:sym typeface="Gotham Bold"/>
              </a:rPr>
              <a:t>530</a:t>
            </a:r>
          </a:p>
        </p:txBody>
      </p:sp>
      <p:grpSp>
        <p:nvGrpSpPr>
          <p:cNvPr name="Group 12" id="12"/>
          <p:cNvGrpSpPr/>
          <p:nvPr/>
        </p:nvGrpSpPr>
        <p:grpSpPr>
          <a:xfrm rot="0">
            <a:off x="13225415" y="1636986"/>
            <a:ext cx="3815695" cy="1013458"/>
            <a:chOff x="0" y="0"/>
            <a:chExt cx="1530106" cy="406400"/>
          </a:xfrm>
        </p:grpSpPr>
        <p:sp>
          <p:nvSpPr>
            <p:cNvPr name="Freeform 13" id="13"/>
            <p:cNvSpPr/>
            <p:nvPr/>
          </p:nvSpPr>
          <p:spPr>
            <a:xfrm flipH="false" flipV="false" rot="0">
              <a:off x="0" y="0"/>
              <a:ext cx="1530106" cy="406400"/>
            </a:xfrm>
            <a:custGeom>
              <a:avLst/>
              <a:gdLst/>
              <a:ahLst/>
              <a:cxnLst/>
              <a:rect r="r" b="b" t="t" l="l"/>
              <a:pathLst>
                <a:path h="406400" w="1530106">
                  <a:moveTo>
                    <a:pt x="1326906" y="0"/>
                  </a:moveTo>
                  <a:cubicBezTo>
                    <a:pt x="1439130" y="0"/>
                    <a:pt x="1530106" y="90976"/>
                    <a:pt x="1530106" y="203200"/>
                  </a:cubicBezTo>
                  <a:cubicBezTo>
                    <a:pt x="1530106" y="315424"/>
                    <a:pt x="1439130" y="406400"/>
                    <a:pt x="1326906" y="406400"/>
                  </a:cubicBezTo>
                  <a:lnTo>
                    <a:pt x="203200" y="406400"/>
                  </a:lnTo>
                  <a:cubicBezTo>
                    <a:pt x="90976" y="406400"/>
                    <a:pt x="0" y="315424"/>
                    <a:pt x="0" y="203200"/>
                  </a:cubicBezTo>
                  <a:cubicBezTo>
                    <a:pt x="0" y="90976"/>
                    <a:pt x="90976" y="0"/>
                    <a:pt x="203200" y="0"/>
                  </a:cubicBezTo>
                  <a:close/>
                </a:path>
              </a:pathLst>
            </a:custGeom>
            <a:solidFill>
              <a:srgbClr val="7B6B16"/>
            </a:solidFill>
          </p:spPr>
        </p:sp>
        <p:sp>
          <p:nvSpPr>
            <p:cNvPr name="TextBox 14" id="14"/>
            <p:cNvSpPr txBox="true"/>
            <p:nvPr/>
          </p:nvSpPr>
          <p:spPr>
            <a:xfrm>
              <a:off x="0" y="57150"/>
              <a:ext cx="1530106" cy="349250"/>
            </a:xfrm>
            <a:prstGeom prst="rect">
              <a:avLst/>
            </a:prstGeom>
          </p:spPr>
          <p:txBody>
            <a:bodyPr anchor="ctr" rtlCol="false" tIns="50800" lIns="50800" bIns="50800" rIns="50800"/>
            <a:lstStyle/>
            <a:p>
              <a:pPr algn="ctr">
                <a:lnSpc>
                  <a:spcPts val="2120"/>
                </a:lnSpc>
              </a:pPr>
            </a:p>
          </p:txBody>
        </p:sp>
      </p:grpSp>
      <p:sp>
        <p:nvSpPr>
          <p:cNvPr name="TextBox 15" id="15"/>
          <p:cNvSpPr txBox="true"/>
          <p:nvPr/>
        </p:nvSpPr>
        <p:spPr>
          <a:xfrm rot="0">
            <a:off x="13464855" y="2033450"/>
            <a:ext cx="2479035" cy="318663"/>
          </a:xfrm>
          <a:prstGeom prst="rect">
            <a:avLst/>
          </a:prstGeom>
        </p:spPr>
        <p:txBody>
          <a:bodyPr anchor="t" rtlCol="false" tIns="0" lIns="0" bIns="0" rIns="0">
            <a:spAutoFit/>
          </a:bodyPr>
          <a:lstStyle/>
          <a:p>
            <a:pPr algn="l">
              <a:lnSpc>
                <a:spcPts val="2298"/>
              </a:lnSpc>
            </a:pPr>
            <a:r>
              <a:rPr lang="en-US" sz="2498" spc="-257" b="true">
                <a:solidFill>
                  <a:srgbClr val="2B2B2B"/>
                </a:solidFill>
                <a:latin typeface="Gotham Bold"/>
                <a:ea typeface="Gotham Bold"/>
                <a:cs typeface="Gotham Bold"/>
                <a:sym typeface="Gotham Bold"/>
              </a:rPr>
              <a:t>Low Acuity</a:t>
            </a:r>
          </a:p>
        </p:txBody>
      </p:sp>
      <p:sp>
        <p:nvSpPr>
          <p:cNvPr name="TextBox 16" id="16"/>
          <p:cNvSpPr txBox="true"/>
          <p:nvPr/>
        </p:nvSpPr>
        <p:spPr>
          <a:xfrm rot="0">
            <a:off x="15288903" y="1921766"/>
            <a:ext cx="1738596" cy="608706"/>
          </a:xfrm>
          <a:prstGeom prst="rect">
            <a:avLst/>
          </a:prstGeom>
        </p:spPr>
        <p:txBody>
          <a:bodyPr anchor="t" rtlCol="false" tIns="0" lIns="0" bIns="0" rIns="0">
            <a:spAutoFit/>
          </a:bodyPr>
          <a:lstStyle/>
          <a:p>
            <a:pPr algn="l">
              <a:lnSpc>
                <a:spcPts val="4524"/>
              </a:lnSpc>
            </a:pPr>
            <a:r>
              <a:rPr lang="en-US" sz="4918" spc="-506" b="true">
                <a:solidFill>
                  <a:srgbClr val="2B2B2B"/>
                </a:solidFill>
                <a:latin typeface="Gotham Bold"/>
                <a:ea typeface="Gotham Bold"/>
                <a:cs typeface="Gotham Bold"/>
                <a:sym typeface="Gotham Bold"/>
              </a:rPr>
              <a:t>527</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8720289" y="697813"/>
            <a:ext cx="2260637" cy="2922410"/>
          </a:xfrm>
          <a:custGeom>
            <a:avLst/>
            <a:gdLst/>
            <a:ahLst/>
            <a:cxnLst/>
            <a:rect r="r" b="b" t="t" l="l"/>
            <a:pathLst>
              <a:path h="2922410" w="2260637">
                <a:moveTo>
                  <a:pt x="0" y="0"/>
                </a:moveTo>
                <a:lnTo>
                  <a:pt x="2260637" y="0"/>
                </a:lnTo>
                <a:lnTo>
                  <a:pt x="2260637" y="2922411"/>
                </a:lnTo>
                <a:lnTo>
                  <a:pt x="0" y="2922411"/>
                </a:lnTo>
                <a:lnTo>
                  <a:pt x="0" y="0"/>
                </a:lnTo>
                <a:close/>
              </a:path>
            </a:pathLst>
          </a:custGeom>
          <a:blipFill>
            <a:blip r:embed="rId2">
              <a:extLst>
                <a:ext uri="{96DAC541-7B7A-43D3-8B79-37D633B846F1}">
                  <asvg:svgBlip xmlns:asvg="http://schemas.microsoft.com/office/drawing/2016/SVG/main" r:embed="rId3"/>
                </a:ext>
              </a:extLst>
            </a:blip>
            <a:stretch>
              <a:fillRect l="-22854" t="0" r="-22192" b="0"/>
            </a:stretch>
          </a:blipFill>
        </p:spPr>
      </p:sp>
      <p:sp>
        <p:nvSpPr>
          <p:cNvPr name="Freeform 3" id="3"/>
          <p:cNvSpPr/>
          <p:nvPr/>
        </p:nvSpPr>
        <p:spPr>
          <a:xfrm flipH="false" flipV="false" rot="-5400000">
            <a:off x="10865745" y="697813"/>
            <a:ext cx="2260637" cy="2922410"/>
          </a:xfrm>
          <a:custGeom>
            <a:avLst/>
            <a:gdLst/>
            <a:ahLst/>
            <a:cxnLst/>
            <a:rect r="r" b="b" t="t" l="l"/>
            <a:pathLst>
              <a:path h="2922410" w="2260637">
                <a:moveTo>
                  <a:pt x="0" y="0"/>
                </a:moveTo>
                <a:lnTo>
                  <a:pt x="2260637" y="0"/>
                </a:lnTo>
                <a:lnTo>
                  <a:pt x="2260637" y="2922411"/>
                </a:lnTo>
                <a:lnTo>
                  <a:pt x="0" y="2922411"/>
                </a:lnTo>
                <a:lnTo>
                  <a:pt x="0" y="0"/>
                </a:lnTo>
                <a:close/>
              </a:path>
            </a:pathLst>
          </a:custGeom>
          <a:blipFill>
            <a:blip r:embed="rId2">
              <a:extLst>
                <a:ext uri="{96DAC541-7B7A-43D3-8B79-37D633B846F1}">
                  <asvg:svgBlip xmlns:asvg="http://schemas.microsoft.com/office/drawing/2016/SVG/main" r:embed="rId3"/>
                </a:ext>
              </a:extLst>
            </a:blip>
            <a:stretch>
              <a:fillRect l="-22854" t="0" r="-22192" b="0"/>
            </a:stretch>
          </a:blipFill>
        </p:spPr>
      </p:sp>
      <p:sp>
        <p:nvSpPr>
          <p:cNvPr name="Freeform 4" id="4"/>
          <p:cNvSpPr/>
          <p:nvPr/>
        </p:nvSpPr>
        <p:spPr>
          <a:xfrm flipH="true" flipV="false" rot="0">
            <a:off x="8745020" y="1667589"/>
            <a:ext cx="2566792" cy="982860"/>
          </a:xfrm>
          <a:custGeom>
            <a:avLst/>
            <a:gdLst/>
            <a:ahLst/>
            <a:cxnLst/>
            <a:rect r="r" b="b" t="t" l="l"/>
            <a:pathLst>
              <a:path h="982860" w="2566792">
                <a:moveTo>
                  <a:pt x="2566793" y="0"/>
                </a:moveTo>
                <a:lnTo>
                  <a:pt x="0" y="0"/>
                </a:lnTo>
                <a:lnTo>
                  <a:pt x="0" y="982859"/>
                </a:lnTo>
                <a:lnTo>
                  <a:pt x="2566793" y="982859"/>
                </a:lnTo>
                <a:lnTo>
                  <a:pt x="2566793" y="0"/>
                </a:lnTo>
                <a:close/>
              </a:path>
            </a:pathLst>
          </a:custGeom>
          <a:blipFill>
            <a:blip r:embed="rId4">
              <a:extLst>
                <a:ext uri="{96DAC541-7B7A-43D3-8B79-37D633B846F1}">
                  <asvg:svgBlip xmlns:asvg="http://schemas.microsoft.com/office/drawing/2016/SVG/main" r:embed="rId5"/>
                </a:ext>
              </a:extLst>
            </a:blip>
            <a:stretch>
              <a:fillRect l="0" t="0" r="-168711" b="0"/>
            </a:stretch>
          </a:blipFill>
        </p:spPr>
      </p:sp>
      <p:sp>
        <p:nvSpPr>
          <p:cNvPr name="Freeform 5" id="5"/>
          <p:cNvSpPr/>
          <p:nvPr/>
        </p:nvSpPr>
        <p:spPr>
          <a:xfrm flipH="false" flipV="false" rot="-5400000">
            <a:off x="1757453" y="3573949"/>
            <a:ext cx="4978885" cy="6436391"/>
          </a:xfrm>
          <a:custGeom>
            <a:avLst/>
            <a:gdLst/>
            <a:ahLst/>
            <a:cxnLst/>
            <a:rect r="r" b="b" t="t" l="l"/>
            <a:pathLst>
              <a:path h="6436391" w="4978885">
                <a:moveTo>
                  <a:pt x="0" y="0"/>
                </a:moveTo>
                <a:lnTo>
                  <a:pt x="4978885" y="0"/>
                </a:lnTo>
                <a:lnTo>
                  <a:pt x="4978885" y="6436391"/>
                </a:lnTo>
                <a:lnTo>
                  <a:pt x="0" y="6436391"/>
                </a:lnTo>
                <a:lnTo>
                  <a:pt x="0" y="0"/>
                </a:lnTo>
                <a:close/>
              </a:path>
            </a:pathLst>
          </a:custGeom>
          <a:blipFill>
            <a:blip r:embed="rId2">
              <a:extLst>
                <a:ext uri="{96DAC541-7B7A-43D3-8B79-37D633B846F1}">
                  <asvg:svgBlip xmlns:asvg="http://schemas.microsoft.com/office/drawing/2016/SVG/main" r:embed="rId3"/>
                </a:ext>
              </a:extLst>
            </a:blip>
            <a:stretch>
              <a:fillRect l="-22854" t="0" r="-22192" b="0"/>
            </a:stretch>
          </a:blipFill>
        </p:spPr>
      </p:sp>
      <p:sp>
        <p:nvSpPr>
          <p:cNvPr name="Freeform 6" id="6"/>
          <p:cNvSpPr/>
          <p:nvPr/>
        </p:nvSpPr>
        <p:spPr>
          <a:xfrm flipH="false" flipV="false" rot="-5400000">
            <a:off x="12988003" y="3283328"/>
            <a:ext cx="4978885" cy="6436391"/>
          </a:xfrm>
          <a:custGeom>
            <a:avLst/>
            <a:gdLst/>
            <a:ahLst/>
            <a:cxnLst/>
            <a:rect r="r" b="b" t="t" l="l"/>
            <a:pathLst>
              <a:path h="6436391" w="4978885">
                <a:moveTo>
                  <a:pt x="0" y="0"/>
                </a:moveTo>
                <a:lnTo>
                  <a:pt x="4978885" y="0"/>
                </a:lnTo>
                <a:lnTo>
                  <a:pt x="4978885" y="6436391"/>
                </a:lnTo>
                <a:lnTo>
                  <a:pt x="0" y="6436391"/>
                </a:lnTo>
                <a:lnTo>
                  <a:pt x="0" y="0"/>
                </a:lnTo>
                <a:close/>
              </a:path>
            </a:pathLst>
          </a:custGeom>
          <a:blipFill>
            <a:blip r:embed="rId2">
              <a:extLst>
                <a:ext uri="{96DAC541-7B7A-43D3-8B79-37D633B846F1}">
                  <asvg:svgBlip xmlns:asvg="http://schemas.microsoft.com/office/drawing/2016/SVG/main" r:embed="rId3"/>
                </a:ext>
              </a:extLst>
            </a:blip>
            <a:stretch>
              <a:fillRect l="-22854" t="0" r="-22192" b="0"/>
            </a:stretch>
          </a:blipFill>
        </p:spPr>
      </p:sp>
      <p:sp>
        <p:nvSpPr>
          <p:cNvPr name="Freeform 7" id="7"/>
          <p:cNvSpPr/>
          <p:nvPr/>
        </p:nvSpPr>
        <p:spPr>
          <a:xfrm flipH="false" flipV="false" rot="-5400000">
            <a:off x="8057510" y="3596571"/>
            <a:ext cx="2838793" cy="3669813"/>
          </a:xfrm>
          <a:custGeom>
            <a:avLst/>
            <a:gdLst/>
            <a:ahLst/>
            <a:cxnLst/>
            <a:rect r="r" b="b" t="t" l="l"/>
            <a:pathLst>
              <a:path h="3669813" w="2838793">
                <a:moveTo>
                  <a:pt x="0" y="0"/>
                </a:moveTo>
                <a:lnTo>
                  <a:pt x="2838792" y="0"/>
                </a:lnTo>
                <a:lnTo>
                  <a:pt x="2838792" y="3669813"/>
                </a:lnTo>
                <a:lnTo>
                  <a:pt x="0" y="3669813"/>
                </a:lnTo>
                <a:lnTo>
                  <a:pt x="0" y="0"/>
                </a:lnTo>
                <a:close/>
              </a:path>
            </a:pathLst>
          </a:custGeom>
          <a:blipFill>
            <a:blip r:embed="rId6">
              <a:extLst>
                <a:ext uri="{96DAC541-7B7A-43D3-8B79-37D633B846F1}">
                  <asvg:svgBlip xmlns:asvg="http://schemas.microsoft.com/office/drawing/2016/SVG/main" r:embed="rId7"/>
                </a:ext>
              </a:extLst>
            </a:blip>
            <a:stretch>
              <a:fillRect l="-22854" t="0" r="-22192" b="0"/>
            </a:stretch>
          </a:blipFill>
        </p:spPr>
      </p:sp>
      <p:sp>
        <p:nvSpPr>
          <p:cNvPr name="Freeform 8" id="8"/>
          <p:cNvSpPr/>
          <p:nvPr/>
        </p:nvSpPr>
        <p:spPr>
          <a:xfrm flipH="false" flipV="false" rot="-5400000">
            <a:off x="8094012" y="6518062"/>
            <a:ext cx="2806951" cy="3628650"/>
          </a:xfrm>
          <a:custGeom>
            <a:avLst/>
            <a:gdLst/>
            <a:ahLst/>
            <a:cxnLst/>
            <a:rect r="r" b="b" t="t" l="l"/>
            <a:pathLst>
              <a:path h="3628650" w="2806951">
                <a:moveTo>
                  <a:pt x="0" y="0"/>
                </a:moveTo>
                <a:lnTo>
                  <a:pt x="2806951" y="0"/>
                </a:lnTo>
                <a:lnTo>
                  <a:pt x="2806951" y="3628651"/>
                </a:lnTo>
                <a:lnTo>
                  <a:pt x="0" y="3628651"/>
                </a:lnTo>
                <a:lnTo>
                  <a:pt x="0" y="0"/>
                </a:lnTo>
                <a:close/>
              </a:path>
            </a:pathLst>
          </a:custGeom>
          <a:blipFill>
            <a:blip r:embed="rId6">
              <a:extLst>
                <a:ext uri="{96DAC541-7B7A-43D3-8B79-37D633B846F1}">
                  <asvg:svgBlip xmlns:asvg="http://schemas.microsoft.com/office/drawing/2016/SVG/main" r:embed="rId7"/>
                </a:ext>
              </a:extLst>
            </a:blip>
            <a:stretch>
              <a:fillRect l="-22854" t="0" r="-22192" b="0"/>
            </a:stretch>
          </a:blipFill>
        </p:spPr>
      </p:sp>
      <p:sp>
        <p:nvSpPr>
          <p:cNvPr name="Freeform 9" id="9"/>
          <p:cNvSpPr/>
          <p:nvPr/>
        </p:nvSpPr>
        <p:spPr>
          <a:xfrm flipH="false" flipV="false" rot="0">
            <a:off x="1346934" y="4737191"/>
            <a:ext cx="5799924" cy="3947338"/>
          </a:xfrm>
          <a:custGeom>
            <a:avLst/>
            <a:gdLst/>
            <a:ahLst/>
            <a:cxnLst/>
            <a:rect r="r" b="b" t="t" l="l"/>
            <a:pathLst>
              <a:path h="3947338" w="5799924">
                <a:moveTo>
                  <a:pt x="0" y="0"/>
                </a:moveTo>
                <a:lnTo>
                  <a:pt x="5799923" y="0"/>
                </a:lnTo>
                <a:lnTo>
                  <a:pt x="5799923" y="3947339"/>
                </a:lnTo>
                <a:lnTo>
                  <a:pt x="0" y="3947339"/>
                </a:lnTo>
                <a:lnTo>
                  <a:pt x="0" y="0"/>
                </a:lnTo>
                <a:close/>
              </a:path>
            </a:pathLst>
          </a:custGeom>
          <a:blipFill>
            <a:blip r:embed="rId8"/>
            <a:stretch>
              <a:fillRect l="0" t="0" r="0" b="0"/>
            </a:stretch>
          </a:blipFill>
        </p:spPr>
      </p:sp>
      <p:sp>
        <p:nvSpPr>
          <p:cNvPr name="Freeform 10" id="10"/>
          <p:cNvSpPr/>
          <p:nvPr/>
        </p:nvSpPr>
        <p:spPr>
          <a:xfrm flipH="false" flipV="false" rot="0">
            <a:off x="7723143" y="7338074"/>
            <a:ext cx="3548689" cy="1988626"/>
          </a:xfrm>
          <a:custGeom>
            <a:avLst/>
            <a:gdLst/>
            <a:ahLst/>
            <a:cxnLst/>
            <a:rect r="r" b="b" t="t" l="l"/>
            <a:pathLst>
              <a:path h="1988626" w="3548689">
                <a:moveTo>
                  <a:pt x="0" y="0"/>
                </a:moveTo>
                <a:lnTo>
                  <a:pt x="3548689" y="0"/>
                </a:lnTo>
                <a:lnTo>
                  <a:pt x="3548689" y="1988627"/>
                </a:lnTo>
                <a:lnTo>
                  <a:pt x="0" y="1988627"/>
                </a:lnTo>
                <a:lnTo>
                  <a:pt x="0" y="0"/>
                </a:lnTo>
                <a:close/>
              </a:path>
            </a:pathLst>
          </a:custGeom>
          <a:blipFill>
            <a:blip r:embed="rId9"/>
            <a:stretch>
              <a:fillRect l="-10481" t="0" r="-14283" b="0"/>
            </a:stretch>
          </a:blipFill>
        </p:spPr>
      </p:sp>
      <p:sp>
        <p:nvSpPr>
          <p:cNvPr name="Freeform 11" id="11"/>
          <p:cNvSpPr/>
          <p:nvPr/>
        </p:nvSpPr>
        <p:spPr>
          <a:xfrm flipH="false" flipV="false" rot="0">
            <a:off x="7702561" y="4494084"/>
            <a:ext cx="3548689" cy="1874932"/>
          </a:xfrm>
          <a:custGeom>
            <a:avLst/>
            <a:gdLst/>
            <a:ahLst/>
            <a:cxnLst/>
            <a:rect r="r" b="b" t="t" l="l"/>
            <a:pathLst>
              <a:path h="1874932" w="3548689">
                <a:moveTo>
                  <a:pt x="0" y="0"/>
                </a:moveTo>
                <a:lnTo>
                  <a:pt x="3548690" y="0"/>
                </a:lnTo>
                <a:lnTo>
                  <a:pt x="3548690" y="1874932"/>
                </a:lnTo>
                <a:lnTo>
                  <a:pt x="0" y="1874932"/>
                </a:lnTo>
                <a:lnTo>
                  <a:pt x="0" y="0"/>
                </a:lnTo>
                <a:close/>
              </a:path>
            </a:pathLst>
          </a:custGeom>
          <a:blipFill>
            <a:blip r:embed="rId10"/>
            <a:stretch>
              <a:fillRect l="-11726" t="0" r="-15175" b="0"/>
            </a:stretch>
          </a:blipFill>
        </p:spPr>
      </p:sp>
      <p:sp>
        <p:nvSpPr>
          <p:cNvPr name="TextBox 12" id="12"/>
          <p:cNvSpPr txBox="true"/>
          <p:nvPr/>
        </p:nvSpPr>
        <p:spPr>
          <a:xfrm rot="0">
            <a:off x="1028700" y="925259"/>
            <a:ext cx="6118157" cy="2365860"/>
          </a:xfrm>
          <a:prstGeom prst="rect">
            <a:avLst/>
          </a:prstGeom>
        </p:spPr>
        <p:txBody>
          <a:bodyPr anchor="t" rtlCol="false" tIns="0" lIns="0" bIns="0" rIns="0">
            <a:spAutoFit/>
          </a:bodyPr>
          <a:lstStyle/>
          <a:p>
            <a:pPr algn="l">
              <a:lnSpc>
                <a:spcPts val="6131"/>
              </a:lnSpc>
            </a:pPr>
            <a:r>
              <a:rPr lang="en-US" sz="6320" spc="-651" b="true">
                <a:solidFill>
                  <a:srgbClr val="501934"/>
                </a:solidFill>
                <a:latin typeface="Gotham Bold"/>
                <a:ea typeface="Gotham Bold"/>
                <a:cs typeface="Gotham Bold"/>
                <a:sym typeface="Gotham Bold"/>
              </a:rPr>
              <a:t>Financial Impact :</a:t>
            </a:r>
          </a:p>
          <a:p>
            <a:pPr algn="l">
              <a:lnSpc>
                <a:spcPts val="6131"/>
              </a:lnSpc>
            </a:pPr>
            <a:r>
              <a:rPr lang="en-US" sz="6320" spc="-651" b="true">
                <a:solidFill>
                  <a:srgbClr val="501934"/>
                </a:solidFill>
                <a:latin typeface="Gotham Bold"/>
                <a:ea typeface="Gotham Bold"/>
                <a:cs typeface="Gotham Bold"/>
                <a:sym typeface="Gotham Bold"/>
              </a:rPr>
              <a:t>Lost Revenue Dashboard </a:t>
            </a:r>
          </a:p>
        </p:txBody>
      </p:sp>
      <p:sp>
        <p:nvSpPr>
          <p:cNvPr name="TextBox 13" id="13"/>
          <p:cNvSpPr txBox="true"/>
          <p:nvPr/>
        </p:nvSpPr>
        <p:spPr>
          <a:xfrm rot="0">
            <a:off x="12549257" y="4292617"/>
            <a:ext cx="4769008" cy="498185"/>
          </a:xfrm>
          <a:prstGeom prst="rect">
            <a:avLst/>
          </a:prstGeom>
        </p:spPr>
        <p:txBody>
          <a:bodyPr anchor="t" rtlCol="false" tIns="0" lIns="0" bIns="0" rIns="0">
            <a:spAutoFit/>
          </a:bodyPr>
          <a:lstStyle/>
          <a:p>
            <a:pPr algn="l">
              <a:lnSpc>
                <a:spcPts val="3632"/>
              </a:lnSpc>
            </a:pPr>
            <a:r>
              <a:rPr lang="en-US" sz="3948" spc="-406" b="true">
                <a:solidFill>
                  <a:srgbClr val="FFF8EE"/>
                </a:solidFill>
                <a:latin typeface="Gotham Bold"/>
                <a:ea typeface="Gotham Bold"/>
                <a:cs typeface="Gotham Bold"/>
                <a:sym typeface="Gotham Bold"/>
              </a:rPr>
              <a:t>INSIGHTS</a:t>
            </a:r>
          </a:p>
        </p:txBody>
      </p:sp>
      <p:sp>
        <p:nvSpPr>
          <p:cNvPr name="TextBox 14" id="14"/>
          <p:cNvSpPr txBox="true"/>
          <p:nvPr/>
        </p:nvSpPr>
        <p:spPr>
          <a:xfrm rot="0">
            <a:off x="11609068" y="1973060"/>
            <a:ext cx="1604345" cy="476691"/>
          </a:xfrm>
          <a:prstGeom prst="rect">
            <a:avLst/>
          </a:prstGeom>
        </p:spPr>
        <p:txBody>
          <a:bodyPr anchor="t" rtlCol="false" tIns="0" lIns="0" bIns="0" rIns="0">
            <a:spAutoFit/>
          </a:bodyPr>
          <a:lstStyle/>
          <a:p>
            <a:pPr algn="l">
              <a:lnSpc>
                <a:spcPts val="3559"/>
              </a:lnSpc>
            </a:pPr>
            <a:r>
              <a:rPr lang="en-US" sz="3868" spc="-398" b="true">
                <a:solidFill>
                  <a:srgbClr val="FFF8EE"/>
                </a:solidFill>
                <a:latin typeface="Gotham Bold"/>
                <a:ea typeface="Gotham Bold"/>
                <a:cs typeface="Gotham Bold"/>
                <a:sym typeface="Gotham Bold"/>
              </a:rPr>
              <a:t>12.13%</a:t>
            </a:r>
          </a:p>
        </p:txBody>
      </p:sp>
      <p:sp>
        <p:nvSpPr>
          <p:cNvPr name="TextBox 15" id="15"/>
          <p:cNvSpPr txBox="true"/>
          <p:nvPr/>
        </p:nvSpPr>
        <p:spPr>
          <a:xfrm rot="0">
            <a:off x="11996064" y="9602043"/>
            <a:ext cx="1106386" cy="334315"/>
          </a:xfrm>
          <a:prstGeom prst="rect">
            <a:avLst/>
          </a:prstGeom>
        </p:spPr>
        <p:txBody>
          <a:bodyPr anchor="t" rtlCol="false" tIns="0" lIns="0" bIns="0" rIns="0">
            <a:spAutoFit/>
          </a:bodyPr>
          <a:lstStyle/>
          <a:p>
            <a:pPr algn="l">
              <a:lnSpc>
                <a:spcPts val="2454"/>
              </a:lnSpc>
            </a:pPr>
            <a:r>
              <a:rPr lang="en-US" sz="2667" spc="-274" b="true">
                <a:solidFill>
                  <a:srgbClr val="FFF8EE"/>
                </a:solidFill>
                <a:latin typeface="Gotham Bold"/>
                <a:ea typeface="Gotham Bold"/>
                <a:cs typeface="Gotham Bold"/>
                <a:sym typeface="Gotham Bold"/>
              </a:rPr>
              <a:t>(↓2%)</a:t>
            </a:r>
          </a:p>
        </p:txBody>
      </p:sp>
      <p:sp>
        <p:nvSpPr>
          <p:cNvPr name="TextBox 16" id="16"/>
          <p:cNvSpPr txBox="true"/>
          <p:nvPr/>
        </p:nvSpPr>
        <p:spPr>
          <a:xfrm rot="0">
            <a:off x="12549257" y="5002590"/>
            <a:ext cx="5447590" cy="4171771"/>
          </a:xfrm>
          <a:prstGeom prst="rect">
            <a:avLst/>
          </a:prstGeom>
        </p:spPr>
        <p:txBody>
          <a:bodyPr anchor="t" rtlCol="false" tIns="0" lIns="0" bIns="0" rIns="0">
            <a:spAutoFit/>
          </a:bodyPr>
          <a:lstStyle/>
          <a:p>
            <a:pPr algn="l">
              <a:lnSpc>
                <a:spcPts val="3989"/>
              </a:lnSpc>
            </a:pPr>
            <a:r>
              <a:rPr lang="en-US" sz="2891" spc="-297">
                <a:solidFill>
                  <a:srgbClr val="FFFFFF"/>
                </a:solidFill>
                <a:latin typeface="Gotham"/>
                <a:ea typeface="Gotham"/>
                <a:cs typeface="Gotham"/>
                <a:sym typeface="Gotham"/>
              </a:rPr>
              <a:t>In</a:t>
            </a:r>
            <a:r>
              <a:rPr lang="en-US" sz="2891" spc="-297">
                <a:solidFill>
                  <a:srgbClr val="FFFFFF"/>
                </a:solidFill>
                <a:latin typeface="Gotham"/>
                <a:ea typeface="Gotham"/>
                <a:cs typeface="Gotham"/>
                <a:sym typeface="Gotham"/>
              </a:rPr>
              <a:t>efficiency has a clear price tag: $345,000 in lost revenue due to the LWBS rate. While the current Lost Revenue Ratio of 7.35% sits below the 10% critical threshold (as shown in the gauge), it represents a significant opportunity for recovery.</a:t>
            </a:r>
          </a:p>
          <a:p>
            <a:pPr algn="l">
              <a:lnSpc>
                <a:spcPts val="5231"/>
              </a:lnSpc>
            </a:pPr>
          </a:p>
        </p:txBody>
      </p:sp>
      <p:sp>
        <p:nvSpPr>
          <p:cNvPr name="TextBox 17" id="17"/>
          <p:cNvSpPr txBox="true"/>
          <p:nvPr/>
        </p:nvSpPr>
        <p:spPr>
          <a:xfrm rot="0">
            <a:off x="6727529" y="1860251"/>
            <a:ext cx="6601775" cy="530860"/>
          </a:xfrm>
          <a:prstGeom prst="rect">
            <a:avLst/>
          </a:prstGeom>
        </p:spPr>
        <p:txBody>
          <a:bodyPr anchor="t" rtlCol="false" tIns="0" lIns="0" bIns="0" rIns="0">
            <a:spAutoFit/>
          </a:bodyPr>
          <a:lstStyle/>
          <a:p>
            <a:pPr algn="ctr">
              <a:lnSpc>
                <a:spcPts val="4340"/>
              </a:lnSpc>
            </a:pPr>
            <a:r>
              <a:rPr lang="en-US" sz="3100" b="true">
                <a:solidFill>
                  <a:srgbClr val="000000"/>
                </a:solidFill>
                <a:latin typeface="Gotham Bold"/>
                <a:ea typeface="Gotham Bold"/>
                <a:cs typeface="Gotham Bold"/>
                <a:sym typeface="Gotham Bold"/>
              </a:rPr>
              <a:t>LWBS Ratio</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grpSp>
        <p:nvGrpSpPr>
          <p:cNvPr name="Group 2" id="2"/>
          <p:cNvGrpSpPr/>
          <p:nvPr/>
        </p:nvGrpSpPr>
        <p:grpSpPr>
          <a:xfrm rot="0">
            <a:off x="-1543050" y="551215"/>
            <a:ext cx="3896924" cy="1543050"/>
            <a:chOff x="0" y="0"/>
            <a:chExt cx="1026350" cy="406400"/>
          </a:xfrm>
        </p:grpSpPr>
        <p:sp>
          <p:nvSpPr>
            <p:cNvPr name="Freeform 3" id="3"/>
            <p:cNvSpPr/>
            <p:nvPr/>
          </p:nvSpPr>
          <p:spPr>
            <a:xfrm flipH="false" flipV="false" rot="0">
              <a:off x="0" y="0"/>
              <a:ext cx="1026350" cy="406400"/>
            </a:xfrm>
            <a:custGeom>
              <a:avLst/>
              <a:gdLst/>
              <a:ahLst/>
              <a:cxnLst/>
              <a:rect r="r" b="b" t="t" l="l"/>
              <a:pathLst>
                <a:path h="406400" w="1026350">
                  <a:moveTo>
                    <a:pt x="0" y="0"/>
                  </a:moveTo>
                  <a:lnTo>
                    <a:pt x="1026350" y="0"/>
                  </a:lnTo>
                  <a:lnTo>
                    <a:pt x="1026350" y="406400"/>
                  </a:lnTo>
                  <a:lnTo>
                    <a:pt x="0" y="406400"/>
                  </a:lnTo>
                  <a:close/>
                </a:path>
              </a:pathLst>
            </a:custGeom>
            <a:solidFill>
              <a:srgbClr val="E6C49D"/>
            </a:solidFill>
          </p:spPr>
        </p:sp>
        <p:sp>
          <p:nvSpPr>
            <p:cNvPr name="TextBox 4" id="4"/>
            <p:cNvSpPr txBox="true"/>
            <p:nvPr/>
          </p:nvSpPr>
          <p:spPr>
            <a:xfrm>
              <a:off x="0" y="-47625"/>
              <a:ext cx="1026350" cy="454025"/>
            </a:xfrm>
            <a:prstGeom prst="rect">
              <a:avLst/>
            </a:prstGeom>
          </p:spPr>
          <p:txBody>
            <a:bodyPr anchor="ctr" rtlCol="false" tIns="50800" lIns="50800" bIns="50800" rIns="50800"/>
            <a:lstStyle/>
            <a:p>
              <a:pPr algn="ctr">
                <a:lnSpc>
                  <a:spcPts val="3012"/>
                </a:lnSpc>
              </a:pPr>
            </a:p>
          </p:txBody>
        </p:sp>
      </p:grpSp>
      <p:sp>
        <p:nvSpPr>
          <p:cNvPr name="Freeform 5" id="5"/>
          <p:cNvSpPr/>
          <p:nvPr/>
        </p:nvSpPr>
        <p:spPr>
          <a:xfrm flipH="false" flipV="false" rot="-5400000">
            <a:off x="9702260" y="5775636"/>
            <a:ext cx="5209725" cy="176601"/>
          </a:xfrm>
          <a:custGeom>
            <a:avLst/>
            <a:gdLst/>
            <a:ahLst/>
            <a:cxnLst/>
            <a:rect r="r" b="b" t="t" l="l"/>
            <a:pathLst>
              <a:path h="176601" w="5209725">
                <a:moveTo>
                  <a:pt x="0" y="0"/>
                </a:moveTo>
                <a:lnTo>
                  <a:pt x="5209725" y="0"/>
                </a:lnTo>
                <a:lnTo>
                  <a:pt x="5209725" y="176600"/>
                </a:lnTo>
                <a:lnTo>
                  <a:pt x="0" y="176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405412" y="3830768"/>
            <a:ext cx="5262219" cy="896450"/>
            <a:chOff x="0" y="0"/>
            <a:chExt cx="1433382" cy="244185"/>
          </a:xfrm>
        </p:grpSpPr>
        <p:sp>
          <p:nvSpPr>
            <p:cNvPr name="Freeform 7" id="7"/>
            <p:cNvSpPr/>
            <p:nvPr/>
          </p:nvSpPr>
          <p:spPr>
            <a:xfrm flipH="false" flipV="false" rot="0">
              <a:off x="0" y="0"/>
              <a:ext cx="1433382" cy="244185"/>
            </a:xfrm>
            <a:custGeom>
              <a:avLst/>
              <a:gdLst/>
              <a:ahLst/>
              <a:cxnLst/>
              <a:rect r="r" b="b" t="t" l="l"/>
              <a:pathLst>
                <a:path h="244185" w="1433382">
                  <a:moveTo>
                    <a:pt x="0" y="0"/>
                  </a:moveTo>
                  <a:lnTo>
                    <a:pt x="1433382" y="0"/>
                  </a:lnTo>
                  <a:lnTo>
                    <a:pt x="1433382" y="244185"/>
                  </a:lnTo>
                  <a:lnTo>
                    <a:pt x="0" y="244185"/>
                  </a:lnTo>
                  <a:close/>
                </a:path>
              </a:pathLst>
            </a:custGeom>
            <a:solidFill>
              <a:srgbClr val="BCA37F"/>
            </a:solidFill>
          </p:spPr>
        </p:sp>
        <p:sp>
          <p:nvSpPr>
            <p:cNvPr name="TextBox 8" id="8"/>
            <p:cNvSpPr txBox="true"/>
            <p:nvPr/>
          </p:nvSpPr>
          <p:spPr>
            <a:xfrm>
              <a:off x="0" y="-47625"/>
              <a:ext cx="1433382" cy="291810"/>
            </a:xfrm>
            <a:prstGeom prst="rect">
              <a:avLst/>
            </a:prstGeom>
          </p:spPr>
          <p:txBody>
            <a:bodyPr anchor="ctr" rtlCol="false" tIns="50800" lIns="50800" bIns="50800" rIns="50800"/>
            <a:lstStyle/>
            <a:p>
              <a:pPr algn="ctr">
                <a:lnSpc>
                  <a:spcPts val="3012"/>
                </a:lnSpc>
              </a:pPr>
            </a:p>
          </p:txBody>
        </p:sp>
      </p:grpSp>
      <p:grpSp>
        <p:nvGrpSpPr>
          <p:cNvPr name="Group 9" id="9"/>
          <p:cNvGrpSpPr/>
          <p:nvPr/>
        </p:nvGrpSpPr>
        <p:grpSpPr>
          <a:xfrm rot="0">
            <a:off x="12697530" y="3844031"/>
            <a:ext cx="5527122" cy="896450"/>
            <a:chOff x="0" y="0"/>
            <a:chExt cx="1505540" cy="244185"/>
          </a:xfrm>
        </p:grpSpPr>
        <p:sp>
          <p:nvSpPr>
            <p:cNvPr name="Freeform 10" id="10"/>
            <p:cNvSpPr/>
            <p:nvPr/>
          </p:nvSpPr>
          <p:spPr>
            <a:xfrm flipH="false" flipV="false" rot="0">
              <a:off x="0" y="0"/>
              <a:ext cx="1505539" cy="244185"/>
            </a:xfrm>
            <a:custGeom>
              <a:avLst/>
              <a:gdLst/>
              <a:ahLst/>
              <a:cxnLst/>
              <a:rect r="r" b="b" t="t" l="l"/>
              <a:pathLst>
                <a:path h="244185" w="1505539">
                  <a:moveTo>
                    <a:pt x="0" y="0"/>
                  </a:moveTo>
                  <a:lnTo>
                    <a:pt x="1505539" y="0"/>
                  </a:lnTo>
                  <a:lnTo>
                    <a:pt x="1505539" y="244185"/>
                  </a:lnTo>
                  <a:lnTo>
                    <a:pt x="0" y="244185"/>
                  </a:lnTo>
                  <a:close/>
                </a:path>
              </a:pathLst>
            </a:custGeom>
            <a:solidFill>
              <a:srgbClr val="BCA37F"/>
            </a:solidFill>
          </p:spPr>
        </p:sp>
        <p:sp>
          <p:nvSpPr>
            <p:cNvPr name="TextBox 11" id="11"/>
            <p:cNvSpPr txBox="true"/>
            <p:nvPr/>
          </p:nvSpPr>
          <p:spPr>
            <a:xfrm>
              <a:off x="0" y="-47625"/>
              <a:ext cx="1505540" cy="291810"/>
            </a:xfrm>
            <a:prstGeom prst="rect">
              <a:avLst/>
            </a:prstGeom>
          </p:spPr>
          <p:txBody>
            <a:bodyPr anchor="ctr" rtlCol="false" tIns="50800" lIns="50800" bIns="50800" rIns="50800"/>
            <a:lstStyle/>
            <a:p>
              <a:pPr algn="ctr">
                <a:lnSpc>
                  <a:spcPts val="3012"/>
                </a:lnSpc>
              </a:pPr>
            </a:p>
          </p:txBody>
        </p:sp>
      </p:grpSp>
      <p:grpSp>
        <p:nvGrpSpPr>
          <p:cNvPr name="Group 12" id="12"/>
          <p:cNvGrpSpPr/>
          <p:nvPr/>
        </p:nvGrpSpPr>
        <p:grpSpPr>
          <a:xfrm rot="0">
            <a:off x="6654496" y="3830768"/>
            <a:ext cx="5262219" cy="896450"/>
            <a:chOff x="0" y="0"/>
            <a:chExt cx="1433382" cy="244185"/>
          </a:xfrm>
        </p:grpSpPr>
        <p:sp>
          <p:nvSpPr>
            <p:cNvPr name="Freeform 13" id="13"/>
            <p:cNvSpPr/>
            <p:nvPr/>
          </p:nvSpPr>
          <p:spPr>
            <a:xfrm flipH="false" flipV="false" rot="0">
              <a:off x="0" y="0"/>
              <a:ext cx="1433382" cy="244185"/>
            </a:xfrm>
            <a:custGeom>
              <a:avLst/>
              <a:gdLst/>
              <a:ahLst/>
              <a:cxnLst/>
              <a:rect r="r" b="b" t="t" l="l"/>
              <a:pathLst>
                <a:path h="244185" w="1433382">
                  <a:moveTo>
                    <a:pt x="0" y="0"/>
                  </a:moveTo>
                  <a:lnTo>
                    <a:pt x="1433382" y="0"/>
                  </a:lnTo>
                  <a:lnTo>
                    <a:pt x="1433382" y="244185"/>
                  </a:lnTo>
                  <a:lnTo>
                    <a:pt x="0" y="244185"/>
                  </a:lnTo>
                  <a:close/>
                </a:path>
              </a:pathLst>
            </a:custGeom>
            <a:solidFill>
              <a:srgbClr val="BCA37F"/>
            </a:solidFill>
          </p:spPr>
        </p:sp>
        <p:sp>
          <p:nvSpPr>
            <p:cNvPr name="TextBox 14" id="14"/>
            <p:cNvSpPr txBox="true"/>
            <p:nvPr/>
          </p:nvSpPr>
          <p:spPr>
            <a:xfrm>
              <a:off x="0" y="-47625"/>
              <a:ext cx="1433382" cy="291810"/>
            </a:xfrm>
            <a:prstGeom prst="rect">
              <a:avLst/>
            </a:prstGeom>
          </p:spPr>
          <p:txBody>
            <a:bodyPr anchor="ctr" rtlCol="false" tIns="50800" lIns="50800" bIns="50800" rIns="50800"/>
            <a:lstStyle/>
            <a:p>
              <a:pPr algn="ctr">
                <a:lnSpc>
                  <a:spcPts val="3012"/>
                </a:lnSpc>
              </a:pPr>
            </a:p>
          </p:txBody>
        </p:sp>
      </p:grpSp>
      <p:grpSp>
        <p:nvGrpSpPr>
          <p:cNvPr name="Group 15" id="15"/>
          <p:cNvGrpSpPr/>
          <p:nvPr/>
        </p:nvGrpSpPr>
        <p:grpSpPr>
          <a:xfrm rot="0">
            <a:off x="16664068" y="957614"/>
            <a:ext cx="1146571" cy="114657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1F20"/>
            </a:solidFill>
          </p:spPr>
        </p:sp>
        <p:sp>
          <p:nvSpPr>
            <p:cNvPr name="TextBox 17" id="17"/>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18" id="18"/>
          <p:cNvSpPr/>
          <p:nvPr/>
        </p:nvSpPr>
        <p:spPr>
          <a:xfrm flipH="false" flipV="true" rot="0">
            <a:off x="15205595" y="-2104185"/>
            <a:ext cx="2520989" cy="3962261"/>
          </a:xfrm>
          <a:custGeom>
            <a:avLst/>
            <a:gdLst/>
            <a:ahLst/>
            <a:cxnLst/>
            <a:rect r="r" b="b" t="t" l="l"/>
            <a:pathLst>
              <a:path h="3962261" w="2520989">
                <a:moveTo>
                  <a:pt x="0" y="3962261"/>
                </a:moveTo>
                <a:lnTo>
                  <a:pt x="2520988" y="3962261"/>
                </a:lnTo>
                <a:lnTo>
                  <a:pt x="2520988" y="0"/>
                </a:lnTo>
                <a:lnTo>
                  <a:pt x="0" y="0"/>
                </a:lnTo>
                <a:lnTo>
                  <a:pt x="0" y="396226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1258963" y="407054"/>
            <a:ext cx="9338785" cy="1687278"/>
          </a:xfrm>
          <a:prstGeom prst="rect">
            <a:avLst/>
          </a:prstGeom>
        </p:spPr>
        <p:txBody>
          <a:bodyPr anchor="t" rtlCol="false" tIns="0" lIns="0" bIns="0" rIns="0">
            <a:spAutoFit/>
          </a:bodyPr>
          <a:lstStyle/>
          <a:p>
            <a:pPr algn="l" marL="0" indent="0" lvl="0">
              <a:lnSpc>
                <a:spcPts val="13050"/>
              </a:lnSpc>
              <a:spcBef>
                <a:spcPct val="0"/>
              </a:spcBef>
            </a:pPr>
            <a:r>
              <a:rPr lang="en-US" b="true" sz="9321">
                <a:solidFill>
                  <a:srgbClr val="000000"/>
                </a:solidFill>
                <a:latin typeface="Poppins Bold"/>
                <a:ea typeface="Poppins Bold"/>
                <a:cs typeface="Poppins Bold"/>
                <a:sym typeface="Poppins Bold"/>
              </a:rPr>
              <a:t>Key Insights</a:t>
            </a:r>
          </a:p>
        </p:txBody>
      </p:sp>
      <p:sp>
        <p:nvSpPr>
          <p:cNvPr name="TextBox 20" id="20"/>
          <p:cNvSpPr txBox="true"/>
          <p:nvPr/>
        </p:nvSpPr>
        <p:spPr>
          <a:xfrm rot="0">
            <a:off x="1054124" y="4001072"/>
            <a:ext cx="4220292" cy="901836"/>
          </a:xfrm>
          <a:prstGeom prst="rect">
            <a:avLst/>
          </a:prstGeom>
        </p:spPr>
        <p:txBody>
          <a:bodyPr anchor="t" rtlCol="false" tIns="0" lIns="0" bIns="0" rIns="0">
            <a:spAutoFit/>
          </a:bodyPr>
          <a:lstStyle/>
          <a:p>
            <a:pPr algn="l">
              <a:lnSpc>
                <a:spcPts val="3679"/>
              </a:lnSpc>
            </a:pPr>
            <a:r>
              <a:rPr lang="en-US" sz="2628" b="true">
                <a:solidFill>
                  <a:srgbClr val="000000"/>
                </a:solidFill>
                <a:latin typeface="Inter Bold"/>
                <a:ea typeface="Inter Bold"/>
                <a:cs typeface="Inter Bold"/>
                <a:sym typeface="Inter Bold"/>
              </a:rPr>
              <a:t>The Wait-Time Paradox</a:t>
            </a:r>
          </a:p>
          <a:p>
            <a:pPr algn="l" marL="0" indent="0" lvl="0">
              <a:lnSpc>
                <a:spcPts val="3679"/>
              </a:lnSpc>
              <a:spcBef>
                <a:spcPct val="0"/>
              </a:spcBef>
            </a:pPr>
          </a:p>
        </p:txBody>
      </p:sp>
      <p:sp>
        <p:nvSpPr>
          <p:cNvPr name="TextBox 21" id="21"/>
          <p:cNvSpPr txBox="true"/>
          <p:nvPr/>
        </p:nvSpPr>
        <p:spPr>
          <a:xfrm rot="0">
            <a:off x="12779750" y="4014335"/>
            <a:ext cx="5993285" cy="901836"/>
          </a:xfrm>
          <a:prstGeom prst="rect">
            <a:avLst/>
          </a:prstGeom>
        </p:spPr>
        <p:txBody>
          <a:bodyPr anchor="t" rtlCol="false" tIns="0" lIns="0" bIns="0" rIns="0">
            <a:spAutoFit/>
          </a:bodyPr>
          <a:lstStyle/>
          <a:p>
            <a:pPr algn="l">
              <a:lnSpc>
                <a:spcPts val="3679"/>
              </a:lnSpc>
            </a:pPr>
            <a:r>
              <a:rPr lang="en-US" sz="2628" b="true">
                <a:solidFill>
                  <a:srgbClr val="000000"/>
                </a:solidFill>
                <a:latin typeface="Inter Bold"/>
                <a:ea typeface="Inter Bold"/>
                <a:cs typeface="Inter Bold"/>
                <a:sym typeface="Inter Bold"/>
              </a:rPr>
              <a:t>Systemic Failure in Prioritization</a:t>
            </a:r>
          </a:p>
          <a:p>
            <a:pPr algn="l" marL="0" indent="0" lvl="0">
              <a:lnSpc>
                <a:spcPts val="3679"/>
              </a:lnSpc>
              <a:spcBef>
                <a:spcPct val="0"/>
              </a:spcBef>
            </a:pPr>
          </a:p>
        </p:txBody>
      </p:sp>
      <p:sp>
        <p:nvSpPr>
          <p:cNvPr name="TextBox 22" id="22"/>
          <p:cNvSpPr txBox="true"/>
          <p:nvPr/>
        </p:nvSpPr>
        <p:spPr>
          <a:xfrm rot="0">
            <a:off x="7289492" y="4001072"/>
            <a:ext cx="3992226" cy="901836"/>
          </a:xfrm>
          <a:prstGeom prst="rect">
            <a:avLst/>
          </a:prstGeom>
        </p:spPr>
        <p:txBody>
          <a:bodyPr anchor="t" rtlCol="false" tIns="0" lIns="0" bIns="0" rIns="0">
            <a:spAutoFit/>
          </a:bodyPr>
          <a:lstStyle/>
          <a:p>
            <a:pPr algn="l">
              <a:lnSpc>
                <a:spcPts val="3679"/>
              </a:lnSpc>
            </a:pPr>
            <a:r>
              <a:rPr lang="en-US" sz="2628" b="true">
                <a:solidFill>
                  <a:srgbClr val="000000"/>
                </a:solidFill>
                <a:latin typeface="Inter Bold"/>
                <a:ea typeface="Inter Bold"/>
                <a:cs typeface="Inter Bold"/>
                <a:sym typeface="Inter Bold"/>
              </a:rPr>
              <a:t>Critical Clinical Leakage</a:t>
            </a:r>
          </a:p>
          <a:p>
            <a:pPr algn="l" marL="0" indent="0" lvl="0">
              <a:lnSpc>
                <a:spcPts val="3679"/>
              </a:lnSpc>
              <a:spcBef>
                <a:spcPct val="0"/>
              </a:spcBef>
            </a:pPr>
          </a:p>
        </p:txBody>
      </p:sp>
      <p:sp>
        <p:nvSpPr>
          <p:cNvPr name="TextBox 23" id="23"/>
          <p:cNvSpPr txBox="true"/>
          <p:nvPr/>
        </p:nvSpPr>
        <p:spPr>
          <a:xfrm rot="0">
            <a:off x="405412" y="5145488"/>
            <a:ext cx="5262219" cy="2724498"/>
          </a:xfrm>
          <a:prstGeom prst="rect">
            <a:avLst/>
          </a:prstGeom>
        </p:spPr>
        <p:txBody>
          <a:bodyPr anchor="t" rtlCol="false" tIns="0" lIns="0" bIns="0" rIns="0">
            <a:spAutoFit/>
          </a:bodyPr>
          <a:lstStyle/>
          <a:p>
            <a:pPr algn="l" marL="0" indent="0" lvl="0">
              <a:lnSpc>
                <a:spcPts val="3130"/>
              </a:lnSpc>
              <a:spcBef>
                <a:spcPct val="0"/>
              </a:spcBef>
            </a:pPr>
            <a:r>
              <a:rPr lang="en-US" b="true" sz="2236">
                <a:solidFill>
                  <a:srgbClr val="000000"/>
                </a:solidFill>
                <a:latin typeface="Inter Bold"/>
                <a:ea typeface="Inter Bold"/>
                <a:cs typeface="Inter Bold"/>
                <a:sym typeface="Inter Bold"/>
              </a:rPr>
              <a:t>While the initial arrival-to-triage time is relatively efficient at approximately 17 minutes, it is overshadowed by a massive secondary bottleneck—an average Door-to-Doc wait of over 146 minutes.</a:t>
            </a:r>
          </a:p>
          <a:p>
            <a:pPr algn="l" marL="0" indent="0" lvl="0">
              <a:lnSpc>
                <a:spcPts val="3130"/>
              </a:lnSpc>
              <a:spcBef>
                <a:spcPct val="0"/>
              </a:spcBef>
            </a:pPr>
          </a:p>
        </p:txBody>
      </p:sp>
      <p:sp>
        <p:nvSpPr>
          <p:cNvPr name="TextBox 24" id="24"/>
          <p:cNvSpPr txBox="true"/>
          <p:nvPr/>
        </p:nvSpPr>
        <p:spPr>
          <a:xfrm rot="0">
            <a:off x="12697530" y="5028751"/>
            <a:ext cx="5142437" cy="3264665"/>
          </a:xfrm>
          <a:prstGeom prst="rect">
            <a:avLst/>
          </a:prstGeom>
        </p:spPr>
        <p:txBody>
          <a:bodyPr anchor="t" rtlCol="false" tIns="0" lIns="0" bIns="0" rIns="0">
            <a:spAutoFit/>
          </a:bodyPr>
          <a:lstStyle/>
          <a:p>
            <a:pPr algn="l" marL="0" indent="0" lvl="0">
              <a:lnSpc>
                <a:spcPts val="3282"/>
              </a:lnSpc>
              <a:spcBef>
                <a:spcPct val="0"/>
              </a:spcBef>
            </a:pPr>
            <a:r>
              <a:rPr lang="en-US" b="true" sz="2344">
                <a:solidFill>
                  <a:srgbClr val="000000"/>
                </a:solidFill>
                <a:latin typeface="Inter Bold"/>
                <a:ea typeface="Inter Bold"/>
                <a:cs typeface="Inter Bold"/>
                <a:sym typeface="Inter Bold"/>
              </a:rPr>
              <a:t>The parity in raw departure numbers between High Acuity (530) and Low Acuity (527) patients confirms that systemic bottlenecks are impacting life-threatening cases just as heavily as minor ones.</a:t>
            </a:r>
          </a:p>
          <a:p>
            <a:pPr algn="l" marL="0" indent="0" lvl="0">
              <a:lnSpc>
                <a:spcPts val="3282"/>
              </a:lnSpc>
              <a:spcBef>
                <a:spcPct val="0"/>
              </a:spcBef>
            </a:pPr>
          </a:p>
        </p:txBody>
      </p:sp>
      <p:sp>
        <p:nvSpPr>
          <p:cNvPr name="TextBox 25" id="25"/>
          <p:cNvSpPr txBox="true"/>
          <p:nvPr/>
        </p:nvSpPr>
        <p:spPr>
          <a:xfrm rot="0">
            <a:off x="6714386" y="5015488"/>
            <a:ext cx="5142437" cy="3264665"/>
          </a:xfrm>
          <a:prstGeom prst="rect">
            <a:avLst/>
          </a:prstGeom>
        </p:spPr>
        <p:txBody>
          <a:bodyPr anchor="t" rtlCol="false" tIns="0" lIns="0" bIns="0" rIns="0">
            <a:spAutoFit/>
          </a:bodyPr>
          <a:lstStyle/>
          <a:p>
            <a:pPr algn="l">
              <a:lnSpc>
                <a:spcPts val="3282"/>
              </a:lnSpc>
            </a:pPr>
            <a:r>
              <a:rPr lang="en-US" sz="2344" b="true">
                <a:solidFill>
                  <a:srgbClr val="000000"/>
                </a:solidFill>
                <a:latin typeface="Inter Bold"/>
                <a:ea typeface="Inter Bold"/>
                <a:cs typeface="Inter Bold"/>
                <a:sym typeface="Inter Bold"/>
              </a:rPr>
              <a:t>This prolonged wait for a physician is the primary driver of a 12%+ LWBS rate, where high-acuity patients (ESI 1) are leaving at a staggering 16.02% rate—surpassing even the lowest-urgency cases.</a:t>
            </a:r>
          </a:p>
          <a:p>
            <a:pPr algn="l" marL="0" indent="0" lvl="0">
              <a:lnSpc>
                <a:spcPts val="3282"/>
              </a:lnSpc>
              <a:spcBef>
                <a:spcPct val="0"/>
              </a:spcBef>
            </a:pPr>
          </a:p>
        </p:txBody>
      </p:sp>
      <p:sp>
        <p:nvSpPr>
          <p:cNvPr name="Freeform 26" id="26"/>
          <p:cNvSpPr/>
          <p:nvPr/>
        </p:nvSpPr>
        <p:spPr>
          <a:xfrm flipH="false" flipV="false" rot="-5400000">
            <a:off x="3556200" y="5775636"/>
            <a:ext cx="5209725" cy="176601"/>
          </a:xfrm>
          <a:custGeom>
            <a:avLst/>
            <a:gdLst/>
            <a:ahLst/>
            <a:cxnLst/>
            <a:rect r="r" b="b" t="t" l="l"/>
            <a:pathLst>
              <a:path h="176601" w="5209725">
                <a:moveTo>
                  <a:pt x="0" y="0"/>
                </a:moveTo>
                <a:lnTo>
                  <a:pt x="5209726" y="0"/>
                </a:lnTo>
                <a:lnTo>
                  <a:pt x="5209726" y="176600"/>
                </a:lnTo>
                <a:lnTo>
                  <a:pt x="0" y="176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grpSp>
        <p:nvGrpSpPr>
          <p:cNvPr name="Group 2" id="2"/>
          <p:cNvGrpSpPr/>
          <p:nvPr/>
        </p:nvGrpSpPr>
        <p:grpSpPr>
          <a:xfrm rot="0">
            <a:off x="838611" y="2652848"/>
            <a:ext cx="6515371" cy="911104"/>
            <a:chOff x="0" y="0"/>
            <a:chExt cx="1774730" cy="248177"/>
          </a:xfrm>
        </p:grpSpPr>
        <p:sp>
          <p:nvSpPr>
            <p:cNvPr name="Freeform 3" id="3"/>
            <p:cNvSpPr/>
            <p:nvPr/>
          </p:nvSpPr>
          <p:spPr>
            <a:xfrm flipH="false" flipV="false" rot="0">
              <a:off x="0" y="0"/>
              <a:ext cx="1774730" cy="248177"/>
            </a:xfrm>
            <a:custGeom>
              <a:avLst/>
              <a:gdLst/>
              <a:ahLst/>
              <a:cxnLst/>
              <a:rect r="r" b="b" t="t" l="l"/>
              <a:pathLst>
                <a:path h="248177" w="1774730">
                  <a:moveTo>
                    <a:pt x="0" y="0"/>
                  </a:moveTo>
                  <a:lnTo>
                    <a:pt x="1774730" y="0"/>
                  </a:lnTo>
                  <a:lnTo>
                    <a:pt x="1774730" y="248177"/>
                  </a:lnTo>
                  <a:lnTo>
                    <a:pt x="0" y="248177"/>
                  </a:lnTo>
                  <a:close/>
                </a:path>
              </a:pathLst>
            </a:custGeom>
            <a:solidFill>
              <a:srgbClr val="BCA37F"/>
            </a:solidFill>
          </p:spPr>
        </p:sp>
        <p:sp>
          <p:nvSpPr>
            <p:cNvPr name="TextBox 4" id="4"/>
            <p:cNvSpPr txBox="true"/>
            <p:nvPr/>
          </p:nvSpPr>
          <p:spPr>
            <a:xfrm>
              <a:off x="0" y="-47625"/>
              <a:ext cx="1774730" cy="295802"/>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0">
            <a:off x="9494329" y="2652848"/>
            <a:ext cx="6012779" cy="984751"/>
            <a:chOff x="0" y="0"/>
            <a:chExt cx="1637828" cy="268237"/>
          </a:xfrm>
        </p:grpSpPr>
        <p:sp>
          <p:nvSpPr>
            <p:cNvPr name="Freeform 6" id="6"/>
            <p:cNvSpPr/>
            <p:nvPr/>
          </p:nvSpPr>
          <p:spPr>
            <a:xfrm flipH="false" flipV="false" rot="0">
              <a:off x="0" y="0"/>
              <a:ext cx="1637828" cy="268238"/>
            </a:xfrm>
            <a:custGeom>
              <a:avLst/>
              <a:gdLst/>
              <a:ahLst/>
              <a:cxnLst/>
              <a:rect r="r" b="b" t="t" l="l"/>
              <a:pathLst>
                <a:path h="268238" w="1637828">
                  <a:moveTo>
                    <a:pt x="0" y="0"/>
                  </a:moveTo>
                  <a:lnTo>
                    <a:pt x="1637828" y="0"/>
                  </a:lnTo>
                  <a:lnTo>
                    <a:pt x="1637828" y="268238"/>
                  </a:lnTo>
                  <a:lnTo>
                    <a:pt x="0" y="268238"/>
                  </a:lnTo>
                  <a:close/>
                </a:path>
              </a:pathLst>
            </a:custGeom>
            <a:solidFill>
              <a:srgbClr val="BCA37F"/>
            </a:solidFill>
          </p:spPr>
        </p:sp>
        <p:sp>
          <p:nvSpPr>
            <p:cNvPr name="TextBox 7" id="7"/>
            <p:cNvSpPr txBox="true"/>
            <p:nvPr/>
          </p:nvSpPr>
          <p:spPr>
            <a:xfrm>
              <a:off x="0" y="-47625"/>
              <a:ext cx="1637828" cy="315862"/>
            </a:xfrm>
            <a:prstGeom prst="rect">
              <a:avLst/>
            </a:prstGeom>
          </p:spPr>
          <p:txBody>
            <a:bodyPr anchor="ctr" rtlCol="false" tIns="50800" lIns="50800" bIns="50800" rIns="50800"/>
            <a:lstStyle/>
            <a:p>
              <a:pPr algn="ctr">
                <a:lnSpc>
                  <a:spcPts val="3012"/>
                </a:lnSpc>
              </a:pPr>
            </a:p>
          </p:txBody>
        </p:sp>
      </p:grpSp>
      <p:grpSp>
        <p:nvGrpSpPr>
          <p:cNvPr name="Group 8" id="8"/>
          <p:cNvGrpSpPr/>
          <p:nvPr/>
        </p:nvGrpSpPr>
        <p:grpSpPr>
          <a:xfrm rot="0">
            <a:off x="16664068" y="957614"/>
            <a:ext cx="1146571" cy="114657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1F20"/>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11" id="11"/>
          <p:cNvSpPr/>
          <p:nvPr/>
        </p:nvSpPr>
        <p:spPr>
          <a:xfrm flipH="false" flipV="true" rot="0">
            <a:off x="15205595" y="-2104185"/>
            <a:ext cx="2520989" cy="3962261"/>
          </a:xfrm>
          <a:custGeom>
            <a:avLst/>
            <a:gdLst/>
            <a:ahLst/>
            <a:cxnLst/>
            <a:rect r="r" b="b" t="t" l="l"/>
            <a:pathLst>
              <a:path h="3962261" w="2520989">
                <a:moveTo>
                  <a:pt x="0" y="3962261"/>
                </a:moveTo>
                <a:lnTo>
                  <a:pt x="2520988" y="3962261"/>
                </a:lnTo>
                <a:lnTo>
                  <a:pt x="2520988" y="0"/>
                </a:lnTo>
                <a:lnTo>
                  <a:pt x="0" y="0"/>
                </a:lnTo>
                <a:lnTo>
                  <a:pt x="0" y="396226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030297" y="2861241"/>
            <a:ext cx="6131999" cy="901836"/>
          </a:xfrm>
          <a:prstGeom prst="rect">
            <a:avLst/>
          </a:prstGeom>
        </p:spPr>
        <p:txBody>
          <a:bodyPr anchor="t" rtlCol="false" tIns="0" lIns="0" bIns="0" rIns="0">
            <a:spAutoFit/>
          </a:bodyPr>
          <a:lstStyle/>
          <a:p>
            <a:pPr algn="l">
              <a:lnSpc>
                <a:spcPts val="3679"/>
              </a:lnSpc>
            </a:pPr>
            <a:r>
              <a:rPr lang="en-US" sz="2628" b="true">
                <a:solidFill>
                  <a:srgbClr val="000000"/>
                </a:solidFill>
                <a:latin typeface="Inter Bold"/>
                <a:ea typeface="Inter Bold"/>
                <a:cs typeface="Inter Bold"/>
                <a:sym typeface="Inter Bold"/>
              </a:rPr>
              <a:t>Predictable Capacity Tipping Points</a:t>
            </a:r>
          </a:p>
          <a:p>
            <a:pPr algn="l" marL="0" indent="0" lvl="0">
              <a:lnSpc>
                <a:spcPts val="3679"/>
              </a:lnSpc>
              <a:spcBef>
                <a:spcPct val="0"/>
              </a:spcBef>
            </a:pPr>
          </a:p>
        </p:txBody>
      </p:sp>
      <p:sp>
        <p:nvSpPr>
          <p:cNvPr name="TextBox 13" id="13"/>
          <p:cNvSpPr txBox="true"/>
          <p:nvPr/>
        </p:nvSpPr>
        <p:spPr>
          <a:xfrm rot="0">
            <a:off x="9859235" y="2869618"/>
            <a:ext cx="5824475" cy="901836"/>
          </a:xfrm>
          <a:prstGeom prst="rect">
            <a:avLst/>
          </a:prstGeom>
        </p:spPr>
        <p:txBody>
          <a:bodyPr anchor="t" rtlCol="false" tIns="0" lIns="0" bIns="0" rIns="0">
            <a:spAutoFit/>
          </a:bodyPr>
          <a:lstStyle/>
          <a:p>
            <a:pPr algn="l">
              <a:lnSpc>
                <a:spcPts val="3679"/>
              </a:lnSpc>
            </a:pPr>
            <a:r>
              <a:rPr lang="en-US" sz="2628" b="true">
                <a:solidFill>
                  <a:srgbClr val="000000"/>
                </a:solidFill>
                <a:latin typeface="Inter Bold"/>
                <a:ea typeface="Inter Bold"/>
                <a:cs typeface="Inter Bold"/>
                <a:sym typeface="Inter Bold"/>
              </a:rPr>
              <a:t>The Financial Toll of Inefficiency</a:t>
            </a:r>
          </a:p>
          <a:p>
            <a:pPr algn="l" marL="0" indent="0" lvl="0">
              <a:lnSpc>
                <a:spcPts val="3679"/>
              </a:lnSpc>
              <a:spcBef>
                <a:spcPct val="0"/>
              </a:spcBef>
            </a:pPr>
          </a:p>
        </p:txBody>
      </p:sp>
      <p:sp>
        <p:nvSpPr>
          <p:cNvPr name="TextBox 14" id="14"/>
          <p:cNvSpPr txBox="true"/>
          <p:nvPr/>
        </p:nvSpPr>
        <p:spPr>
          <a:xfrm rot="0">
            <a:off x="1030297" y="4043074"/>
            <a:ext cx="6323685" cy="2846390"/>
          </a:xfrm>
          <a:prstGeom prst="rect">
            <a:avLst/>
          </a:prstGeom>
        </p:spPr>
        <p:txBody>
          <a:bodyPr anchor="t" rtlCol="false" tIns="0" lIns="0" bIns="0" rIns="0">
            <a:spAutoFit/>
          </a:bodyPr>
          <a:lstStyle/>
          <a:p>
            <a:pPr algn="l">
              <a:lnSpc>
                <a:spcPts val="3762"/>
              </a:lnSpc>
            </a:pPr>
            <a:r>
              <a:rPr lang="en-US" sz="2687" b="true">
                <a:solidFill>
                  <a:srgbClr val="000000"/>
                </a:solidFill>
                <a:latin typeface="Inter Bold"/>
                <a:ea typeface="Inter Bold"/>
                <a:cs typeface="Inter Bold"/>
                <a:sym typeface="Inter Bold"/>
              </a:rPr>
              <a:t>Demand is not random; it peaks predictably on Wednesdays and Weekends, with a seasonal surge in High Acuity bed occupancy reaching 44% during the year-end winter months.</a:t>
            </a:r>
          </a:p>
        </p:txBody>
      </p:sp>
      <p:sp>
        <p:nvSpPr>
          <p:cNvPr name="TextBox 15" id="15"/>
          <p:cNvSpPr txBox="true"/>
          <p:nvPr/>
        </p:nvSpPr>
        <p:spPr>
          <a:xfrm rot="0">
            <a:off x="9494329" y="4041926"/>
            <a:ext cx="7013698" cy="3134217"/>
          </a:xfrm>
          <a:prstGeom prst="rect">
            <a:avLst/>
          </a:prstGeom>
        </p:spPr>
        <p:txBody>
          <a:bodyPr anchor="t" rtlCol="false" tIns="0" lIns="0" bIns="0" rIns="0">
            <a:spAutoFit/>
          </a:bodyPr>
          <a:lstStyle/>
          <a:p>
            <a:pPr algn="l" marL="0" indent="0" lvl="0">
              <a:lnSpc>
                <a:spcPts val="4172"/>
              </a:lnSpc>
              <a:spcBef>
                <a:spcPct val="0"/>
              </a:spcBef>
            </a:pPr>
            <a:r>
              <a:rPr lang="en-US" b="true" sz="2980">
                <a:solidFill>
                  <a:srgbClr val="000000"/>
                </a:solidFill>
                <a:latin typeface="Inter Bold"/>
                <a:ea typeface="Inter Bold"/>
                <a:cs typeface="Inter Bold"/>
                <a:sym typeface="Inter Bold"/>
              </a:rPr>
              <a:t>This operational attrition is not just a safety risk; it has a direct financial cost, resulting in $345K in lost revenue and representing a 7.35% lost revenue ratio.</a:t>
            </a:r>
          </a:p>
          <a:p>
            <a:pPr algn="l" marL="0" indent="0" lvl="0">
              <a:lnSpc>
                <a:spcPts val="4172"/>
              </a:lnSpc>
              <a:spcBef>
                <a:spcPct val="0"/>
              </a:spcBef>
            </a:pPr>
          </a:p>
        </p:txBody>
      </p:sp>
      <p:sp>
        <p:nvSpPr>
          <p:cNvPr name="Freeform 16" id="16"/>
          <p:cNvSpPr/>
          <p:nvPr/>
        </p:nvSpPr>
        <p:spPr>
          <a:xfrm flipH="false" flipV="false" rot="-5400000">
            <a:off x="5818494" y="4620748"/>
            <a:ext cx="5209725" cy="176601"/>
          </a:xfrm>
          <a:custGeom>
            <a:avLst/>
            <a:gdLst/>
            <a:ahLst/>
            <a:cxnLst/>
            <a:rect r="r" b="b" t="t" l="l"/>
            <a:pathLst>
              <a:path h="176601" w="5209725">
                <a:moveTo>
                  <a:pt x="0" y="0"/>
                </a:moveTo>
                <a:lnTo>
                  <a:pt x="5209726" y="0"/>
                </a:lnTo>
                <a:lnTo>
                  <a:pt x="5209726" y="176601"/>
                </a:lnTo>
                <a:lnTo>
                  <a:pt x="0" y="1766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grpSp>
        <p:nvGrpSpPr>
          <p:cNvPr name="Group 2" id="2"/>
          <p:cNvGrpSpPr/>
          <p:nvPr/>
        </p:nvGrpSpPr>
        <p:grpSpPr>
          <a:xfrm rot="0">
            <a:off x="14506221" y="9384922"/>
            <a:ext cx="4029273" cy="402927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B2126"/>
            </a:solidFill>
          </p:spPr>
        </p:sp>
        <p:sp>
          <p:nvSpPr>
            <p:cNvPr name="TextBox 4" id="4"/>
            <p:cNvSpPr txBox="true"/>
            <p:nvPr/>
          </p:nvSpPr>
          <p:spPr>
            <a:xfrm>
              <a:off x="76200" y="57150"/>
              <a:ext cx="660400" cy="679450"/>
            </a:xfrm>
            <a:prstGeom prst="rect">
              <a:avLst/>
            </a:prstGeom>
          </p:spPr>
          <p:txBody>
            <a:bodyPr anchor="ctr" rtlCol="false" tIns="43160" lIns="43160" bIns="43160" rIns="43160"/>
            <a:lstStyle/>
            <a:p>
              <a:pPr algn="ctr">
                <a:lnSpc>
                  <a:spcPts val="1665"/>
                </a:lnSpc>
                <a:spcBef>
                  <a:spcPct val="0"/>
                </a:spcBef>
              </a:pPr>
            </a:p>
          </p:txBody>
        </p:sp>
      </p:grpSp>
      <p:sp>
        <p:nvSpPr>
          <p:cNvPr name="Freeform 5" id="5"/>
          <p:cNvSpPr/>
          <p:nvPr/>
        </p:nvSpPr>
        <p:spPr>
          <a:xfrm flipH="false" flipV="false" rot="0">
            <a:off x="16697018" y="8639908"/>
            <a:ext cx="2361910" cy="2399908"/>
          </a:xfrm>
          <a:custGeom>
            <a:avLst/>
            <a:gdLst/>
            <a:ahLst/>
            <a:cxnLst/>
            <a:rect r="r" b="b" t="t" l="l"/>
            <a:pathLst>
              <a:path h="2399908" w="2361910">
                <a:moveTo>
                  <a:pt x="0" y="0"/>
                </a:moveTo>
                <a:lnTo>
                  <a:pt x="2361909" y="0"/>
                </a:lnTo>
                <a:lnTo>
                  <a:pt x="2361909" y="2399909"/>
                </a:lnTo>
                <a:lnTo>
                  <a:pt x="0" y="23999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030785" y="7755404"/>
            <a:ext cx="934873" cy="370672"/>
          </a:xfrm>
          <a:custGeom>
            <a:avLst/>
            <a:gdLst/>
            <a:ahLst/>
            <a:cxnLst/>
            <a:rect r="r" b="b" t="t" l="l"/>
            <a:pathLst>
              <a:path h="370672" w="934873">
                <a:moveTo>
                  <a:pt x="0" y="0"/>
                </a:moveTo>
                <a:lnTo>
                  <a:pt x="934873" y="0"/>
                </a:lnTo>
                <a:lnTo>
                  <a:pt x="934873" y="370673"/>
                </a:lnTo>
                <a:lnTo>
                  <a:pt x="0" y="370673"/>
                </a:lnTo>
                <a:lnTo>
                  <a:pt x="0" y="0"/>
                </a:lnTo>
                <a:close/>
              </a:path>
            </a:pathLst>
          </a:custGeom>
          <a:blipFill>
            <a:blip r:embed="rId4"/>
            <a:stretch>
              <a:fillRect l="0" t="-8323" r="0" b="-8323"/>
            </a:stretch>
          </a:blipFill>
        </p:spPr>
      </p:sp>
      <p:sp>
        <p:nvSpPr>
          <p:cNvPr name="TextBox 7" id="7"/>
          <p:cNvSpPr txBox="true"/>
          <p:nvPr/>
        </p:nvSpPr>
        <p:spPr>
          <a:xfrm rot="0">
            <a:off x="846056" y="861484"/>
            <a:ext cx="9634020" cy="1175149"/>
          </a:xfrm>
          <a:prstGeom prst="rect">
            <a:avLst/>
          </a:prstGeom>
        </p:spPr>
        <p:txBody>
          <a:bodyPr anchor="t" rtlCol="false" tIns="0" lIns="0" bIns="0" rIns="0">
            <a:spAutoFit/>
          </a:bodyPr>
          <a:lstStyle/>
          <a:p>
            <a:pPr algn="ctr">
              <a:lnSpc>
                <a:spcPts val="9028"/>
              </a:lnSpc>
            </a:pPr>
            <a:r>
              <a:rPr lang="en-US" b="true" sz="8359" spc="-484">
                <a:solidFill>
                  <a:srgbClr val="8B2126"/>
                </a:solidFill>
                <a:latin typeface="Cerebri Bold"/>
                <a:ea typeface="Cerebri Bold"/>
                <a:cs typeface="Cerebri Bold"/>
                <a:sym typeface="Cerebri Bold"/>
              </a:rPr>
              <a:t>Recommendations</a:t>
            </a:r>
          </a:p>
        </p:txBody>
      </p:sp>
      <p:sp>
        <p:nvSpPr>
          <p:cNvPr name="TextBox 8" id="8"/>
          <p:cNvSpPr txBox="true"/>
          <p:nvPr/>
        </p:nvSpPr>
        <p:spPr>
          <a:xfrm rot="0">
            <a:off x="3138569" y="2884311"/>
            <a:ext cx="13558448" cy="5643409"/>
          </a:xfrm>
          <a:prstGeom prst="rect">
            <a:avLst/>
          </a:prstGeom>
        </p:spPr>
        <p:txBody>
          <a:bodyPr anchor="t" rtlCol="false" tIns="0" lIns="0" bIns="0" rIns="0">
            <a:spAutoFit/>
          </a:bodyPr>
          <a:lstStyle/>
          <a:p>
            <a:pPr algn="l">
              <a:lnSpc>
                <a:spcPts val="2947"/>
              </a:lnSpc>
            </a:pPr>
            <a:r>
              <a:rPr lang="en-US" sz="2377" b="true">
                <a:solidFill>
                  <a:srgbClr val="000000"/>
                </a:solidFill>
                <a:latin typeface="Cerebri Bold"/>
                <a:ea typeface="Cerebri Bold"/>
                <a:cs typeface="Cerebri Bold"/>
                <a:sym typeface="Cerebri Bold"/>
              </a:rPr>
              <a:t>Implement "Provider-in-Triage" (PIT): To combat the 146-minute Door-to-Doc delay, place a physician or advanced practitioner in triage during peak hours to initiate orders and clinical intervention immediately.</a:t>
            </a:r>
          </a:p>
          <a:p>
            <a:pPr algn="l">
              <a:lnSpc>
                <a:spcPts val="2947"/>
              </a:lnSpc>
            </a:pPr>
          </a:p>
          <a:p>
            <a:pPr algn="l">
              <a:lnSpc>
                <a:spcPts val="2947"/>
              </a:lnSpc>
            </a:pPr>
            <a:r>
              <a:rPr lang="en-US" sz="2377" b="true">
                <a:solidFill>
                  <a:srgbClr val="000000"/>
                </a:solidFill>
                <a:latin typeface="Cerebri Bold"/>
                <a:ea typeface="Cerebri Bold"/>
                <a:cs typeface="Cerebri Bold"/>
                <a:sym typeface="Cerebri Bold"/>
              </a:rPr>
              <a:t>High-Acuity Throughput Protocol: Develop a dedicated "Fast-Track" for ESI 1 and 2 patients to ensure that the most critical 30% of your arrival volume is prioritized, specifically targeting the reduction of the 16.02% ESI 1 LWBS rate.</a:t>
            </a:r>
          </a:p>
          <a:p>
            <a:pPr algn="l">
              <a:lnSpc>
                <a:spcPts val="2947"/>
              </a:lnSpc>
            </a:pPr>
          </a:p>
          <a:p>
            <a:pPr algn="l">
              <a:lnSpc>
                <a:spcPts val="2947"/>
              </a:lnSpc>
            </a:pPr>
            <a:r>
              <a:rPr lang="en-US" sz="2377" b="true">
                <a:solidFill>
                  <a:srgbClr val="000000"/>
                </a:solidFill>
                <a:latin typeface="Cerebri Bold"/>
                <a:ea typeface="Cerebri Bold"/>
                <a:cs typeface="Cerebri Bold"/>
                <a:sym typeface="Cerebri Bold"/>
              </a:rPr>
              <a:t>Seasonal Bed Surge Management: Establish a flexible bed management plan for November and December to accommodate the documented 44% peak in High Acuity occupancy, preventing the "capacity-related leakage" of critical patients.</a:t>
            </a:r>
          </a:p>
          <a:p>
            <a:pPr algn="l">
              <a:lnSpc>
                <a:spcPts val="2947"/>
              </a:lnSpc>
            </a:pPr>
          </a:p>
          <a:p>
            <a:pPr algn="l">
              <a:lnSpc>
                <a:spcPts val="2947"/>
              </a:lnSpc>
            </a:pPr>
            <a:r>
              <a:rPr lang="en-US" sz="2377" b="true">
                <a:solidFill>
                  <a:srgbClr val="000000"/>
                </a:solidFill>
                <a:latin typeface="Cerebri Bold"/>
                <a:ea typeface="Cerebri Bold"/>
                <a:cs typeface="Cerebri Bold"/>
                <a:sym typeface="Cerebri Bold"/>
              </a:rPr>
              <a:t>Revenue Recovery Target: Focus on capturing even 50% of current LWBS volume to recover approximately $172K in annual revenue, making operational speed a primary KPI for the hospital’s financial health.</a:t>
            </a:r>
          </a:p>
          <a:p>
            <a:pPr algn="l" marL="187458" indent="-93729" lvl="1">
              <a:lnSpc>
                <a:spcPts val="1076"/>
              </a:lnSpc>
              <a:buFont typeface="Arial"/>
              <a:buChar char="•"/>
            </a:pPr>
          </a:p>
        </p:txBody>
      </p:sp>
      <p:sp>
        <p:nvSpPr>
          <p:cNvPr name="Freeform 9" id="9"/>
          <p:cNvSpPr/>
          <p:nvPr/>
        </p:nvSpPr>
        <p:spPr>
          <a:xfrm flipH="false" flipV="false" rot="0">
            <a:off x="2030785" y="5894560"/>
            <a:ext cx="934873" cy="370672"/>
          </a:xfrm>
          <a:custGeom>
            <a:avLst/>
            <a:gdLst/>
            <a:ahLst/>
            <a:cxnLst/>
            <a:rect r="r" b="b" t="t" l="l"/>
            <a:pathLst>
              <a:path h="370672" w="934873">
                <a:moveTo>
                  <a:pt x="0" y="0"/>
                </a:moveTo>
                <a:lnTo>
                  <a:pt x="934873" y="0"/>
                </a:lnTo>
                <a:lnTo>
                  <a:pt x="934873" y="370672"/>
                </a:lnTo>
                <a:lnTo>
                  <a:pt x="0" y="370672"/>
                </a:lnTo>
                <a:lnTo>
                  <a:pt x="0" y="0"/>
                </a:lnTo>
                <a:close/>
              </a:path>
            </a:pathLst>
          </a:custGeom>
          <a:blipFill>
            <a:blip r:embed="rId4"/>
            <a:stretch>
              <a:fillRect l="0" t="-8323" r="0" b="-8323"/>
            </a:stretch>
          </a:blipFill>
        </p:spPr>
      </p:sp>
      <p:sp>
        <p:nvSpPr>
          <p:cNvPr name="Freeform 10" id="10"/>
          <p:cNvSpPr/>
          <p:nvPr/>
        </p:nvSpPr>
        <p:spPr>
          <a:xfrm flipH="false" flipV="false" rot="0">
            <a:off x="2030785" y="2893836"/>
            <a:ext cx="934873" cy="370672"/>
          </a:xfrm>
          <a:custGeom>
            <a:avLst/>
            <a:gdLst/>
            <a:ahLst/>
            <a:cxnLst/>
            <a:rect r="r" b="b" t="t" l="l"/>
            <a:pathLst>
              <a:path h="370672" w="934873">
                <a:moveTo>
                  <a:pt x="0" y="0"/>
                </a:moveTo>
                <a:lnTo>
                  <a:pt x="934873" y="0"/>
                </a:lnTo>
                <a:lnTo>
                  <a:pt x="934873" y="370672"/>
                </a:lnTo>
                <a:lnTo>
                  <a:pt x="0" y="370672"/>
                </a:lnTo>
                <a:lnTo>
                  <a:pt x="0" y="0"/>
                </a:lnTo>
                <a:close/>
              </a:path>
            </a:pathLst>
          </a:custGeom>
          <a:blipFill>
            <a:blip r:embed="rId4"/>
            <a:stretch>
              <a:fillRect l="0" t="-8323" r="0" b="-8323"/>
            </a:stretch>
          </a:blipFill>
        </p:spPr>
      </p:sp>
      <p:sp>
        <p:nvSpPr>
          <p:cNvPr name="Freeform 11" id="11"/>
          <p:cNvSpPr/>
          <p:nvPr/>
        </p:nvSpPr>
        <p:spPr>
          <a:xfrm flipH="false" flipV="false" rot="0">
            <a:off x="2030785" y="4544329"/>
            <a:ext cx="934873" cy="370672"/>
          </a:xfrm>
          <a:custGeom>
            <a:avLst/>
            <a:gdLst/>
            <a:ahLst/>
            <a:cxnLst/>
            <a:rect r="r" b="b" t="t" l="l"/>
            <a:pathLst>
              <a:path h="370672" w="934873">
                <a:moveTo>
                  <a:pt x="0" y="0"/>
                </a:moveTo>
                <a:lnTo>
                  <a:pt x="934873" y="0"/>
                </a:lnTo>
                <a:lnTo>
                  <a:pt x="934873" y="370672"/>
                </a:lnTo>
                <a:lnTo>
                  <a:pt x="0" y="370672"/>
                </a:lnTo>
                <a:lnTo>
                  <a:pt x="0" y="0"/>
                </a:lnTo>
                <a:close/>
              </a:path>
            </a:pathLst>
          </a:custGeom>
          <a:blipFill>
            <a:blip r:embed="rId4"/>
            <a:stretch>
              <a:fillRect l="0" t="-8323" r="0" b="-8323"/>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sp>
        <p:nvSpPr>
          <p:cNvPr name="AutoShape 2" id="2"/>
          <p:cNvSpPr/>
          <p:nvPr/>
        </p:nvSpPr>
        <p:spPr>
          <a:xfrm>
            <a:off x="4480201" y="2219958"/>
            <a:ext cx="8974393" cy="19050"/>
          </a:xfrm>
          <a:prstGeom prst="line">
            <a:avLst/>
          </a:prstGeom>
          <a:ln cap="flat" w="104775">
            <a:solidFill>
              <a:srgbClr val="E1C4B4"/>
            </a:solidFill>
            <a:prstDash val="solid"/>
            <a:headEnd type="none" len="sm" w="sm"/>
            <a:tailEnd type="none" len="sm" w="sm"/>
          </a:ln>
        </p:spPr>
      </p:sp>
      <p:grpSp>
        <p:nvGrpSpPr>
          <p:cNvPr name="Group 3" id="3"/>
          <p:cNvGrpSpPr/>
          <p:nvPr/>
        </p:nvGrpSpPr>
        <p:grpSpPr>
          <a:xfrm rot="0">
            <a:off x="-3554091" y="5704209"/>
            <a:ext cx="4582791" cy="458279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B2126"/>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7261347" y="0"/>
            <a:ext cx="4582791" cy="458279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B2126"/>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5400000">
            <a:off x="-1196826" y="7464229"/>
            <a:ext cx="1941905" cy="1062751"/>
          </a:xfrm>
          <a:custGeom>
            <a:avLst/>
            <a:gdLst/>
            <a:ahLst/>
            <a:cxnLst/>
            <a:rect r="r" b="b" t="t" l="l"/>
            <a:pathLst>
              <a:path h="1062751" w="1941905">
                <a:moveTo>
                  <a:pt x="0" y="0"/>
                </a:moveTo>
                <a:lnTo>
                  <a:pt x="1941904" y="0"/>
                </a:lnTo>
                <a:lnTo>
                  <a:pt x="1941904" y="1062751"/>
                </a:lnTo>
                <a:lnTo>
                  <a:pt x="0" y="10627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5400000">
            <a:off x="17570884" y="1760020"/>
            <a:ext cx="1941905" cy="1062751"/>
          </a:xfrm>
          <a:custGeom>
            <a:avLst/>
            <a:gdLst/>
            <a:ahLst/>
            <a:cxnLst/>
            <a:rect r="r" b="b" t="t" l="l"/>
            <a:pathLst>
              <a:path h="1062751" w="1941905">
                <a:moveTo>
                  <a:pt x="0" y="0"/>
                </a:moveTo>
                <a:lnTo>
                  <a:pt x="1941904" y="0"/>
                </a:lnTo>
                <a:lnTo>
                  <a:pt x="1941904" y="1062751"/>
                </a:lnTo>
                <a:lnTo>
                  <a:pt x="0" y="10627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3595893" y="572455"/>
            <a:ext cx="10743009" cy="1343576"/>
          </a:xfrm>
          <a:prstGeom prst="rect">
            <a:avLst/>
          </a:prstGeom>
        </p:spPr>
        <p:txBody>
          <a:bodyPr anchor="t" rtlCol="false" tIns="0" lIns="0" bIns="0" rIns="0">
            <a:spAutoFit/>
          </a:bodyPr>
          <a:lstStyle/>
          <a:p>
            <a:pPr algn="ctr">
              <a:lnSpc>
                <a:spcPts val="10994"/>
              </a:lnSpc>
            </a:pPr>
            <a:r>
              <a:rPr lang="en-US" sz="7853">
                <a:solidFill>
                  <a:srgbClr val="000000"/>
                </a:solidFill>
                <a:latin typeface="Gotham"/>
                <a:ea typeface="Gotham"/>
                <a:cs typeface="Gotham"/>
                <a:sym typeface="Gotham"/>
              </a:rPr>
              <a:t>CONCLUSION</a:t>
            </a:r>
          </a:p>
        </p:txBody>
      </p:sp>
      <p:sp>
        <p:nvSpPr>
          <p:cNvPr name="TextBox 12" id="12"/>
          <p:cNvSpPr txBox="true"/>
          <p:nvPr/>
        </p:nvSpPr>
        <p:spPr>
          <a:xfrm rot="0">
            <a:off x="3308206" y="3033906"/>
            <a:ext cx="11671588" cy="1976755"/>
          </a:xfrm>
          <a:prstGeom prst="rect">
            <a:avLst/>
          </a:prstGeom>
        </p:spPr>
        <p:txBody>
          <a:bodyPr anchor="t" rtlCol="false" tIns="0" lIns="0" bIns="0" rIns="0">
            <a:spAutoFit/>
          </a:bodyPr>
          <a:lstStyle/>
          <a:p>
            <a:pPr algn="ctr">
              <a:lnSpc>
                <a:spcPts val="3919"/>
              </a:lnSpc>
            </a:pPr>
            <a:r>
              <a:rPr lang="en-US" sz="2799">
                <a:solidFill>
                  <a:srgbClr val="000000"/>
                </a:solidFill>
                <a:latin typeface="Gotham"/>
                <a:ea typeface="Gotham"/>
                <a:cs typeface="Gotham"/>
                <a:sym typeface="Gotham"/>
              </a:rPr>
              <a:t>Th</a:t>
            </a:r>
            <a:r>
              <a:rPr lang="en-US" sz="2799">
                <a:solidFill>
                  <a:srgbClr val="000000"/>
                </a:solidFill>
                <a:latin typeface="Gotham"/>
                <a:ea typeface="Gotham"/>
                <a:cs typeface="Gotham"/>
                <a:sym typeface="Gotham"/>
              </a:rPr>
              <a:t>e Emergency Department is currently at an operational crossroads where prolonged physician wait times are directly undermining both patient safety and financial stability.</a:t>
            </a:r>
          </a:p>
          <a:p>
            <a:pPr algn="ctr">
              <a:lnSpc>
                <a:spcPts val="3919"/>
              </a:lnSpc>
            </a:pPr>
          </a:p>
        </p:txBody>
      </p:sp>
      <p:sp>
        <p:nvSpPr>
          <p:cNvPr name="TextBox 13" id="13"/>
          <p:cNvSpPr txBox="true"/>
          <p:nvPr/>
        </p:nvSpPr>
        <p:spPr>
          <a:xfrm rot="0">
            <a:off x="3131604" y="5300345"/>
            <a:ext cx="11671588" cy="3957955"/>
          </a:xfrm>
          <a:prstGeom prst="rect">
            <a:avLst/>
          </a:prstGeom>
        </p:spPr>
        <p:txBody>
          <a:bodyPr anchor="t" rtlCol="false" tIns="0" lIns="0" bIns="0" rIns="0">
            <a:spAutoFit/>
          </a:bodyPr>
          <a:lstStyle/>
          <a:p>
            <a:pPr algn="ctr">
              <a:lnSpc>
                <a:spcPts val="3919"/>
              </a:lnSpc>
            </a:pPr>
            <a:r>
              <a:rPr lang="en-US" sz="2799">
                <a:solidFill>
                  <a:srgbClr val="000000"/>
                </a:solidFill>
                <a:latin typeface="Gotham"/>
                <a:ea typeface="Gotham"/>
                <a:cs typeface="Gotham"/>
                <a:sym typeface="Gotham"/>
              </a:rPr>
              <a:t>Pati</a:t>
            </a:r>
            <a:r>
              <a:rPr lang="en-US" sz="2799">
                <a:solidFill>
                  <a:srgbClr val="000000"/>
                </a:solidFill>
                <a:latin typeface="Gotham"/>
                <a:ea typeface="Gotham"/>
                <a:cs typeface="Gotham"/>
                <a:sym typeface="Gotham"/>
              </a:rPr>
              <a:t>ent departures follow predictable weekly and seasonal patterns, thus, the path forward requires transitioning from static staffing to a dynamic, demand-responsive model. By prioritizing high-acuity throughput and closing the "waiting gap," the facility will not only mitigate significant clinical and liability risks but also capture substantial revenue that is currently being lost to system inefficiency.</a:t>
            </a:r>
          </a:p>
          <a:p>
            <a:pPr algn="ctr">
              <a:lnSpc>
                <a:spcPts val="3919"/>
              </a:lnSpc>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FF8EE"/>
        </a:solidFill>
      </p:bgPr>
    </p:bg>
    <p:spTree>
      <p:nvGrpSpPr>
        <p:cNvPr id="1" name=""/>
        <p:cNvGrpSpPr/>
        <p:nvPr/>
      </p:nvGrpSpPr>
      <p:grpSpPr>
        <a:xfrm>
          <a:off x="0" y="0"/>
          <a:ext cx="0" cy="0"/>
          <a:chOff x="0" y="0"/>
          <a:chExt cx="0" cy="0"/>
        </a:xfrm>
      </p:grpSpPr>
      <p:sp>
        <p:nvSpPr>
          <p:cNvPr name="AutoShape 2" id="2"/>
          <p:cNvSpPr/>
          <p:nvPr/>
        </p:nvSpPr>
        <p:spPr>
          <a:xfrm flipV="true">
            <a:off x="1038225" y="0"/>
            <a:ext cx="0" cy="5361510"/>
          </a:xfrm>
          <a:prstGeom prst="line">
            <a:avLst/>
          </a:prstGeom>
          <a:ln cap="flat" w="19050">
            <a:solidFill>
              <a:srgbClr val="2D2B2A"/>
            </a:solidFill>
            <a:prstDash val="solid"/>
            <a:headEnd type="none" len="sm" w="sm"/>
            <a:tailEnd type="none" len="sm" w="sm"/>
          </a:ln>
        </p:spPr>
      </p:sp>
      <p:sp>
        <p:nvSpPr>
          <p:cNvPr name="AutoShape 3" id="3"/>
          <p:cNvSpPr/>
          <p:nvPr/>
        </p:nvSpPr>
        <p:spPr>
          <a:xfrm>
            <a:off x="1038225" y="4086827"/>
            <a:ext cx="17565903" cy="0"/>
          </a:xfrm>
          <a:prstGeom prst="line">
            <a:avLst/>
          </a:prstGeom>
          <a:ln cap="flat" w="19050">
            <a:solidFill>
              <a:srgbClr val="2D2B2A"/>
            </a:solidFill>
            <a:prstDash val="solid"/>
            <a:headEnd type="none" len="sm" w="sm"/>
            <a:tailEnd type="none" len="sm" w="sm"/>
          </a:ln>
        </p:spPr>
      </p:sp>
      <p:grpSp>
        <p:nvGrpSpPr>
          <p:cNvPr name="Group 4" id="4"/>
          <p:cNvGrpSpPr/>
          <p:nvPr/>
        </p:nvGrpSpPr>
        <p:grpSpPr>
          <a:xfrm rot="0">
            <a:off x="-2931853" y="-4500682"/>
            <a:ext cx="6923397" cy="6923397"/>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021F"/>
            </a:solidFill>
          </p:spPr>
        </p:sp>
        <p:sp>
          <p:nvSpPr>
            <p:cNvPr name="TextBox 6" id="6"/>
            <p:cNvSpPr txBox="true"/>
            <p:nvPr/>
          </p:nvSpPr>
          <p:spPr>
            <a:xfrm>
              <a:off x="76200" y="57150"/>
              <a:ext cx="660400" cy="679450"/>
            </a:xfrm>
            <a:prstGeom prst="rect">
              <a:avLst/>
            </a:prstGeom>
          </p:spPr>
          <p:txBody>
            <a:bodyPr anchor="ctr" rtlCol="false" tIns="43160" lIns="43160" bIns="43160" rIns="43160"/>
            <a:lstStyle/>
            <a:p>
              <a:pPr algn="ctr">
                <a:lnSpc>
                  <a:spcPts val="1665"/>
                </a:lnSpc>
                <a:spcBef>
                  <a:spcPct val="0"/>
                </a:spcBef>
              </a:pPr>
            </a:p>
          </p:txBody>
        </p:sp>
      </p:grpSp>
      <p:sp>
        <p:nvSpPr>
          <p:cNvPr name="Freeform 7" id="7"/>
          <p:cNvSpPr/>
          <p:nvPr/>
        </p:nvSpPr>
        <p:spPr>
          <a:xfrm flipH="false" flipV="false" rot="0">
            <a:off x="1777950" y="-1515627"/>
            <a:ext cx="3455138" cy="3510725"/>
          </a:xfrm>
          <a:custGeom>
            <a:avLst/>
            <a:gdLst/>
            <a:ahLst/>
            <a:cxnLst/>
            <a:rect r="r" b="b" t="t" l="l"/>
            <a:pathLst>
              <a:path h="3510725" w="3455138">
                <a:moveTo>
                  <a:pt x="0" y="0"/>
                </a:moveTo>
                <a:lnTo>
                  <a:pt x="3455138" y="0"/>
                </a:lnTo>
                <a:lnTo>
                  <a:pt x="3455138" y="3510724"/>
                </a:lnTo>
                <a:lnTo>
                  <a:pt x="0" y="35107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620497" y="4086827"/>
            <a:ext cx="13047006" cy="6200173"/>
          </a:xfrm>
          <a:custGeom>
            <a:avLst/>
            <a:gdLst/>
            <a:ahLst/>
            <a:cxnLst/>
            <a:rect r="r" b="b" t="t" l="l"/>
            <a:pathLst>
              <a:path h="6200173" w="13047006">
                <a:moveTo>
                  <a:pt x="0" y="0"/>
                </a:moveTo>
                <a:lnTo>
                  <a:pt x="13047006" y="0"/>
                </a:lnTo>
                <a:lnTo>
                  <a:pt x="13047006" y="6200173"/>
                </a:lnTo>
                <a:lnTo>
                  <a:pt x="0" y="6200173"/>
                </a:lnTo>
                <a:lnTo>
                  <a:pt x="0" y="0"/>
                </a:lnTo>
                <a:close/>
              </a:path>
            </a:pathLst>
          </a:custGeom>
          <a:blipFill>
            <a:blip r:embed="rId4">
              <a:alphaModFix amt="91000"/>
            </a:blip>
            <a:stretch>
              <a:fillRect l="0" t="-38211" r="0" b="-1724"/>
            </a:stretch>
          </a:blipFill>
          <a:ln cap="sq">
            <a:noFill/>
            <a:prstDash val="sysDot"/>
            <a:miter/>
          </a:ln>
        </p:spPr>
      </p:sp>
      <p:sp>
        <p:nvSpPr>
          <p:cNvPr name="TextBox 9" id="9"/>
          <p:cNvSpPr txBox="true"/>
          <p:nvPr/>
        </p:nvSpPr>
        <p:spPr>
          <a:xfrm rot="0">
            <a:off x="5233088" y="1645406"/>
            <a:ext cx="12042266" cy="1783218"/>
          </a:xfrm>
          <a:prstGeom prst="rect">
            <a:avLst/>
          </a:prstGeom>
        </p:spPr>
        <p:txBody>
          <a:bodyPr anchor="t" rtlCol="false" tIns="0" lIns="0" bIns="0" rIns="0">
            <a:spAutoFit/>
          </a:bodyPr>
          <a:lstStyle/>
          <a:p>
            <a:pPr algn="l">
              <a:lnSpc>
                <a:spcPts val="13206"/>
              </a:lnSpc>
            </a:pPr>
            <a:r>
              <a:rPr lang="en-US" sz="13206">
                <a:solidFill>
                  <a:srgbClr val="2D2B2A"/>
                </a:solidFill>
                <a:latin typeface="Archivo Black"/>
                <a:ea typeface="Archivo Black"/>
                <a:cs typeface="Archivo Black"/>
                <a:sym typeface="Archivo Black"/>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DAG9eIeW68w</dc:identifier>
  <dcterms:modified xsi:type="dcterms:W3CDTF">2011-08-01T06:04:30Z</dcterms:modified>
  <cp:revision>1</cp:revision>
  <dc:title>Blue and White Modern Medical Presentation</dc:title>
</cp:coreProperties>
</file>